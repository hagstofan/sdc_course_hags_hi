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  <p:sldMasterId id="2147483667" r:id="rId2"/>
  </p:sldMasterIdLst>
  <p:notesMasterIdLst>
    <p:notesMasterId r:id="rId75"/>
  </p:notesMasterIdLst>
  <p:sldIdLst>
    <p:sldId id="256" r:id="rId3"/>
    <p:sldId id="257" r:id="rId4"/>
    <p:sldId id="392" r:id="rId5"/>
    <p:sldId id="275" r:id="rId6"/>
    <p:sldId id="398" r:id="rId7"/>
    <p:sldId id="276" r:id="rId8"/>
    <p:sldId id="393" r:id="rId9"/>
    <p:sldId id="394" r:id="rId10"/>
    <p:sldId id="396" r:id="rId11"/>
    <p:sldId id="395" r:id="rId12"/>
    <p:sldId id="397" r:id="rId13"/>
    <p:sldId id="278" r:id="rId14"/>
    <p:sldId id="279" r:id="rId15"/>
    <p:sldId id="399" r:id="rId16"/>
    <p:sldId id="280" r:id="rId17"/>
    <p:sldId id="400" r:id="rId18"/>
    <p:sldId id="401" r:id="rId19"/>
    <p:sldId id="402" r:id="rId20"/>
    <p:sldId id="403" r:id="rId21"/>
    <p:sldId id="404" r:id="rId22"/>
    <p:sldId id="405" r:id="rId23"/>
    <p:sldId id="413" r:id="rId24"/>
    <p:sldId id="420" r:id="rId25"/>
    <p:sldId id="406" r:id="rId26"/>
    <p:sldId id="407" r:id="rId27"/>
    <p:sldId id="408" r:id="rId28"/>
    <p:sldId id="421" r:id="rId29"/>
    <p:sldId id="422" r:id="rId30"/>
    <p:sldId id="340" r:id="rId31"/>
    <p:sldId id="423" r:id="rId32"/>
    <p:sldId id="424" r:id="rId33"/>
    <p:sldId id="425" r:id="rId34"/>
    <p:sldId id="427" r:id="rId35"/>
    <p:sldId id="428" r:id="rId36"/>
    <p:sldId id="462" r:id="rId37"/>
    <p:sldId id="431" r:id="rId38"/>
    <p:sldId id="429" r:id="rId39"/>
    <p:sldId id="430" r:id="rId40"/>
    <p:sldId id="432" r:id="rId41"/>
    <p:sldId id="433" r:id="rId42"/>
    <p:sldId id="434" r:id="rId43"/>
    <p:sldId id="435" r:id="rId44"/>
    <p:sldId id="436" r:id="rId45"/>
    <p:sldId id="437" r:id="rId46"/>
    <p:sldId id="438" r:id="rId47"/>
    <p:sldId id="439" r:id="rId48"/>
    <p:sldId id="440" r:id="rId49"/>
    <p:sldId id="441" r:id="rId50"/>
    <p:sldId id="442" r:id="rId51"/>
    <p:sldId id="443" r:id="rId52"/>
    <p:sldId id="444" r:id="rId53"/>
    <p:sldId id="445" r:id="rId54"/>
    <p:sldId id="446" r:id="rId55"/>
    <p:sldId id="447" r:id="rId56"/>
    <p:sldId id="448" r:id="rId57"/>
    <p:sldId id="456" r:id="rId58"/>
    <p:sldId id="449" r:id="rId59"/>
    <p:sldId id="450" r:id="rId60"/>
    <p:sldId id="452" r:id="rId61"/>
    <p:sldId id="453" r:id="rId62"/>
    <p:sldId id="454" r:id="rId63"/>
    <p:sldId id="455" r:id="rId64"/>
    <p:sldId id="426" r:id="rId65"/>
    <p:sldId id="457" r:id="rId66"/>
    <p:sldId id="459" r:id="rId67"/>
    <p:sldId id="460" r:id="rId68"/>
    <p:sldId id="461" r:id="rId69"/>
    <p:sldId id="326" r:id="rId70"/>
    <p:sldId id="260" r:id="rId71"/>
    <p:sldId id="410" r:id="rId72"/>
    <p:sldId id="411" r:id="rId73"/>
    <p:sldId id="412" r:id="rId74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D6C"/>
    <a:srgbClr val="BAB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76029" autoAdjust="0"/>
  </p:normalViewPr>
  <p:slideViewPr>
    <p:cSldViewPr>
      <p:cViewPr varScale="1">
        <p:scale>
          <a:sx n="106" d="100"/>
          <a:sy n="106" d="100"/>
        </p:scale>
        <p:origin x="750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817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A025-B680-4046-800B-5A6B5AC6AF73}" type="datetimeFigureOut">
              <a:rPr lang="nl-NL" smtClean="0"/>
              <a:t>2-9-2025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FEE08-4F1D-4773-84E0-0730640F7E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330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53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4608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487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734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2629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441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FEE08-4F1D-4773-84E0-0730640F7E20}" type="slidenum">
              <a:rPr lang="nl-NL" smtClean="0"/>
              <a:t>68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46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201" y="766684"/>
            <a:ext cx="2236528" cy="343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33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" t="2279" r="85717" b="67123"/>
          <a:stretch/>
        </p:blipFill>
        <p:spPr>
          <a:xfrm>
            <a:off x="355278" y="121024"/>
            <a:ext cx="1511243" cy="2072915"/>
          </a:xfrm>
          <a:prstGeom prst="rect">
            <a:avLst/>
          </a:prstGeom>
        </p:spPr>
      </p:pic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9552" y="4227934"/>
            <a:ext cx="7992690" cy="288032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1600" b="0" kern="1200" spc="40" baseline="0" dirty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Naam auteur</a:t>
            </a:r>
          </a:p>
        </p:txBody>
      </p:sp>
      <p:sp>
        <p:nvSpPr>
          <p:cNvPr id="10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4515966"/>
            <a:ext cx="7992690" cy="288032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1600" b="0" kern="1200" spc="40" baseline="0" dirty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Optioneel datum</a:t>
            </a:r>
          </a:p>
        </p:txBody>
      </p:sp>
      <p:sp>
        <p:nvSpPr>
          <p:cNvPr id="11" name="Tijdelijke aanduiding voor tekst 6"/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2283718"/>
            <a:ext cx="7992690" cy="1025897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3000" b="1" kern="1200" spc="60" baseline="0" dirty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  <a:p>
            <a:pPr lvl="0"/>
            <a:r>
              <a:rPr lang="nl-NL" dirty="0"/>
              <a:t>regel2</a:t>
            </a:r>
          </a:p>
        </p:txBody>
      </p:sp>
      <p:sp>
        <p:nvSpPr>
          <p:cNvPr id="12" name="Tijdelijke aanduiding voor tekst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552" y="3363838"/>
            <a:ext cx="7992690" cy="792088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2400" b="0" kern="1200" spc="40" baseline="0" dirty="0">
                <a:solidFill>
                  <a:srgbClr val="00A1CD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  <a:p>
            <a:pPr lvl="0"/>
            <a:r>
              <a:rPr lang="nl-NL" dirty="0"/>
              <a:t>regel2</a:t>
            </a:r>
          </a:p>
        </p:txBody>
      </p:sp>
    </p:spTree>
    <p:extLst>
      <p:ext uri="{BB962C8B-B14F-4D97-AF65-F5344CB8AC3E}">
        <p14:creationId xmlns:p14="http://schemas.microsoft.com/office/powerpoint/2010/main" val="307412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 anchor="ctr"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059582"/>
            <a:ext cx="7776864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2" name="Tijdelijke aanduiding voor tekst 9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211710"/>
            <a:ext cx="7776864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776864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08704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563638"/>
            <a:ext cx="7632848" cy="3096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1080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 over 2 regels</a:t>
            </a:r>
          </a:p>
          <a:p>
            <a:pPr lvl="0"/>
            <a:r>
              <a:rPr lang="nl-NL" dirty="0" err="1"/>
              <a:t>Calibri</a:t>
            </a:r>
            <a:r>
              <a:rPr lang="nl-NL" dirty="0"/>
              <a:t> </a:t>
            </a:r>
            <a:r>
              <a:rPr lang="nl-NL" dirty="0" err="1"/>
              <a:t>bold</a:t>
            </a:r>
            <a:r>
              <a:rPr lang="nl-NL" dirty="0"/>
              <a:t> 30</a:t>
            </a:r>
          </a:p>
        </p:txBody>
      </p:sp>
    </p:spTree>
    <p:extLst>
      <p:ext uri="{BB962C8B-B14F-4D97-AF65-F5344CB8AC3E}">
        <p14:creationId xmlns:p14="http://schemas.microsoft.com/office/powerpoint/2010/main" val="13893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987574"/>
            <a:ext cx="7632848" cy="36724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04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 1 regel</a:t>
            </a:r>
          </a:p>
        </p:txBody>
      </p:sp>
    </p:spTree>
    <p:extLst>
      <p:ext uri="{BB962C8B-B14F-4D97-AF65-F5344CB8AC3E}">
        <p14:creationId xmlns:p14="http://schemas.microsoft.com/office/powerpoint/2010/main" val="221898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ofdstuktitel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 userDrawn="1"/>
        </p:nvSpPr>
        <p:spPr>
          <a:xfrm>
            <a:off x="-3398" y="0"/>
            <a:ext cx="9144000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</p:spPr>
      </p:pic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/>
          <a:lstStyle/>
          <a:p>
            <a:pPr algn="ctr"/>
            <a:fld id="{845CA951-4815-4987-9CD6-BB5D6648C0B5}" type="slidenum">
              <a:rPr lang="nl-NL" sz="1200">
                <a:solidFill>
                  <a:schemeClr val="bg1"/>
                </a:solidFill>
              </a:rPr>
              <a:pPr algn="ctr"/>
              <a:t>‹nr.›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611560" y="2006575"/>
            <a:ext cx="7776863" cy="565175"/>
          </a:xfrm>
          <a:prstGeom prst="rect">
            <a:avLst/>
          </a:prstGeom>
        </p:spPr>
        <p:txBody>
          <a:bodyPr/>
          <a:lstStyle>
            <a:lvl1pPr algn="l">
              <a:defRPr lang="nl-NL" sz="3000" b="1" kern="1200" spc="6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sz="3000" b="1" dirty="0">
                <a:solidFill>
                  <a:schemeClr val="bg1"/>
                </a:solidFill>
              </a:rPr>
              <a:t>Hoofdstuk titel</a:t>
            </a:r>
          </a:p>
        </p:txBody>
      </p:sp>
    </p:spTree>
    <p:extLst>
      <p:ext uri="{BB962C8B-B14F-4D97-AF65-F5344CB8AC3E}">
        <p14:creationId xmlns:p14="http://schemas.microsoft.com/office/powerpoint/2010/main" val="26582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omming stre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598"/>
            <a:ext cx="7632079" cy="3455715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>
                <a:solidFill>
                  <a:srgbClr val="271D6C"/>
                </a:solidFill>
              </a:rPr>
              <a:t>Opsomming tekst</a:t>
            </a:r>
          </a:p>
        </p:txBody>
      </p:sp>
      <p:sp>
        <p:nvSpPr>
          <p:cNvPr id="6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23739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omming numm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599"/>
            <a:ext cx="7632079" cy="3455714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>
                <a:solidFill>
                  <a:srgbClr val="271D6C"/>
                </a:solidFill>
              </a:rPr>
              <a:t>Opsomming met nummering</a:t>
            </a:r>
          </a:p>
        </p:txBody>
      </p:sp>
      <p:sp>
        <p:nvSpPr>
          <p:cNvPr id="7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7612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e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 dirty="0"/>
          </a:p>
        </p:txBody>
      </p:sp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</p:spPr>
      </p:pic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206374"/>
            <a:ext cx="7715746" cy="936000"/>
          </a:xfrm>
          <a:prstGeom prst="rect">
            <a:avLst/>
          </a:prstGeom>
        </p:spPr>
        <p:txBody>
          <a:bodyPr/>
          <a:lstStyle>
            <a:lvl1pPr algn="l">
              <a:defRPr lang="nl-NL" sz="3000" b="1" kern="1200" spc="6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sz="3000" b="1" dirty="0">
                <a:solidFill>
                  <a:schemeClr val="bg1"/>
                </a:solidFill>
              </a:rPr>
              <a:t>Conclusies / trends / …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1214041"/>
            <a:ext cx="7704137" cy="3382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sz="2400" b="0">
                <a:solidFill>
                  <a:schemeClr val="bg1"/>
                </a:solidFill>
              </a:defRPr>
            </a:lvl1pPr>
            <a:lvl2pPr marL="4572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Korte opsomming van conclusies</a:t>
            </a:r>
          </a:p>
        </p:txBody>
      </p:sp>
    </p:spTree>
    <p:extLst>
      <p:ext uri="{BB962C8B-B14F-4D97-AF65-F5344CB8AC3E}">
        <p14:creationId xmlns:p14="http://schemas.microsoft.com/office/powerpoint/2010/main" val="99636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325"/>
            <a:ext cx="7704087" cy="3455988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lang="nl-NL" sz="2400" b="0" kern="1200" spc="40" baseline="0" dirty="0" smtClean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>
                <a:solidFill>
                  <a:srgbClr val="271D6C"/>
                </a:solidFill>
              </a:rPr>
              <a:t>Korte opsomming van conclusies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95263"/>
            <a:ext cx="7704087" cy="936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Conclusie / trends / …</a:t>
            </a:r>
          </a:p>
        </p:txBody>
      </p:sp>
    </p:spTree>
    <p:extLst>
      <p:ext uri="{BB962C8B-B14F-4D97-AF65-F5344CB8AC3E}">
        <p14:creationId xmlns:p14="http://schemas.microsoft.com/office/powerpoint/2010/main" val="409682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_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2914" y="1028651"/>
            <a:ext cx="1431167" cy="219893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0" y="3672000"/>
            <a:ext cx="7166794" cy="8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83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_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2914" y="1028651"/>
            <a:ext cx="1431167" cy="219893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35" y="3672000"/>
            <a:ext cx="7167542" cy="8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33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enwerking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2F9B86D-17AC-4EB8-8901-463B4404571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697929" y="1429340"/>
            <a:ext cx="1211459" cy="1861467"/>
            <a:chOff x="2200" y="483"/>
            <a:chExt cx="1409" cy="2165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C6C5D8E2-9222-4107-A38D-BDADEE2D3E5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0" y="483"/>
              <a:ext cx="1409" cy="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8916847-D2FC-4F80-9190-E720B73D5F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00" y="817"/>
              <a:ext cx="630" cy="680"/>
            </a:xfrm>
            <a:custGeom>
              <a:avLst/>
              <a:gdLst>
                <a:gd name="T0" fmla="*/ 558 w 558"/>
                <a:gd name="T1" fmla="*/ 0 h 609"/>
                <a:gd name="T2" fmla="*/ 558 w 558"/>
                <a:gd name="T3" fmla="*/ 0 h 609"/>
                <a:gd name="T4" fmla="*/ 66 w 558"/>
                <a:gd name="T5" fmla="*/ 0 h 609"/>
                <a:gd name="T6" fmla="*/ 0 w 558"/>
                <a:gd name="T7" fmla="*/ 67 h 609"/>
                <a:gd name="T8" fmla="*/ 0 w 558"/>
                <a:gd name="T9" fmla="*/ 609 h 609"/>
                <a:gd name="T10" fmla="*/ 558 w 558"/>
                <a:gd name="T11" fmla="*/ 609 h 609"/>
                <a:gd name="T12" fmla="*/ 558 w 558"/>
                <a:gd name="T13" fmla="*/ 357 h 609"/>
                <a:gd name="T14" fmla="*/ 251 w 558"/>
                <a:gd name="T15" fmla="*/ 357 h 609"/>
                <a:gd name="T16" fmla="*/ 251 w 558"/>
                <a:gd name="T17" fmla="*/ 252 h 609"/>
                <a:gd name="T18" fmla="*/ 558 w 558"/>
                <a:gd name="T19" fmla="*/ 252 h 609"/>
                <a:gd name="T20" fmla="*/ 558 w 558"/>
                <a:gd name="T21" fmla="*/ 0 h 609"/>
                <a:gd name="T22" fmla="*/ 484 w 558"/>
                <a:gd name="T23" fmla="*/ 74 h 609"/>
                <a:gd name="T24" fmla="*/ 484 w 558"/>
                <a:gd name="T25" fmla="*/ 74 h 609"/>
                <a:gd name="T26" fmla="*/ 484 w 558"/>
                <a:gd name="T27" fmla="*/ 179 h 609"/>
                <a:gd name="T28" fmla="*/ 251 w 558"/>
                <a:gd name="T29" fmla="*/ 179 h 609"/>
                <a:gd name="T30" fmla="*/ 178 w 558"/>
                <a:gd name="T31" fmla="*/ 179 h 609"/>
                <a:gd name="T32" fmla="*/ 178 w 558"/>
                <a:gd name="T33" fmla="*/ 252 h 609"/>
                <a:gd name="T34" fmla="*/ 178 w 558"/>
                <a:gd name="T35" fmla="*/ 357 h 609"/>
                <a:gd name="T36" fmla="*/ 178 w 558"/>
                <a:gd name="T37" fmla="*/ 430 h 609"/>
                <a:gd name="T38" fmla="*/ 251 w 558"/>
                <a:gd name="T39" fmla="*/ 430 h 609"/>
                <a:gd name="T40" fmla="*/ 484 w 558"/>
                <a:gd name="T41" fmla="*/ 430 h 609"/>
                <a:gd name="T42" fmla="*/ 484 w 558"/>
                <a:gd name="T43" fmla="*/ 535 h 609"/>
                <a:gd name="T44" fmla="*/ 73 w 558"/>
                <a:gd name="T45" fmla="*/ 535 h 609"/>
                <a:gd name="T46" fmla="*/ 73 w 558"/>
                <a:gd name="T47" fmla="*/ 74 h 609"/>
                <a:gd name="T48" fmla="*/ 484 w 558"/>
                <a:gd name="T49" fmla="*/ 74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58" h="609">
                  <a:moveTo>
                    <a:pt x="558" y="0"/>
                  </a:moveTo>
                  <a:lnTo>
                    <a:pt x="558" y="0"/>
                  </a:lnTo>
                  <a:lnTo>
                    <a:pt x="66" y="0"/>
                  </a:lnTo>
                  <a:cubicBezTo>
                    <a:pt x="29" y="0"/>
                    <a:pt x="0" y="30"/>
                    <a:pt x="0" y="67"/>
                  </a:cubicBezTo>
                  <a:lnTo>
                    <a:pt x="0" y="609"/>
                  </a:lnTo>
                  <a:lnTo>
                    <a:pt x="558" y="609"/>
                  </a:lnTo>
                  <a:lnTo>
                    <a:pt x="558" y="357"/>
                  </a:lnTo>
                  <a:lnTo>
                    <a:pt x="251" y="357"/>
                  </a:lnTo>
                  <a:lnTo>
                    <a:pt x="251" y="252"/>
                  </a:lnTo>
                  <a:lnTo>
                    <a:pt x="558" y="252"/>
                  </a:lnTo>
                  <a:lnTo>
                    <a:pt x="558" y="0"/>
                  </a:lnTo>
                  <a:close/>
                  <a:moveTo>
                    <a:pt x="484" y="74"/>
                  </a:moveTo>
                  <a:lnTo>
                    <a:pt x="484" y="74"/>
                  </a:lnTo>
                  <a:lnTo>
                    <a:pt x="484" y="179"/>
                  </a:lnTo>
                  <a:lnTo>
                    <a:pt x="251" y="179"/>
                  </a:lnTo>
                  <a:lnTo>
                    <a:pt x="178" y="179"/>
                  </a:lnTo>
                  <a:lnTo>
                    <a:pt x="178" y="252"/>
                  </a:lnTo>
                  <a:lnTo>
                    <a:pt x="178" y="357"/>
                  </a:lnTo>
                  <a:lnTo>
                    <a:pt x="178" y="430"/>
                  </a:lnTo>
                  <a:lnTo>
                    <a:pt x="251" y="430"/>
                  </a:lnTo>
                  <a:lnTo>
                    <a:pt x="484" y="430"/>
                  </a:lnTo>
                  <a:lnTo>
                    <a:pt x="484" y="535"/>
                  </a:lnTo>
                  <a:lnTo>
                    <a:pt x="73" y="535"/>
                  </a:lnTo>
                  <a:lnTo>
                    <a:pt x="73" y="74"/>
                  </a:lnTo>
                  <a:lnTo>
                    <a:pt x="484" y="74"/>
                  </a:lnTo>
                  <a:close/>
                </a:path>
              </a:pathLst>
            </a:custGeom>
            <a:solidFill>
              <a:srgbClr val="42A3D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4396BB8-B762-47BD-B9F6-7617E189FA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8" y="481"/>
              <a:ext cx="688" cy="1016"/>
            </a:xfrm>
            <a:custGeom>
              <a:avLst/>
              <a:gdLst>
                <a:gd name="T0" fmla="*/ 251 w 609"/>
                <a:gd name="T1" fmla="*/ 553 h 910"/>
                <a:gd name="T2" fmla="*/ 251 w 609"/>
                <a:gd name="T3" fmla="*/ 553 h 910"/>
                <a:gd name="T4" fmla="*/ 357 w 609"/>
                <a:gd name="T5" fmla="*/ 553 h 910"/>
                <a:gd name="T6" fmla="*/ 357 w 609"/>
                <a:gd name="T7" fmla="*/ 658 h 910"/>
                <a:gd name="T8" fmla="*/ 251 w 609"/>
                <a:gd name="T9" fmla="*/ 658 h 910"/>
                <a:gd name="T10" fmla="*/ 251 w 609"/>
                <a:gd name="T11" fmla="*/ 553 h 910"/>
                <a:gd name="T12" fmla="*/ 185 w 609"/>
                <a:gd name="T13" fmla="*/ 0 h 910"/>
                <a:gd name="T14" fmla="*/ 185 w 609"/>
                <a:gd name="T15" fmla="*/ 0 h 910"/>
                <a:gd name="T16" fmla="*/ 0 w 609"/>
                <a:gd name="T17" fmla="*/ 0 h 910"/>
                <a:gd name="T18" fmla="*/ 0 w 609"/>
                <a:gd name="T19" fmla="*/ 910 h 910"/>
                <a:gd name="T20" fmla="*/ 609 w 609"/>
                <a:gd name="T21" fmla="*/ 910 h 910"/>
                <a:gd name="T22" fmla="*/ 609 w 609"/>
                <a:gd name="T23" fmla="*/ 368 h 910"/>
                <a:gd name="T24" fmla="*/ 542 w 609"/>
                <a:gd name="T25" fmla="*/ 301 h 910"/>
                <a:gd name="T26" fmla="*/ 251 w 609"/>
                <a:gd name="T27" fmla="*/ 301 h 910"/>
                <a:gd name="T28" fmla="*/ 251 w 609"/>
                <a:gd name="T29" fmla="*/ 69 h 910"/>
                <a:gd name="T30" fmla="*/ 185 w 609"/>
                <a:gd name="T31" fmla="*/ 0 h 910"/>
                <a:gd name="T32" fmla="*/ 178 w 609"/>
                <a:gd name="T33" fmla="*/ 731 h 910"/>
                <a:gd name="T34" fmla="*/ 178 w 609"/>
                <a:gd name="T35" fmla="*/ 731 h 910"/>
                <a:gd name="T36" fmla="*/ 251 w 609"/>
                <a:gd name="T37" fmla="*/ 731 h 910"/>
                <a:gd name="T38" fmla="*/ 357 w 609"/>
                <a:gd name="T39" fmla="*/ 731 h 910"/>
                <a:gd name="T40" fmla="*/ 430 w 609"/>
                <a:gd name="T41" fmla="*/ 731 h 910"/>
                <a:gd name="T42" fmla="*/ 430 w 609"/>
                <a:gd name="T43" fmla="*/ 658 h 910"/>
                <a:gd name="T44" fmla="*/ 430 w 609"/>
                <a:gd name="T45" fmla="*/ 553 h 910"/>
                <a:gd name="T46" fmla="*/ 430 w 609"/>
                <a:gd name="T47" fmla="*/ 479 h 910"/>
                <a:gd name="T48" fmla="*/ 357 w 609"/>
                <a:gd name="T49" fmla="*/ 479 h 910"/>
                <a:gd name="T50" fmla="*/ 251 w 609"/>
                <a:gd name="T51" fmla="*/ 479 h 910"/>
                <a:gd name="T52" fmla="*/ 178 w 609"/>
                <a:gd name="T53" fmla="*/ 479 h 910"/>
                <a:gd name="T54" fmla="*/ 178 w 609"/>
                <a:gd name="T55" fmla="*/ 553 h 910"/>
                <a:gd name="T56" fmla="*/ 178 w 609"/>
                <a:gd name="T57" fmla="*/ 658 h 910"/>
                <a:gd name="T58" fmla="*/ 178 w 609"/>
                <a:gd name="T59" fmla="*/ 731 h 910"/>
                <a:gd name="T60" fmla="*/ 178 w 609"/>
                <a:gd name="T61" fmla="*/ 72 h 910"/>
                <a:gd name="T62" fmla="*/ 178 w 609"/>
                <a:gd name="T63" fmla="*/ 72 h 910"/>
                <a:gd name="T64" fmla="*/ 178 w 609"/>
                <a:gd name="T65" fmla="*/ 301 h 910"/>
                <a:gd name="T66" fmla="*/ 178 w 609"/>
                <a:gd name="T67" fmla="*/ 375 h 910"/>
                <a:gd name="T68" fmla="*/ 251 w 609"/>
                <a:gd name="T69" fmla="*/ 375 h 910"/>
                <a:gd name="T70" fmla="*/ 536 w 609"/>
                <a:gd name="T71" fmla="*/ 375 h 910"/>
                <a:gd name="T72" fmla="*/ 536 w 609"/>
                <a:gd name="T73" fmla="*/ 836 h 910"/>
                <a:gd name="T74" fmla="*/ 73 w 609"/>
                <a:gd name="T75" fmla="*/ 836 h 910"/>
                <a:gd name="T76" fmla="*/ 73 w 609"/>
                <a:gd name="T77" fmla="*/ 72 h 910"/>
                <a:gd name="T78" fmla="*/ 178 w 609"/>
                <a:gd name="T79" fmla="*/ 72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9" h="910">
                  <a:moveTo>
                    <a:pt x="251" y="553"/>
                  </a:moveTo>
                  <a:lnTo>
                    <a:pt x="251" y="553"/>
                  </a:lnTo>
                  <a:lnTo>
                    <a:pt x="357" y="553"/>
                  </a:lnTo>
                  <a:lnTo>
                    <a:pt x="357" y="658"/>
                  </a:lnTo>
                  <a:lnTo>
                    <a:pt x="251" y="658"/>
                  </a:lnTo>
                  <a:lnTo>
                    <a:pt x="251" y="553"/>
                  </a:lnTo>
                  <a:close/>
                  <a:moveTo>
                    <a:pt x="185" y="0"/>
                  </a:moveTo>
                  <a:lnTo>
                    <a:pt x="185" y="0"/>
                  </a:lnTo>
                  <a:lnTo>
                    <a:pt x="0" y="0"/>
                  </a:lnTo>
                  <a:lnTo>
                    <a:pt x="0" y="910"/>
                  </a:lnTo>
                  <a:lnTo>
                    <a:pt x="609" y="910"/>
                  </a:lnTo>
                  <a:lnTo>
                    <a:pt x="609" y="368"/>
                  </a:lnTo>
                  <a:cubicBezTo>
                    <a:pt x="609" y="331"/>
                    <a:pt x="579" y="301"/>
                    <a:pt x="542" y="301"/>
                  </a:cubicBezTo>
                  <a:lnTo>
                    <a:pt x="251" y="301"/>
                  </a:lnTo>
                  <a:lnTo>
                    <a:pt x="251" y="69"/>
                  </a:lnTo>
                  <a:cubicBezTo>
                    <a:pt x="251" y="32"/>
                    <a:pt x="222" y="0"/>
                    <a:pt x="185" y="0"/>
                  </a:cubicBezTo>
                  <a:close/>
                  <a:moveTo>
                    <a:pt x="178" y="731"/>
                  </a:moveTo>
                  <a:lnTo>
                    <a:pt x="178" y="731"/>
                  </a:lnTo>
                  <a:lnTo>
                    <a:pt x="251" y="731"/>
                  </a:lnTo>
                  <a:lnTo>
                    <a:pt x="357" y="731"/>
                  </a:lnTo>
                  <a:lnTo>
                    <a:pt x="430" y="731"/>
                  </a:lnTo>
                  <a:lnTo>
                    <a:pt x="430" y="658"/>
                  </a:lnTo>
                  <a:lnTo>
                    <a:pt x="430" y="553"/>
                  </a:lnTo>
                  <a:lnTo>
                    <a:pt x="430" y="479"/>
                  </a:lnTo>
                  <a:lnTo>
                    <a:pt x="357" y="479"/>
                  </a:lnTo>
                  <a:lnTo>
                    <a:pt x="251" y="479"/>
                  </a:lnTo>
                  <a:lnTo>
                    <a:pt x="178" y="479"/>
                  </a:lnTo>
                  <a:lnTo>
                    <a:pt x="178" y="553"/>
                  </a:lnTo>
                  <a:lnTo>
                    <a:pt x="178" y="658"/>
                  </a:lnTo>
                  <a:lnTo>
                    <a:pt x="178" y="731"/>
                  </a:lnTo>
                  <a:close/>
                  <a:moveTo>
                    <a:pt x="178" y="72"/>
                  </a:moveTo>
                  <a:lnTo>
                    <a:pt x="178" y="72"/>
                  </a:lnTo>
                  <a:lnTo>
                    <a:pt x="178" y="301"/>
                  </a:lnTo>
                  <a:lnTo>
                    <a:pt x="178" y="375"/>
                  </a:lnTo>
                  <a:lnTo>
                    <a:pt x="251" y="375"/>
                  </a:lnTo>
                  <a:lnTo>
                    <a:pt x="536" y="375"/>
                  </a:lnTo>
                  <a:lnTo>
                    <a:pt x="536" y="836"/>
                  </a:lnTo>
                  <a:lnTo>
                    <a:pt x="73" y="836"/>
                  </a:lnTo>
                  <a:lnTo>
                    <a:pt x="73" y="72"/>
                  </a:lnTo>
                  <a:lnTo>
                    <a:pt x="178" y="72"/>
                  </a:lnTo>
                  <a:close/>
                </a:path>
              </a:pathLst>
            </a:custGeom>
            <a:solidFill>
              <a:srgbClr val="42A3D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39C8DD8-3C93-46D4-8B3C-EFBABBDC9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00" y="1603"/>
              <a:ext cx="1426" cy="1055"/>
            </a:xfrm>
            <a:custGeom>
              <a:avLst/>
              <a:gdLst>
                <a:gd name="T0" fmla="*/ 1261 w 1262"/>
                <a:gd name="T1" fmla="*/ 0 h 944"/>
                <a:gd name="T2" fmla="*/ 1261 w 1262"/>
                <a:gd name="T3" fmla="*/ 0 h 944"/>
                <a:gd name="T4" fmla="*/ 0 w 1262"/>
                <a:gd name="T5" fmla="*/ 0 h 944"/>
                <a:gd name="T6" fmla="*/ 0 w 1262"/>
                <a:gd name="T7" fmla="*/ 598 h 944"/>
                <a:gd name="T8" fmla="*/ 1010 w 1262"/>
                <a:gd name="T9" fmla="*/ 598 h 944"/>
                <a:gd name="T10" fmla="*/ 1010 w 1262"/>
                <a:gd name="T11" fmla="*/ 693 h 944"/>
                <a:gd name="T12" fmla="*/ 0 w 1262"/>
                <a:gd name="T13" fmla="*/ 693 h 944"/>
                <a:gd name="T14" fmla="*/ 0 w 1262"/>
                <a:gd name="T15" fmla="*/ 878 h 944"/>
                <a:gd name="T16" fmla="*/ 66 w 1262"/>
                <a:gd name="T17" fmla="*/ 944 h 944"/>
                <a:gd name="T18" fmla="*/ 1195 w 1262"/>
                <a:gd name="T19" fmla="*/ 944 h 944"/>
                <a:gd name="T20" fmla="*/ 1262 w 1262"/>
                <a:gd name="T21" fmla="*/ 878 h 944"/>
                <a:gd name="T22" fmla="*/ 1262 w 1262"/>
                <a:gd name="T23" fmla="*/ 346 h 944"/>
                <a:gd name="T24" fmla="*/ 252 w 1262"/>
                <a:gd name="T25" fmla="*/ 346 h 944"/>
                <a:gd name="T26" fmla="*/ 252 w 1262"/>
                <a:gd name="T27" fmla="*/ 253 h 944"/>
                <a:gd name="T28" fmla="*/ 1261 w 1262"/>
                <a:gd name="T29" fmla="*/ 253 h 944"/>
                <a:gd name="T30" fmla="*/ 1261 w 1262"/>
                <a:gd name="T31" fmla="*/ 0 h 944"/>
                <a:gd name="T32" fmla="*/ 1188 w 1262"/>
                <a:gd name="T33" fmla="*/ 73 h 944"/>
                <a:gd name="T34" fmla="*/ 1188 w 1262"/>
                <a:gd name="T35" fmla="*/ 73 h 944"/>
                <a:gd name="T36" fmla="*/ 1188 w 1262"/>
                <a:gd name="T37" fmla="*/ 179 h 944"/>
                <a:gd name="T38" fmla="*/ 252 w 1262"/>
                <a:gd name="T39" fmla="*/ 179 h 944"/>
                <a:gd name="T40" fmla="*/ 178 w 1262"/>
                <a:gd name="T41" fmla="*/ 179 h 944"/>
                <a:gd name="T42" fmla="*/ 178 w 1262"/>
                <a:gd name="T43" fmla="*/ 253 h 944"/>
                <a:gd name="T44" fmla="*/ 178 w 1262"/>
                <a:gd name="T45" fmla="*/ 346 h 944"/>
                <a:gd name="T46" fmla="*/ 178 w 1262"/>
                <a:gd name="T47" fmla="*/ 419 h 944"/>
                <a:gd name="T48" fmla="*/ 252 w 1262"/>
                <a:gd name="T49" fmla="*/ 419 h 944"/>
                <a:gd name="T50" fmla="*/ 1188 w 1262"/>
                <a:gd name="T51" fmla="*/ 419 h 944"/>
                <a:gd name="T52" fmla="*/ 1188 w 1262"/>
                <a:gd name="T53" fmla="*/ 871 h 944"/>
                <a:gd name="T54" fmla="*/ 73 w 1262"/>
                <a:gd name="T55" fmla="*/ 871 h 944"/>
                <a:gd name="T56" fmla="*/ 73 w 1262"/>
                <a:gd name="T57" fmla="*/ 766 h 944"/>
                <a:gd name="T58" fmla="*/ 1010 w 1262"/>
                <a:gd name="T59" fmla="*/ 766 h 944"/>
                <a:gd name="T60" fmla="*/ 1084 w 1262"/>
                <a:gd name="T61" fmla="*/ 766 h 944"/>
                <a:gd name="T62" fmla="*/ 1084 w 1262"/>
                <a:gd name="T63" fmla="*/ 693 h 944"/>
                <a:gd name="T64" fmla="*/ 1084 w 1262"/>
                <a:gd name="T65" fmla="*/ 598 h 944"/>
                <a:gd name="T66" fmla="*/ 1084 w 1262"/>
                <a:gd name="T67" fmla="*/ 525 h 944"/>
                <a:gd name="T68" fmla="*/ 1010 w 1262"/>
                <a:gd name="T69" fmla="*/ 525 h 944"/>
                <a:gd name="T70" fmla="*/ 73 w 1262"/>
                <a:gd name="T71" fmla="*/ 524 h 944"/>
                <a:gd name="T72" fmla="*/ 73 w 1262"/>
                <a:gd name="T73" fmla="*/ 73 h 944"/>
                <a:gd name="T74" fmla="*/ 1188 w 1262"/>
                <a:gd name="T75" fmla="*/ 73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2" h="944">
                  <a:moveTo>
                    <a:pt x="1261" y="0"/>
                  </a:moveTo>
                  <a:lnTo>
                    <a:pt x="1261" y="0"/>
                  </a:lnTo>
                  <a:lnTo>
                    <a:pt x="0" y="0"/>
                  </a:lnTo>
                  <a:lnTo>
                    <a:pt x="0" y="598"/>
                  </a:lnTo>
                  <a:lnTo>
                    <a:pt x="1010" y="598"/>
                  </a:lnTo>
                  <a:lnTo>
                    <a:pt x="1010" y="693"/>
                  </a:lnTo>
                  <a:lnTo>
                    <a:pt x="0" y="693"/>
                  </a:lnTo>
                  <a:lnTo>
                    <a:pt x="0" y="878"/>
                  </a:lnTo>
                  <a:cubicBezTo>
                    <a:pt x="0" y="915"/>
                    <a:pt x="30" y="944"/>
                    <a:pt x="66" y="944"/>
                  </a:cubicBezTo>
                  <a:lnTo>
                    <a:pt x="1195" y="944"/>
                  </a:lnTo>
                  <a:cubicBezTo>
                    <a:pt x="1232" y="944"/>
                    <a:pt x="1262" y="915"/>
                    <a:pt x="1262" y="878"/>
                  </a:cubicBezTo>
                  <a:lnTo>
                    <a:pt x="1262" y="346"/>
                  </a:lnTo>
                  <a:lnTo>
                    <a:pt x="252" y="346"/>
                  </a:lnTo>
                  <a:lnTo>
                    <a:pt x="252" y="253"/>
                  </a:lnTo>
                  <a:lnTo>
                    <a:pt x="1261" y="253"/>
                  </a:lnTo>
                  <a:lnTo>
                    <a:pt x="1261" y="0"/>
                  </a:lnTo>
                  <a:close/>
                  <a:moveTo>
                    <a:pt x="1188" y="73"/>
                  </a:moveTo>
                  <a:lnTo>
                    <a:pt x="1188" y="73"/>
                  </a:lnTo>
                  <a:lnTo>
                    <a:pt x="1188" y="179"/>
                  </a:lnTo>
                  <a:lnTo>
                    <a:pt x="252" y="179"/>
                  </a:lnTo>
                  <a:lnTo>
                    <a:pt x="178" y="179"/>
                  </a:lnTo>
                  <a:lnTo>
                    <a:pt x="178" y="253"/>
                  </a:lnTo>
                  <a:lnTo>
                    <a:pt x="178" y="346"/>
                  </a:lnTo>
                  <a:lnTo>
                    <a:pt x="178" y="419"/>
                  </a:lnTo>
                  <a:lnTo>
                    <a:pt x="252" y="419"/>
                  </a:lnTo>
                  <a:lnTo>
                    <a:pt x="1188" y="419"/>
                  </a:lnTo>
                  <a:lnTo>
                    <a:pt x="1188" y="871"/>
                  </a:lnTo>
                  <a:lnTo>
                    <a:pt x="73" y="871"/>
                  </a:lnTo>
                  <a:lnTo>
                    <a:pt x="73" y="766"/>
                  </a:lnTo>
                  <a:lnTo>
                    <a:pt x="1010" y="766"/>
                  </a:lnTo>
                  <a:lnTo>
                    <a:pt x="1084" y="766"/>
                  </a:lnTo>
                  <a:lnTo>
                    <a:pt x="1084" y="693"/>
                  </a:lnTo>
                  <a:lnTo>
                    <a:pt x="1084" y="598"/>
                  </a:lnTo>
                  <a:lnTo>
                    <a:pt x="1084" y="525"/>
                  </a:lnTo>
                  <a:lnTo>
                    <a:pt x="1010" y="525"/>
                  </a:lnTo>
                  <a:lnTo>
                    <a:pt x="73" y="524"/>
                  </a:lnTo>
                  <a:lnTo>
                    <a:pt x="73" y="73"/>
                  </a:lnTo>
                  <a:lnTo>
                    <a:pt x="1188" y="73"/>
                  </a:lnTo>
                  <a:close/>
                </a:path>
              </a:pathLst>
            </a:custGeom>
            <a:solidFill>
              <a:srgbClr val="42A3D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861272FB-1185-40C6-AC60-619C16676A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40200" y="1427163"/>
            <a:ext cx="2079625" cy="187166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9543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enwerking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BAB89908-CDEA-400D-B79F-AD8659F15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7" y="0"/>
            <a:ext cx="9132725" cy="51435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47AA015C-4E5D-4516-9D39-3A8712C6F5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3227" y="3073050"/>
            <a:ext cx="839700" cy="780429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980FD706-98D1-4D99-B9AC-B3E9FEA0B5F0}"/>
              </a:ext>
            </a:extLst>
          </p:cNvPr>
          <p:cNvSpPr txBox="1"/>
          <p:nvPr userDrawn="1"/>
        </p:nvSpPr>
        <p:spPr>
          <a:xfrm>
            <a:off x="295743" y="243470"/>
            <a:ext cx="7496838" cy="1151708"/>
          </a:xfrm>
          <a:prstGeom prst="rect">
            <a:avLst/>
          </a:prstGeom>
          <a:noFill/>
        </p:spPr>
        <p:txBody>
          <a:bodyPr wrap="square" lIns="226173" tIns="113085" rIns="226173" bIns="113085" rtlCol="0">
            <a:spAutoFit/>
          </a:bodyPr>
          <a:lstStyle/>
          <a:p>
            <a:r>
              <a:rPr lang="nl-NL" sz="300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Projecten van het CBS</a:t>
            </a:r>
          </a:p>
          <a:p>
            <a:r>
              <a:rPr lang="nl-NL" sz="300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nl-NL" sz="3000" baseline="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nl-NL" sz="3000" dirty="0">
              <a:solidFill>
                <a:schemeClr val="bg1"/>
              </a:solidFill>
              <a:effectLst>
                <a:outerShdw blurRad="165100" dist="38100" dir="5400000" algn="ctr" rotWithShape="0">
                  <a:srgbClr val="000000">
                    <a:alpha val="18000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hthoek: afgeronde hoeken 14">
            <a:extLst>
              <a:ext uri="{FF2B5EF4-FFF2-40B4-BE49-F238E27FC236}">
                <a16:creationId xmlns:a16="http://schemas.microsoft.com/office/drawing/2014/main" id="{BC5F6BCA-C599-43A3-ABC8-960592B72751}"/>
              </a:ext>
            </a:extLst>
          </p:cNvPr>
          <p:cNvSpPr/>
          <p:nvPr userDrawn="1"/>
        </p:nvSpPr>
        <p:spPr>
          <a:xfrm>
            <a:off x="7501014" y="3853479"/>
            <a:ext cx="1519994" cy="774717"/>
          </a:xfrm>
          <a:prstGeom prst="roundRect">
            <a:avLst>
              <a:gd name="adj" fmla="val 71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778FD287-3573-4235-AB96-9C12C5425FFB}"/>
              </a:ext>
            </a:extLst>
          </p:cNvPr>
          <p:cNvSpPr/>
          <p:nvPr userDrawn="1"/>
        </p:nvSpPr>
        <p:spPr>
          <a:xfrm>
            <a:off x="8752927" y="476"/>
            <a:ext cx="408796" cy="5142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7" tIns="45705" rIns="91407" bIns="45705" rtlCol="0" anchor="ctr"/>
          <a:lstStyle/>
          <a:p>
            <a:pPr algn="ctr"/>
            <a:endParaRPr lang="nl-NL" sz="500" dirty="0"/>
          </a:p>
        </p:txBody>
      </p:sp>
      <p:sp>
        <p:nvSpPr>
          <p:cNvPr id="18" name="Tijdelijke aanduiding voor afbeelding 11">
            <a:extLst>
              <a:ext uri="{FF2B5EF4-FFF2-40B4-BE49-F238E27FC236}">
                <a16:creationId xmlns:a16="http://schemas.microsoft.com/office/drawing/2014/main" id="{E50551EE-B3F6-4300-8721-226C92B254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79482" y="3956576"/>
            <a:ext cx="1151880" cy="568523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endParaRPr lang="nl-NL" dirty="0"/>
          </a:p>
        </p:txBody>
      </p:sp>
      <p:sp>
        <p:nvSpPr>
          <p:cNvPr id="19" name="Tijdelijke aanduiding voor tekst 9">
            <a:extLst>
              <a:ext uri="{FF2B5EF4-FFF2-40B4-BE49-F238E27FC236}">
                <a16:creationId xmlns:a16="http://schemas.microsoft.com/office/drawing/2014/main" id="{D384A05B-3D20-4730-8477-35BC920852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820490"/>
            <a:ext cx="5804863" cy="661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&lt;organisatie&gt;</a:t>
            </a:r>
          </a:p>
        </p:txBody>
      </p:sp>
      <p:sp>
        <p:nvSpPr>
          <p:cNvPr id="9" name="Tijdelijke aanduiding voor tekst 9">
            <a:extLst>
              <a:ext uri="{FF2B5EF4-FFF2-40B4-BE49-F238E27FC236}">
                <a16:creationId xmlns:a16="http://schemas.microsoft.com/office/drawing/2014/main" id="{38E0D16C-54E5-4658-A25B-908363E348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1707654"/>
            <a:ext cx="6916116" cy="2952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412894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enwerkin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37289702-BCF0-4F47-8F90-FB2B255E1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7" y="0"/>
            <a:ext cx="9132725" cy="51435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47AA015C-4E5D-4516-9D39-3A8712C6F5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3227" y="3073050"/>
            <a:ext cx="839700" cy="780429"/>
          </a:xfrm>
          <a:prstGeom prst="rect">
            <a:avLst/>
          </a:prstGeom>
        </p:spPr>
      </p:pic>
      <p:sp>
        <p:nvSpPr>
          <p:cNvPr id="15" name="Rechthoek: afgeronde hoeken 14">
            <a:extLst>
              <a:ext uri="{FF2B5EF4-FFF2-40B4-BE49-F238E27FC236}">
                <a16:creationId xmlns:a16="http://schemas.microsoft.com/office/drawing/2014/main" id="{BC5F6BCA-C599-43A3-ABC8-960592B72751}"/>
              </a:ext>
            </a:extLst>
          </p:cNvPr>
          <p:cNvSpPr/>
          <p:nvPr userDrawn="1"/>
        </p:nvSpPr>
        <p:spPr>
          <a:xfrm>
            <a:off x="7501014" y="3853479"/>
            <a:ext cx="1519994" cy="774717"/>
          </a:xfrm>
          <a:prstGeom prst="roundRect">
            <a:avLst>
              <a:gd name="adj" fmla="val 71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778FD287-3573-4235-AB96-9C12C5425FFB}"/>
              </a:ext>
            </a:extLst>
          </p:cNvPr>
          <p:cNvSpPr/>
          <p:nvPr userDrawn="1"/>
        </p:nvSpPr>
        <p:spPr>
          <a:xfrm>
            <a:off x="8752927" y="476"/>
            <a:ext cx="408796" cy="5142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7" tIns="45705" rIns="91407" bIns="45705" rtlCol="0" anchor="ctr"/>
          <a:lstStyle/>
          <a:p>
            <a:pPr algn="ctr"/>
            <a:endParaRPr lang="nl-NL" sz="500" dirty="0"/>
          </a:p>
        </p:txBody>
      </p:sp>
      <p:sp>
        <p:nvSpPr>
          <p:cNvPr id="18" name="Tijdelijke aanduiding voor afbeelding 11">
            <a:extLst>
              <a:ext uri="{FF2B5EF4-FFF2-40B4-BE49-F238E27FC236}">
                <a16:creationId xmlns:a16="http://schemas.microsoft.com/office/drawing/2014/main" id="{E50551EE-B3F6-4300-8721-226C92B254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79482" y="3956576"/>
            <a:ext cx="1151880" cy="568523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D1BBB25-F7FA-43A0-9485-FEF60B80DD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1707654"/>
            <a:ext cx="6916116" cy="2952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15FD3E6C-CBE3-44EB-AEE9-CC790DFE59FC}"/>
              </a:ext>
            </a:extLst>
          </p:cNvPr>
          <p:cNvSpPr txBox="1"/>
          <p:nvPr userDrawn="1"/>
        </p:nvSpPr>
        <p:spPr>
          <a:xfrm>
            <a:off x="295743" y="243470"/>
            <a:ext cx="7496838" cy="1151708"/>
          </a:xfrm>
          <a:prstGeom prst="rect">
            <a:avLst/>
          </a:prstGeom>
          <a:noFill/>
        </p:spPr>
        <p:txBody>
          <a:bodyPr wrap="square" lIns="226173" tIns="113085" rIns="226173" bIns="113085" rtlCol="0">
            <a:spAutoFit/>
          </a:bodyPr>
          <a:lstStyle/>
          <a:p>
            <a:r>
              <a:rPr lang="nl-NL" sz="300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Projecten van het CBS</a:t>
            </a:r>
          </a:p>
          <a:p>
            <a:r>
              <a:rPr lang="nl-NL" sz="300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nl-NL" sz="3000" baseline="0" dirty="0">
                <a:solidFill>
                  <a:schemeClr val="bg1"/>
                </a:solidFill>
                <a:effectLst>
                  <a:outerShdw blurRad="165100" dist="38100" dir="5400000" algn="ctr" rotWithShape="0">
                    <a:srgbClr val="000000">
                      <a:alpha val="18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nl-NL" sz="3000" dirty="0">
              <a:solidFill>
                <a:schemeClr val="bg1"/>
              </a:solidFill>
              <a:effectLst>
                <a:outerShdw blurRad="165100" dist="38100" dir="5400000" algn="ctr" rotWithShape="0">
                  <a:srgbClr val="000000">
                    <a:alpha val="18000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0446E04D-806F-4F16-82E8-9BF08BC45D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820490"/>
            <a:ext cx="5804863" cy="661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&lt;organisatie&gt;</a:t>
            </a:r>
          </a:p>
        </p:txBody>
      </p:sp>
    </p:spTree>
    <p:extLst>
      <p:ext uri="{BB962C8B-B14F-4D97-AF65-F5344CB8AC3E}">
        <p14:creationId xmlns:p14="http://schemas.microsoft.com/office/powerpoint/2010/main" val="156272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enwerking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BAB89908-CDEA-400D-B79F-AD8659F15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7" y="0"/>
            <a:ext cx="9132725" cy="51435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47AA015C-4E5D-4516-9D39-3A8712C6F5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3227" y="3073050"/>
            <a:ext cx="839700" cy="780429"/>
          </a:xfrm>
          <a:prstGeom prst="rect">
            <a:avLst/>
          </a:prstGeom>
        </p:spPr>
      </p:pic>
      <p:sp>
        <p:nvSpPr>
          <p:cNvPr id="15" name="Rechthoek: afgeronde hoeken 14">
            <a:extLst>
              <a:ext uri="{FF2B5EF4-FFF2-40B4-BE49-F238E27FC236}">
                <a16:creationId xmlns:a16="http://schemas.microsoft.com/office/drawing/2014/main" id="{BC5F6BCA-C599-43A3-ABC8-960592B72751}"/>
              </a:ext>
            </a:extLst>
          </p:cNvPr>
          <p:cNvSpPr/>
          <p:nvPr userDrawn="1"/>
        </p:nvSpPr>
        <p:spPr>
          <a:xfrm>
            <a:off x="7501014" y="3853479"/>
            <a:ext cx="1519994" cy="774717"/>
          </a:xfrm>
          <a:prstGeom prst="roundRect">
            <a:avLst>
              <a:gd name="adj" fmla="val 71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778FD287-3573-4235-AB96-9C12C5425FFB}"/>
              </a:ext>
            </a:extLst>
          </p:cNvPr>
          <p:cNvSpPr/>
          <p:nvPr userDrawn="1"/>
        </p:nvSpPr>
        <p:spPr>
          <a:xfrm>
            <a:off x="8752927" y="476"/>
            <a:ext cx="408796" cy="5142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7" tIns="45705" rIns="91407" bIns="45705" rtlCol="0" anchor="ctr"/>
          <a:lstStyle/>
          <a:p>
            <a:pPr algn="ctr"/>
            <a:endParaRPr lang="nl-NL" sz="500" dirty="0"/>
          </a:p>
        </p:txBody>
      </p:sp>
      <p:sp>
        <p:nvSpPr>
          <p:cNvPr id="18" name="Tijdelijke aanduiding voor afbeelding 11">
            <a:extLst>
              <a:ext uri="{FF2B5EF4-FFF2-40B4-BE49-F238E27FC236}">
                <a16:creationId xmlns:a16="http://schemas.microsoft.com/office/drawing/2014/main" id="{E50551EE-B3F6-4300-8721-226C92B254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79482" y="3956576"/>
            <a:ext cx="1151880" cy="568523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182E3AA-4266-42EE-906A-E589D18531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059582"/>
            <a:ext cx="7776864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7EA53FF9-1EEF-405E-9A13-9FFF7B2330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211710"/>
            <a:ext cx="6916116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7" name="Tijdelijke aanduiding voor tekst 9">
            <a:extLst>
              <a:ext uri="{FF2B5EF4-FFF2-40B4-BE49-F238E27FC236}">
                <a16:creationId xmlns:a16="http://schemas.microsoft.com/office/drawing/2014/main" id="{1B8DA34A-F101-45CA-BE0B-284DCD3777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776864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536998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enwerkin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37289702-BCF0-4F47-8F90-FB2B255E1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7" y="0"/>
            <a:ext cx="9132725" cy="51435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47AA015C-4E5D-4516-9D39-3A8712C6F5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3227" y="3073050"/>
            <a:ext cx="839700" cy="780429"/>
          </a:xfrm>
          <a:prstGeom prst="rect">
            <a:avLst/>
          </a:prstGeom>
        </p:spPr>
      </p:pic>
      <p:sp>
        <p:nvSpPr>
          <p:cNvPr id="15" name="Rechthoek: afgeronde hoeken 14">
            <a:extLst>
              <a:ext uri="{FF2B5EF4-FFF2-40B4-BE49-F238E27FC236}">
                <a16:creationId xmlns:a16="http://schemas.microsoft.com/office/drawing/2014/main" id="{BC5F6BCA-C599-43A3-ABC8-960592B72751}"/>
              </a:ext>
            </a:extLst>
          </p:cNvPr>
          <p:cNvSpPr/>
          <p:nvPr userDrawn="1"/>
        </p:nvSpPr>
        <p:spPr>
          <a:xfrm>
            <a:off x="7501014" y="3853479"/>
            <a:ext cx="1519994" cy="774717"/>
          </a:xfrm>
          <a:prstGeom prst="roundRect">
            <a:avLst>
              <a:gd name="adj" fmla="val 71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778FD287-3573-4235-AB96-9C12C5425FFB}"/>
              </a:ext>
            </a:extLst>
          </p:cNvPr>
          <p:cNvSpPr/>
          <p:nvPr userDrawn="1"/>
        </p:nvSpPr>
        <p:spPr>
          <a:xfrm>
            <a:off x="8752927" y="476"/>
            <a:ext cx="408796" cy="5142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7" tIns="45705" rIns="91407" bIns="45705" rtlCol="0" anchor="ctr"/>
          <a:lstStyle/>
          <a:p>
            <a:pPr algn="ctr"/>
            <a:endParaRPr lang="nl-NL" sz="500" dirty="0"/>
          </a:p>
        </p:txBody>
      </p:sp>
      <p:sp>
        <p:nvSpPr>
          <p:cNvPr id="18" name="Tijdelijke aanduiding voor afbeelding 11">
            <a:extLst>
              <a:ext uri="{FF2B5EF4-FFF2-40B4-BE49-F238E27FC236}">
                <a16:creationId xmlns:a16="http://schemas.microsoft.com/office/drawing/2014/main" id="{E50551EE-B3F6-4300-8721-226C92B254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79482" y="3956576"/>
            <a:ext cx="1151880" cy="568523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endParaRPr lang="nl-NL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81E2A4A3-850B-429F-82BC-6F48842C19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059582"/>
            <a:ext cx="7776864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A7C6B0E9-98D6-419A-9832-ECC5B41CE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211710"/>
            <a:ext cx="6916116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7" name="Tijdelijke aanduiding voor tekst 9">
            <a:extLst>
              <a:ext uri="{FF2B5EF4-FFF2-40B4-BE49-F238E27FC236}">
                <a16:creationId xmlns:a16="http://schemas.microsoft.com/office/drawing/2014/main" id="{3A1D0687-8061-4472-988E-BB8752AB01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776864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chemeClr val="bg1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04622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14" name="Rechthoek 13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rgbClr val="271D6C"/>
                </a:solidFill>
              </a:defRPr>
            </a:lvl1pPr>
          </a:lstStyle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5285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3" r:id="rId2"/>
    <p:sldLayoutId id="2147483660" r:id="rId3"/>
    <p:sldLayoutId id="2147483661" r:id="rId4"/>
    <p:sldLayoutId id="2147483665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55" r:id="rId11"/>
    <p:sldLayoutId id="2147483666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BE74BCAC-F133-4D0C-86CD-A9E89C9AC67B}"/>
              </a:ext>
            </a:extLst>
          </p:cNvPr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DAEFFCD-41F3-4169-9A47-63DCE9FAED8A}"/>
              </a:ext>
            </a:extLst>
          </p:cNvPr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B2F73425-D8AF-403C-BB68-95E73E74B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rgbClr val="271D6C"/>
                </a:solidFill>
              </a:defRPr>
            </a:lvl1pPr>
          </a:lstStyle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682D69B-C0FF-41F9-B63B-E3ADD03AAC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5225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p.dewolf@cbs.n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sdctool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49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7450579-207D-7856-1250-589E36833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Peter-Paul de Wolf (Statistics Netherlands	) </a:t>
            </a:r>
            <a:r>
              <a:rPr lang="en-US" dirty="0">
                <a:hlinkClick r:id="rId2"/>
              </a:rPr>
              <a:t>pp.dewolf@cbs.nl</a:t>
            </a:r>
            <a:endParaRPr lang="en-US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4225293-C4A2-08F9-1B9F-5FA2AC1ABC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September 2025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EE313B1-D123-B131-D37A-6F42A50DD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1400" dirty="0"/>
          </a:p>
          <a:p>
            <a:r>
              <a:rPr lang="en-US" dirty="0"/>
              <a:t>Privacy, disclosure and SDC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DB24418-4CD3-FA0B-84E4-F7F9DB5A0A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4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784EC5C-8DD2-1669-6C90-427D9F69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3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E076FB0-8BB4-1F7C-7218-C60F7854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Tabulated data (tables)</a:t>
            </a:r>
          </a:p>
        </p:txBody>
      </p:sp>
    </p:spTree>
    <p:extLst>
      <p:ext uri="{BB962C8B-B14F-4D97-AF65-F5344CB8AC3E}">
        <p14:creationId xmlns:p14="http://schemas.microsoft.com/office/powerpoint/2010/main" val="51853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</a:t>
            </a:fld>
            <a:endParaRPr lang="en-US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Tables in the sense of statistics</a:t>
            </a:r>
          </a:p>
          <a:p>
            <a:r>
              <a:rPr lang="en-US" dirty="0"/>
              <a:t>Aggregated information</a:t>
            </a:r>
          </a:p>
          <a:p>
            <a:endParaRPr lang="en-US" dirty="0"/>
          </a:p>
          <a:p>
            <a:r>
              <a:rPr lang="en-US" dirty="0"/>
              <a:t>Frequency count tables</a:t>
            </a:r>
          </a:p>
          <a:p>
            <a:r>
              <a:rPr lang="en-US" dirty="0"/>
              <a:t>Magnitude tables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Tabular data / tables</a:t>
            </a: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740067"/>
              </p:ext>
            </p:extLst>
          </p:nvPr>
        </p:nvGraphicFramePr>
        <p:xfrm>
          <a:off x="4355975" y="2630122"/>
          <a:ext cx="3370391" cy="2016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709930">
                  <a:extLst>
                    <a:ext uri="{9D8B030D-6E8A-4147-A177-3AD203B41FA5}">
                      <a16:colId xmlns:a16="http://schemas.microsoft.com/office/drawing/2014/main" val="2815471859"/>
                    </a:ext>
                  </a:extLst>
                </a:gridCol>
                <a:gridCol w="562293">
                  <a:extLst>
                    <a:ext uri="{9D8B030D-6E8A-4147-A177-3AD203B41FA5}">
                      <a16:colId xmlns:a16="http://schemas.microsoft.com/office/drawing/2014/main" val="3186028064"/>
                    </a:ext>
                  </a:extLst>
                </a:gridCol>
                <a:gridCol w="562293">
                  <a:extLst>
                    <a:ext uri="{9D8B030D-6E8A-4147-A177-3AD203B41FA5}">
                      <a16:colId xmlns:a16="http://schemas.microsoft.com/office/drawing/2014/main" val="389322444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380221638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473999076"/>
                    </a:ext>
                  </a:extLst>
                </a:gridCol>
                <a:gridCol w="579565">
                  <a:extLst>
                    <a:ext uri="{9D8B030D-6E8A-4147-A177-3AD203B41FA5}">
                      <a16:colId xmlns:a16="http://schemas.microsoft.com/office/drawing/2014/main" val="325308782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b="1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40786"/>
                  </a:ext>
                </a:extLst>
              </a:tr>
              <a:tr h="2312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73856"/>
                  </a:ext>
                </a:extLst>
              </a:tr>
              <a:tr h="1729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Harps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26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Organs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42421"/>
                  </a:ext>
                </a:extLst>
              </a:tr>
              <a:tr h="2003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Pianos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22423"/>
                  </a:ext>
                </a:extLst>
              </a:tr>
              <a:tr h="1420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934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651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742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3127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6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1262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890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3943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48354"/>
                  </a:ext>
                </a:extLst>
              </a:tr>
            </a:tbl>
          </a:graphicData>
        </a:graphic>
      </p:graphicFrame>
      <p:graphicFrame>
        <p:nvGraphicFramePr>
          <p:cNvPr id="8" name="Tabel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70333"/>
              </p:ext>
            </p:extLst>
          </p:nvPr>
        </p:nvGraphicFramePr>
        <p:xfrm>
          <a:off x="4971549" y="200620"/>
          <a:ext cx="3596242" cy="1905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695643">
                  <a:extLst>
                    <a:ext uri="{9D8B030D-6E8A-4147-A177-3AD203B41FA5}">
                      <a16:colId xmlns:a16="http://schemas.microsoft.com/office/drawing/2014/main" val="2815471859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3186028064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3893224444"/>
                    </a:ext>
                  </a:extLst>
                </a:gridCol>
                <a:gridCol w="1099739">
                  <a:extLst>
                    <a:ext uri="{9D8B030D-6E8A-4147-A177-3AD203B41FA5}">
                      <a16:colId xmlns:a16="http://schemas.microsoft.com/office/drawing/2014/main" val="3253087828"/>
                    </a:ext>
                  </a:extLst>
                </a:gridCol>
              </a:tblGrid>
              <a:tr h="213078"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                                               Sex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b="1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40786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73856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North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859,645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862,667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1,722,312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261518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East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1,804,460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1,818,814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3,623,274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42421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South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1,821,037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1,824,447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3,645,484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22423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West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4,041899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4,148,115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8,190,014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63929"/>
                  </a:ext>
                </a:extLst>
              </a:tr>
              <a:tr h="22400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8,527,041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8,654,043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17,181,084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48354"/>
                  </a:ext>
                </a:extLst>
              </a:tr>
            </a:tbl>
          </a:graphicData>
        </a:graphic>
      </p:graphicFrame>
      <p:sp>
        <p:nvSpPr>
          <p:cNvPr id="9" name="Tekstvak 8"/>
          <p:cNvSpPr txBox="1"/>
          <p:nvPr/>
        </p:nvSpPr>
        <p:spPr>
          <a:xfrm>
            <a:off x="3592899" y="4646882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Turnover (M€) of instrument producing companies 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5599286" y="2098475"/>
            <a:ext cx="234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Number of inhabitants</a:t>
            </a:r>
          </a:p>
        </p:txBody>
      </p:sp>
    </p:spTree>
    <p:extLst>
      <p:ext uri="{BB962C8B-B14F-4D97-AF65-F5344CB8AC3E}">
        <p14:creationId xmlns:p14="http://schemas.microsoft.com/office/powerpoint/2010/main" val="10512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2607BD7-AE7F-E344-0831-EB25C4A4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5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6C48756-19AE-EB30-9A48-7EEFA002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</p:spTree>
    <p:extLst>
      <p:ext uri="{BB962C8B-B14F-4D97-AF65-F5344CB8AC3E}">
        <p14:creationId xmlns:p14="http://schemas.microsoft.com/office/powerpoint/2010/main" val="425541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</a:t>
            </a:fld>
            <a:endParaRPr lang="en-US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Each cell represents the </a:t>
            </a:r>
            <a:r>
              <a:rPr lang="en-US" sz="1800" i="1" dirty="0"/>
              <a:t>number of units</a:t>
            </a:r>
            <a:r>
              <a:rPr lang="en-US" sz="1800" dirty="0"/>
              <a:t> that satisfy the category of the spanning variable. </a:t>
            </a:r>
          </a:p>
          <a:p>
            <a:pPr marL="0" indent="0">
              <a:buNone/>
            </a:pPr>
            <a:r>
              <a:rPr lang="en-US" sz="1800" dirty="0"/>
              <a:t>I.e., cell values are </a:t>
            </a:r>
            <a:r>
              <a:rPr lang="en-US" sz="1800" i="1" dirty="0"/>
              <a:t>counts</a:t>
            </a:r>
            <a:r>
              <a:rPr lang="en-US" sz="1800" dirty="0"/>
              <a:t> that </a:t>
            </a:r>
            <a:r>
              <a:rPr lang="en-US" sz="1800" i="1" dirty="0"/>
              <a:t>in themselves</a:t>
            </a:r>
            <a:r>
              <a:rPr lang="en-US" sz="1800" dirty="0"/>
              <a:t> are not “sensitive”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Spanning variables can be “sensitive” and/or “identifying” attributes</a:t>
            </a:r>
          </a:p>
          <a:p>
            <a:r>
              <a:rPr lang="en-US" sz="1800" dirty="0"/>
              <a:t>Age-class</a:t>
            </a:r>
          </a:p>
          <a:p>
            <a:r>
              <a:rPr lang="en-US" sz="1800" dirty="0"/>
              <a:t>Gender</a:t>
            </a:r>
          </a:p>
          <a:p>
            <a:r>
              <a:rPr lang="en-US" sz="1800" dirty="0"/>
              <a:t>Health status</a:t>
            </a:r>
          </a:p>
          <a:p>
            <a:r>
              <a:rPr lang="en-US" sz="1800" dirty="0"/>
              <a:t>Criminal history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</p:spTree>
    <p:extLst>
      <p:ext uri="{BB962C8B-B14F-4D97-AF65-F5344CB8AC3E}">
        <p14:creationId xmlns:p14="http://schemas.microsoft.com/office/powerpoint/2010/main" val="304594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605481F-BE41-BC24-3917-35D2FF4FD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7</a:t>
            </a:fld>
            <a:endParaRPr lang="nl-NL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4BE28D5-AFC3-2802-D6AA-05C849231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Number of shipowners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CA36932-8A4C-ACA7-51D3-97091B4C2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EE42FBA5-4FFA-04C5-5EF3-47DDA3F2E5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9051267"/>
                  </p:ext>
                </p:extLst>
              </p:nvPr>
            </p:nvGraphicFramePr>
            <p:xfrm>
              <a:off x="683568" y="2011975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2416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kern="1200" noProof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EE42FBA5-4FFA-04C5-5EF3-47DDA3F2E5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9051267"/>
                  </p:ext>
                </p:extLst>
              </p:nvPr>
            </p:nvGraphicFramePr>
            <p:xfrm>
              <a:off x="683568" y="2011975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629" t="-211667" r="-244025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29" t="-311667" r="-244025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629" t="-411667" r="-24402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 5">
                <a:extLst>
                  <a:ext uri="{FF2B5EF4-FFF2-40B4-BE49-F238E27FC236}">
                    <a16:creationId xmlns:a16="http://schemas.microsoft.com/office/drawing/2014/main" id="{8314C1DB-1E75-573F-6D98-D9B16B588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730156"/>
                  </p:ext>
                </p:extLst>
              </p:nvPr>
            </p:nvGraphicFramePr>
            <p:xfrm>
              <a:off x="4644008" y="2006845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2416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 5">
                <a:extLst>
                  <a:ext uri="{FF2B5EF4-FFF2-40B4-BE49-F238E27FC236}">
                    <a16:creationId xmlns:a16="http://schemas.microsoft.com/office/drawing/2014/main" id="{8314C1DB-1E75-573F-6D98-D9B16B588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730156"/>
                  </p:ext>
                </p:extLst>
              </p:nvPr>
            </p:nvGraphicFramePr>
            <p:xfrm>
              <a:off x="4644008" y="2006845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4"/>
                          <a:stretch>
                            <a:fillRect l="-625" t="-211667" r="-242500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4"/>
                          <a:stretch>
                            <a:fillRect l="-625" t="-411667" r="-24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kstvak 6">
            <a:extLst>
              <a:ext uri="{FF2B5EF4-FFF2-40B4-BE49-F238E27FC236}">
                <a16:creationId xmlns:a16="http://schemas.microsoft.com/office/drawing/2014/main" id="{0B4238CF-719D-252F-8E79-A61F114BC5A6}"/>
              </a:ext>
            </a:extLst>
          </p:cNvPr>
          <p:cNvSpPr txBox="1"/>
          <p:nvPr/>
        </p:nvSpPr>
        <p:spPr>
          <a:xfrm>
            <a:off x="1331640" y="4072107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(</a:t>
            </a:r>
            <a:r>
              <a:rPr lang="nl-NL" dirty="0" err="1"/>
              <a:t>Almost</a:t>
            </a:r>
            <a:r>
              <a:rPr lang="nl-NL" dirty="0"/>
              <a:t>)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shipowners</a:t>
            </a:r>
            <a:r>
              <a:rPr lang="nl-NL" dirty="0"/>
              <a:t> </a:t>
            </a:r>
            <a:r>
              <a:rPr lang="nl-NL" dirty="0" err="1"/>
              <a:t>commited</a:t>
            </a:r>
            <a:r>
              <a:rPr lang="nl-NL" dirty="0"/>
              <a:t> </a:t>
            </a:r>
            <a:r>
              <a:rPr lang="nl-NL" dirty="0" err="1"/>
              <a:t>offence</a:t>
            </a:r>
            <a:r>
              <a:rPr lang="nl-NL" dirty="0"/>
              <a:t> =&gt; high </a:t>
            </a:r>
            <a:r>
              <a:rPr lang="nl-NL" dirty="0" err="1"/>
              <a:t>probability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1926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5C5FE-28B5-A8BE-027B-DAEB4CD8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0024485-58C0-A4CC-8AFF-A55E9B64D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8</a:t>
            </a:fld>
            <a:endParaRPr lang="nl-NL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F623B83-554D-E016-A232-88CBE83DC8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Number of shipowners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E60CDAB-5B0F-B17D-D3B7-3E8FA56DCF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D79155E0-C7E2-0002-A25F-0E35A34469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642735"/>
                  </p:ext>
                </p:extLst>
              </p:nvPr>
            </p:nvGraphicFramePr>
            <p:xfrm>
              <a:off x="2630110" y="1923678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2416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D79155E0-C7E2-0002-A25F-0E35A34469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642735"/>
                  </p:ext>
                </p:extLst>
              </p:nvPr>
            </p:nvGraphicFramePr>
            <p:xfrm>
              <a:off x="2630110" y="1923678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Environmental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2"/>
                          <a:stretch>
                            <a:fillRect l="-625" t="-211667" r="-2425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2"/>
                          <a:stretch>
                            <a:fillRect l="-625" t="-413333" r="-24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487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57FA-B382-1BF3-128D-89EE30E2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6B95EF4-71A0-C02A-0D92-97FE6CC08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9</a:t>
            </a:fld>
            <a:endParaRPr lang="nl-NL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DF8FD48-0581-1C30-0DEB-0A2ADD91B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  <a:tabLst>
                <a:tab pos="1438275" algn="l"/>
                <a:tab pos="1971675" algn="l"/>
                <a:tab pos="2514600" algn="l"/>
                <a:tab pos="3048000" algn="l"/>
                <a:tab pos="3590925" algn="l"/>
                <a:tab pos="4124325" algn="l"/>
              </a:tabLst>
            </a:pPr>
            <a:r>
              <a:rPr lang="en-US" dirty="0"/>
              <a:t>‘Summary’:</a:t>
            </a:r>
          </a:p>
          <a:p>
            <a:pPr marL="0" indent="0">
              <a:buNone/>
              <a:tabLst>
                <a:tab pos="806450" algn="l"/>
                <a:tab pos="1971675" algn="l"/>
                <a:tab pos="2514600" algn="l"/>
                <a:tab pos="3048000" algn="l"/>
                <a:tab pos="3590925" algn="l"/>
                <a:tab pos="4124325" algn="l"/>
              </a:tabLst>
            </a:pPr>
            <a:r>
              <a:rPr lang="en-US" dirty="0"/>
              <a:t>	scores should be sufficiently spread </a:t>
            </a:r>
            <a:br>
              <a:rPr lang="en-US" dirty="0"/>
            </a:br>
            <a:r>
              <a:rPr lang="en-US" dirty="0"/>
              <a:t>	over all categories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chemeClr val="tx2"/>
                </a:solidFill>
              </a:rPr>
              <a:t>Cells with one or two, not necessarily unsafe!</a:t>
            </a:r>
            <a:endParaRPr lang="nl-NL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i="1" dirty="0"/>
              <a:t>But beware!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428C2F0-7810-3DAB-55B9-F8A0BD66FA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</p:spTree>
    <p:extLst>
      <p:ext uri="{BB962C8B-B14F-4D97-AF65-F5344CB8AC3E}">
        <p14:creationId xmlns:p14="http://schemas.microsoft.com/office/powerpoint/2010/main" val="416989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CDA6-147B-FE1C-BB7B-E53B4CDA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15582BE-49D6-30C4-6A5D-F2C144C40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10</a:t>
            </a:fld>
            <a:endParaRPr lang="nl-NL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718D2D8-6F98-F8D7-3336-F7CBDA9275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Number of shipowners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27B984E-9B4F-881D-5C01-4336F9F3B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Frequency count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6145DFAA-3730-3550-E987-2A1E779494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3317466"/>
                  </p:ext>
                </p:extLst>
              </p:nvPr>
            </p:nvGraphicFramePr>
            <p:xfrm>
              <a:off x="971600" y="1923678"/>
              <a:ext cx="696943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0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27417">
                      <a:extLst>
                        <a:ext uri="{9D8B030D-6E8A-4147-A177-3AD203B41FA5}">
                          <a16:colId xmlns:a16="http://schemas.microsoft.com/office/drawing/2014/main" val="1745768224"/>
                        </a:ext>
                      </a:extLst>
                    </a:gridCol>
                    <a:gridCol w="765556">
                      <a:extLst>
                        <a:ext uri="{9D8B030D-6E8A-4147-A177-3AD203B41FA5}">
                          <a16:colId xmlns:a16="http://schemas.microsoft.com/office/drawing/2014/main" val="1675072885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94626">
                      <a:extLst>
                        <a:ext uri="{9D8B030D-6E8A-4147-A177-3AD203B41FA5}">
                          <a16:colId xmlns:a16="http://schemas.microsoft.com/office/drawing/2014/main" val="2472974470"/>
                        </a:ext>
                      </a:extLst>
                    </a:gridCol>
                    <a:gridCol w="7570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788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Criminal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Environment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Fraud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Sanctions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Smuggling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2416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6145DFAA-3730-3550-E987-2A1E779494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3317466"/>
                  </p:ext>
                </p:extLst>
              </p:nvPr>
            </p:nvGraphicFramePr>
            <p:xfrm>
              <a:off x="971600" y="1923678"/>
              <a:ext cx="696943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0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27417">
                      <a:extLst>
                        <a:ext uri="{9D8B030D-6E8A-4147-A177-3AD203B41FA5}">
                          <a16:colId xmlns:a16="http://schemas.microsoft.com/office/drawing/2014/main" val="1745768224"/>
                        </a:ext>
                      </a:extLst>
                    </a:gridCol>
                    <a:gridCol w="765556">
                      <a:extLst>
                        <a:ext uri="{9D8B030D-6E8A-4147-A177-3AD203B41FA5}">
                          <a16:colId xmlns:a16="http://schemas.microsoft.com/office/drawing/2014/main" val="1675072885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94626">
                      <a:extLst>
                        <a:ext uri="{9D8B030D-6E8A-4147-A177-3AD203B41FA5}">
                          <a16:colId xmlns:a16="http://schemas.microsoft.com/office/drawing/2014/main" val="2472974470"/>
                        </a:ext>
                      </a:extLst>
                    </a:gridCol>
                    <a:gridCol w="7570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788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Criminal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Environment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Fraud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Sanctions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Smuggling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2"/>
                          <a:stretch>
                            <a:fillRect l="-699" t="-211667" r="-70279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2"/>
                          <a:stretch>
                            <a:fillRect l="-699" t="-413333" r="-70279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 5">
                <a:extLst>
                  <a:ext uri="{FF2B5EF4-FFF2-40B4-BE49-F238E27FC236}">
                    <a16:creationId xmlns:a16="http://schemas.microsoft.com/office/drawing/2014/main" id="{FDAC8588-24C1-1536-0771-18E051DD68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0682166"/>
                  </p:ext>
                </p:extLst>
              </p:nvPr>
            </p:nvGraphicFramePr>
            <p:xfrm>
              <a:off x="2802459" y="1923678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Criminal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2416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kern="1200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 5">
                <a:extLst>
                  <a:ext uri="{FF2B5EF4-FFF2-40B4-BE49-F238E27FC236}">
                    <a16:creationId xmlns:a16="http://schemas.microsoft.com/office/drawing/2014/main" id="{FDAC8588-24C1-1536-0771-18E051DD68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0682166"/>
                  </p:ext>
                </p:extLst>
              </p:nvPr>
            </p:nvGraphicFramePr>
            <p:xfrm>
              <a:off x="2802459" y="1923678"/>
              <a:ext cx="3307715" cy="183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9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74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noProof="0" dirty="0"/>
                            <a:t>Criminal offence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nl-NL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Region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Yes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No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kern="1200" noProof="0" dirty="0"/>
                            <a:t>Total</a:t>
                          </a:r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625" t="-211667" r="-2425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en-US" sz="1800" b="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625" t="-413333" r="-24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en-US" sz="1800" b="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432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6052E95-1EC3-2E9A-CCF3-3F3C4826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11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A6D70ED-86BF-05E4-CDC1-B3EC5C79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495440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768080" y="2051009"/>
          <a:ext cx="70442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8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5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3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r"/>
                      <a:r>
                        <a:rPr lang="nl-NL" dirty="0"/>
                        <a:t>  </a:t>
                      </a:r>
                      <a:r>
                        <a:rPr lang="nl-NL" dirty="0" err="1"/>
                        <a:t>Region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A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B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C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D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Harps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58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47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230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Organs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250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Pianos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157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59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800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934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651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742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3127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1021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1262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770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3943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12</a:t>
            </a:fld>
            <a:endParaRPr lang="en-US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cell-value represents the </a:t>
            </a:r>
            <a:r>
              <a:rPr lang="en-US" i="1" dirty="0"/>
              <a:t>sum</a:t>
            </a:r>
            <a:r>
              <a:rPr lang="en-US" dirty="0"/>
              <a:t> of the score of the units that fall into that cell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graphicFrame>
        <p:nvGraphicFramePr>
          <p:cNvPr id="6" name="Tabel 5"/>
          <p:cNvGraphicFramePr>
            <a:graphicFrameLocks noGrp="1"/>
          </p:cNvGraphicFramePr>
          <p:nvPr/>
        </p:nvGraphicFramePr>
        <p:xfrm>
          <a:off x="766800" y="2052000"/>
          <a:ext cx="70442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8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5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3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r"/>
                      <a:r>
                        <a:rPr lang="nl-NL" dirty="0"/>
                        <a:t>  </a:t>
                      </a:r>
                      <a:r>
                        <a:rPr lang="nl-NL" dirty="0" err="1"/>
                        <a:t>Region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 err="1"/>
                        <a:t>number</a:t>
                      </a:r>
                      <a:r>
                        <a:rPr lang="nl-NL" sz="1200" dirty="0"/>
                        <a:t> of </a:t>
                      </a:r>
                      <a:r>
                        <a:rPr lang="nl-NL" sz="1200" dirty="0" err="1"/>
                        <a:t>respondents</a:t>
                      </a: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A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B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C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D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Harps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58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151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47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23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230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274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Organs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250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Pianos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157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59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800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302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934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362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651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287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742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227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3127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1178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1021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474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1262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397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770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401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259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3943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1531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kstvak 6"/>
          <p:cNvSpPr txBox="1"/>
          <p:nvPr/>
        </p:nvSpPr>
        <p:spPr>
          <a:xfrm>
            <a:off x="1547664" y="4708252"/>
            <a:ext cx="5472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Turnover (M€) of instrument producing companies</a:t>
            </a:r>
          </a:p>
        </p:txBody>
      </p:sp>
    </p:spTree>
    <p:extLst>
      <p:ext uri="{BB962C8B-B14F-4D97-AF65-F5344CB8AC3E}">
        <p14:creationId xmlns:p14="http://schemas.microsoft.com/office/powerpoint/2010/main" val="89302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13</a:t>
            </a:fld>
            <a:endParaRPr lang="en-US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cell-value represents the </a:t>
            </a:r>
            <a:r>
              <a:rPr lang="en-US" i="1" dirty="0"/>
              <a:t>sum</a:t>
            </a:r>
            <a:r>
              <a:rPr lang="en-US" dirty="0"/>
              <a:t> of the score of the units that fall into that cell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766800" y="2052000"/>
          <a:ext cx="70442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8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5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9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3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r"/>
                      <a:r>
                        <a:rPr lang="nl-NL" dirty="0"/>
                        <a:t>  </a:t>
                      </a:r>
                      <a:r>
                        <a:rPr lang="nl-NL" dirty="0" err="1"/>
                        <a:t>Region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 err="1"/>
                        <a:t>number</a:t>
                      </a:r>
                      <a:r>
                        <a:rPr lang="nl-NL" sz="1200" dirty="0"/>
                        <a:t> of </a:t>
                      </a:r>
                      <a:r>
                        <a:rPr lang="nl-NL" sz="1200" dirty="0" err="1"/>
                        <a:t>respondents</a:t>
                      </a: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A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B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C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D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Harps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58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151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47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23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230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274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Organs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24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250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Pianos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157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59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28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336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800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302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934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362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651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287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742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227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3127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1178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Total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1021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474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1262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397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nl-NL" dirty="0"/>
                        <a:t>770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401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890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259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dirty="0"/>
                        <a:t>3943</a:t>
                      </a:r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1531</a:t>
                      </a:r>
                      <a:endParaRPr lang="nl-NL" sz="14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vaal 5"/>
          <p:cNvSpPr/>
          <p:nvPr/>
        </p:nvSpPr>
        <p:spPr>
          <a:xfrm>
            <a:off x="5652120" y="3507854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al 6"/>
          <p:cNvSpPr/>
          <p:nvPr/>
        </p:nvSpPr>
        <p:spPr>
          <a:xfrm>
            <a:off x="3191312" y="2750604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al 7"/>
          <p:cNvSpPr/>
          <p:nvPr/>
        </p:nvSpPr>
        <p:spPr>
          <a:xfrm>
            <a:off x="2051720" y="3507854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1835696" y="335454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1547664" y="4708252"/>
            <a:ext cx="5472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Turnover (M€) of instrument producing companies</a:t>
            </a:r>
          </a:p>
        </p:txBody>
      </p:sp>
    </p:spTree>
    <p:extLst>
      <p:ext uri="{BB962C8B-B14F-4D97-AF65-F5344CB8AC3E}">
        <p14:creationId xmlns:p14="http://schemas.microsoft.com/office/powerpoint/2010/main" val="41428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7DD5679-394F-6181-DFE5-0A3836AF6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14</a:t>
            </a:fld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3B630ACD-8EB5-C961-9135-E78C51D8FC9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8313" y="1203598"/>
                <a:ext cx="7832181" cy="34557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Exact disclosure:</a:t>
                </a:r>
              </a:p>
              <a:p>
                <a:r>
                  <a:rPr lang="en-US" dirty="0"/>
                  <a:t>One or two contributors to a table cell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about approximate disclosure?</a:t>
                </a:r>
              </a:p>
              <a:p>
                <a:r>
                  <a:rPr lang="en-US" dirty="0"/>
                  <a:t>E.g.: value of contributor estimated to be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[999, 1001]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3B630ACD-8EB5-C961-9135-E78C51D8F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8313" y="1203598"/>
                <a:ext cx="7832181" cy="3455715"/>
              </a:xfrm>
              <a:blipFill>
                <a:blip r:embed="rId2"/>
                <a:stretch>
                  <a:fillRect l="-1245" t="-14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6FB8342-7780-5239-F7F5-3228D41830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403451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15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tekst 2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8313" y="1203599"/>
                <a:ext cx="7632079" cy="23042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Risk measures</a:t>
                </a:r>
              </a:p>
              <a:p>
                <a:r>
                  <a:rPr lang="en-US" dirty="0"/>
                  <a:t>Threshold rule: unsafe when &lt; </a:t>
                </a:r>
                <a:r>
                  <a:rPr lang="en-US" i="1" dirty="0"/>
                  <a:t>k</a:t>
                </a:r>
                <a:r>
                  <a:rPr lang="en-US" dirty="0"/>
                  <a:t> contributors to a cell</a:t>
                </a:r>
              </a:p>
              <a:p>
                <a:r>
                  <a:rPr lang="en-US" dirty="0"/>
                  <a:t>Concentration rules</a:t>
                </a:r>
              </a:p>
              <a:p>
                <a:pPr lvl="1"/>
                <a:r>
                  <a:rPr lang="en-US" i="1" dirty="0"/>
                  <a:t>p</a:t>
                </a:r>
                <a:r>
                  <a:rPr lang="en-US" dirty="0"/>
                  <a:t>%-rule: unsafe when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jdelijke aanduiding voor tekst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8313" y="1203599"/>
                <a:ext cx="7632079" cy="2304256"/>
              </a:xfrm>
              <a:blipFill>
                <a:blip r:embed="rId2"/>
                <a:stretch>
                  <a:fillRect l="-1278" t="-21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483933C6-E2ED-BCFB-E31D-841CE2BAD3A1}"/>
              </a:ext>
            </a:extLst>
          </p:cNvPr>
          <p:cNvSpPr txBox="1"/>
          <p:nvPr/>
        </p:nvSpPr>
        <p:spPr>
          <a:xfrm>
            <a:off x="3347864" y="371968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x</a:t>
            </a:r>
            <a:r>
              <a:rPr lang="en-US" sz="1400" baseline="-25000" dirty="0"/>
              <a:t>1</a:t>
            </a:r>
            <a:r>
              <a:rPr lang="en-US" sz="1400" dirty="0"/>
              <a:t> = 81 M€, x</a:t>
            </a:r>
            <a:r>
              <a:rPr lang="en-US" sz="1400" baseline="-25000" dirty="0"/>
              <a:t>2</a:t>
            </a:r>
            <a:r>
              <a:rPr lang="en-US" sz="1400" dirty="0"/>
              <a:t> = 8 M€, x</a:t>
            </a:r>
            <a:r>
              <a:rPr lang="en-US" sz="1400" baseline="-25000" dirty="0"/>
              <a:t>3</a:t>
            </a:r>
            <a:r>
              <a:rPr lang="en-US" sz="1400" dirty="0"/>
              <a:t> = x</a:t>
            </a:r>
            <a:r>
              <a:rPr lang="en-US" sz="1400" baseline="-25000" dirty="0"/>
              <a:t>4</a:t>
            </a:r>
            <a:r>
              <a:rPr lang="en-US" sz="1400" dirty="0"/>
              <a:t> = x</a:t>
            </a:r>
            <a:r>
              <a:rPr lang="en-US" sz="1400" baseline="-25000" dirty="0"/>
              <a:t>5</a:t>
            </a:r>
            <a:r>
              <a:rPr lang="en-US" sz="1400" dirty="0"/>
              <a:t> = 1 M€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10%-rule: </a:t>
            </a:r>
            <a:br>
              <a:rPr lang="en-US" sz="1400" dirty="0"/>
            </a:br>
            <a:r>
              <a:rPr lang="en-US" sz="1400" dirty="0"/>
              <a:t>  	    (92 – 8) – 81 &lt; 0.10*81	</a:t>
            </a:r>
            <a:br>
              <a:rPr lang="en-US" sz="1400" b="1" dirty="0"/>
            </a:br>
            <a:r>
              <a:rPr lang="en-US" sz="1400" b="1" dirty="0"/>
              <a:t>		 </a:t>
            </a:r>
            <a:r>
              <a:rPr lang="en-US" sz="600" b="1" dirty="0"/>
              <a:t> </a:t>
            </a:r>
            <a:r>
              <a:rPr lang="en-US" sz="1400" dirty="0"/>
              <a:t>3 &lt; 8.1	      </a:t>
            </a:r>
            <a:r>
              <a:rPr lang="en-US" sz="1400" b="1" dirty="0"/>
              <a:t> Unsafe!</a:t>
            </a:r>
            <a:endParaRPr lang="en-US" sz="14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63C7E0F-73FF-238C-93FC-142E3DD1C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850588"/>
            <a:ext cx="1585482" cy="439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jdelijke aanduiding voor tekst 2">
                <a:extLst>
                  <a:ext uri="{FF2B5EF4-FFF2-40B4-BE49-F238E27FC236}">
                    <a16:creationId xmlns:a16="http://schemas.microsoft.com/office/drawing/2014/main" id="{F516D2FA-BC9A-7A8C-6D41-42D27E357A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92080" y="2499742"/>
                <a:ext cx="3383607" cy="122413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Calibri" pitchFamily="34" charset="0"/>
                  <a:buChar char="─"/>
                  <a:defRPr sz="2400" kern="1200" spc="40" baseline="0">
                    <a:solidFill>
                      <a:srgbClr val="271D6C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Calibri" pitchFamily="34" charset="0"/>
                  <a:buChar char="-"/>
                  <a:defRPr sz="2400" kern="1200" baseline="0">
                    <a:solidFill>
                      <a:srgbClr val="271D6C"/>
                    </a:solidFill>
                    <a:latin typeface="Calibri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Calibri" pitchFamily="34" charset="0"/>
                  <a:buChar char="-"/>
                  <a:defRPr sz="2400" kern="1200" baseline="0">
                    <a:solidFill>
                      <a:srgbClr val="271D6C"/>
                    </a:solidFill>
                    <a:latin typeface="Calibri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Calibri" pitchFamily="34" charset="0"/>
                  <a:buChar char="-"/>
                  <a:defRPr sz="2400" kern="1200" baseline="0">
                    <a:solidFill>
                      <a:srgbClr val="271D6C"/>
                    </a:solidFill>
                    <a:latin typeface="Calibri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Calibri" pitchFamily="34" charset="0"/>
                  <a:buChar char="-"/>
                  <a:defRPr sz="2400" kern="1200" baseline="0">
                    <a:solidFill>
                      <a:srgbClr val="271D6C"/>
                    </a:solidFill>
                    <a:latin typeface="Calibri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itchFamily="34" charset="0"/>
                  <a:buNone/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or</a:t>
                </a:r>
              </a:p>
              <a:p>
                <a:pPr marL="0" indent="0">
                  <a:buFont typeface="Calibri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1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8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nl-NL" sz="1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nl-NL" sz="18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nl-NL" sz="1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1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l-NL" sz="1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ijdelijke aanduiding voor tekst 2">
                <a:extLst>
                  <a:ext uri="{FF2B5EF4-FFF2-40B4-BE49-F238E27FC236}">
                    <a16:creationId xmlns:a16="http://schemas.microsoft.com/office/drawing/2014/main" id="{F516D2FA-BC9A-7A8C-6D41-42D27E357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2499742"/>
                <a:ext cx="3383607" cy="1224136"/>
              </a:xfrm>
              <a:prstGeom prst="rect">
                <a:avLst/>
              </a:prstGeom>
              <a:blipFill>
                <a:blip r:embed="rId4"/>
                <a:stretch>
                  <a:fillRect l="-2703" t="-39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66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40B047CD-3DA4-78E1-D989-4A998A77D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16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01C0A38-373C-1643-517B-384E2AC77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concentration rules:</a:t>
            </a:r>
          </a:p>
          <a:p>
            <a:r>
              <a:rPr lang="en-US" dirty="0"/>
              <a:t>Dominance rule or 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n-US" dirty="0"/>
              <a:t>)-rule</a:t>
            </a:r>
          </a:p>
          <a:p>
            <a:pPr lvl="1"/>
            <a:r>
              <a:rPr lang="en-US" dirty="0"/>
              <a:t>Largest </a:t>
            </a:r>
            <a:r>
              <a:rPr lang="en-US" i="1" dirty="0"/>
              <a:t>n</a:t>
            </a:r>
            <a:r>
              <a:rPr lang="en-US" dirty="0"/>
              <a:t> should not contribute more than </a:t>
            </a:r>
            <a:r>
              <a:rPr lang="en-US" i="1" dirty="0"/>
              <a:t>k</a:t>
            </a:r>
            <a:r>
              <a:rPr lang="en-US" dirty="0"/>
              <a:t>% to the cell total</a:t>
            </a:r>
          </a:p>
          <a:p>
            <a:pPr lvl="1"/>
            <a:endParaRPr lang="en-US" dirty="0"/>
          </a:p>
          <a:p>
            <a:r>
              <a:rPr lang="en-US" i="1" dirty="0"/>
              <a:t>p</a:t>
            </a:r>
            <a:r>
              <a:rPr lang="en-US" dirty="0"/>
              <a:t>/</a:t>
            </a:r>
            <a:r>
              <a:rPr lang="en-US" i="1" dirty="0"/>
              <a:t>q</a:t>
            </a:r>
            <a:r>
              <a:rPr lang="en-US" dirty="0"/>
              <a:t>-rule (prior/posterior rule)</a:t>
            </a:r>
          </a:p>
          <a:p>
            <a:pPr lvl="1"/>
            <a:r>
              <a:rPr lang="en-US" dirty="0"/>
              <a:t>Same as </a:t>
            </a:r>
            <a:r>
              <a:rPr lang="en-US" i="1" dirty="0"/>
              <a:t>p</a:t>
            </a:r>
            <a:r>
              <a:rPr lang="en-US" dirty="0"/>
              <a:t>%-rule, but with prior knowledge up to </a:t>
            </a:r>
            <a:r>
              <a:rPr lang="en-US" i="1" dirty="0"/>
              <a:t>q</a:t>
            </a:r>
            <a:r>
              <a:rPr lang="en-US" dirty="0"/>
              <a:t>%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65294B3-C8EC-E75A-4301-3533D93BC0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287644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0E8D-1CED-BD5A-D3D4-22E943E4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D435C5D-02FE-4EF9-5EEA-82E16D983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17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FD6075-B7B8-121F-068C-F71B79BA33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Concentration rules </a:t>
            </a:r>
            <a:r>
              <a:rPr lang="en-US" dirty="0"/>
              <a:t>only make sense if the </a:t>
            </a:r>
            <a:r>
              <a:rPr lang="en-US" dirty="0">
                <a:solidFill>
                  <a:schemeClr val="tx2"/>
                </a:solidFill>
              </a:rPr>
              <a:t>size</a:t>
            </a:r>
            <a:r>
              <a:rPr lang="en-US" dirty="0"/>
              <a:t> of the variable is ‘identifying’!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I.e., if ‘intruders’ know who the largest respondents are.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F7302CA-5044-5C27-112F-9882B50A17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261B9A6-B8FC-D366-112B-7C1E47A2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056" y="3147814"/>
            <a:ext cx="24955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Font typeface="Times" pitchFamily="18" charset="0"/>
              <a:buNone/>
            </a:pPr>
            <a:r>
              <a:rPr lang="en-US" dirty="0">
                <a:solidFill>
                  <a:srgbClr val="271D6C"/>
                </a:solidFill>
              </a:rPr>
              <a:t>Example:</a:t>
            </a:r>
          </a:p>
          <a:p>
            <a:pPr marL="342900" indent="-342900" eaLnBrk="1" hangingPunct="1">
              <a:spcBef>
                <a:spcPct val="20000"/>
              </a:spcBef>
              <a:buFont typeface="Times" pitchFamily="18" charset="0"/>
              <a:buNone/>
            </a:pPr>
            <a:r>
              <a:rPr lang="en-US" dirty="0">
                <a:solidFill>
                  <a:srgbClr val="271D6C"/>
                </a:solidFill>
              </a:rPr>
              <a:t>		Profit</a:t>
            </a:r>
          </a:p>
        </p:txBody>
      </p:sp>
      <p:pic>
        <p:nvPicPr>
          <p:cNvPr id="8" name="Picture 11" descr="smileyTwijfel">
            <a:extLst>
              <a:ext uri="{FF2B5EF4-FFF2-40B4-BE49-F238E27FC236}">
                <a16:creationId xmlns:a16="http://schemas.microsoft.com/office/drawing/2014/main" id="{CD3CB493-8F5A-71BB-D036-BA61EA12C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266" y="3463001"/>
            <a:ext cx="356350" cy="360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smileyGoed">
            <a:extLst>
              <a:ext uri="{FF2B5EF4-FFF2-40B4-BE49-F238E27FC236}">
                <a16:creationId xmlns:a16="http://schemas.microsoft.com/office/drawing/2014/main" id="{183D4D4F-5E87-504A-8689-0CA4153BC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654" y="3915873"/>
            <a:ext cx="357283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7B8B0159-2847-43AA-F90B-BD6815358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056" y="3781226"/>
            <a:ext cx="24955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Font typeface="Times" pitchFamily="18" charset="0"/>
              <a:buNone/>
            </a:pPr>
            <a:r>
              <a:rPr lang="en-US" sz="3000" dirty="0"/>
              <a:t>		</a:t>
            </a:r>
            <a:r>
              <a:rPr lang="en-US" dirty="0">
                <a:solidFill>
                  <a:srgbClr val="271D6C"/>
                </a:solidFill>
              </a:rPr>
              <a:t>Turnover</a:t>
            </a:r>
          </a:p>
        </p:txBody>
      </p:sp>
    </p:spTree>
    <p:extLst>
      <p:ext uri="{BB962C8B-B14F-4D97-AF65-F5344CB8AC3E}">
        <p14:creationId xmlns:p14="http://schemas.microsoft.com/office/powerpoint/2010/main" val="226013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A90-4E02-4A2D-498B-05480C49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63E9871-350C-AFDB-1BD8-E596E4552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18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B72EF7EE-9926-ADAB-4522-F9EA7EBA134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Linear sensitivity measures: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dirty="0"/>
                  <a:t> the number of contributions to cell </a:t>
                </a:r>
                <a:r>
                  <a:rPr lang="en-GB" i="1" dirty="0"/>
                  <a:t>C</a:t>
                </a:r>
                <a:r>
                  <a:rPr lang="en-GB" dirty="0"/>
                  <a:t>, 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a set of constants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≥…≥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dirty="0">
                    <a:sym typeface="Symbol" pitchFamily="18" charset="2"/>
                  </a:rPr>
                  <a:t> the </a:t>
                </a:r>
                <a:r>
                  <a:rPr lang="en-GB" i="1" dirty="0">
                    <a:sym typeface="Symbol" pitchFamily="18" charset="2"/>
                  </a:rPr>
                  <a:t>decreasingly</a:t>
                </a:r>
                <a:r>
                  <a:rPr lang="en-GB" dirty="0">
                    <a:sym typeface="Symbol" pitchFamily="18" charset="2"/>
                  </a:rPr>
                  <a:t> ordered contributions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lnSpc>
                    <a:spcPct val="50000"/>
                  </a:lnSpc>
                  <a:buNone/>
                </a:pPr>
                <a:r>
                  <a:rPr lang="en-GB" dirty="0"/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i="1" dirty="0">
                    <a:sym typeface="Symbol" pitchFamily="18" charset="2"/>
                  </a:rPr>
                  <a:t> </a:t>
                </a:r>
                <a:r>
                  <a:rPr lang="en-GB" dirty="0"/>
                  <a:t>such that cell </a:t>
                </a:r>
                <a:r>
                  <a:rPr lang="en-GB" i="1" dirty="0"/>
                  <a:t>C</a:t>
                </a:r>
                <a:r>
                  <a:rPr lang="en-GB" dirty="0"/>
                  <a:t> is unsafe if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B72EF7EE-9926-ADAB-4522-F9EA7EBA1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278" t="-14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6362057-DA9D-D6D6-7EE5-884375DCD8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2262291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ECD3-D882-8A29-E85C-D7D39CE1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A72DD3E-C56E-534B-8EB5-86626E6C6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19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4FD7E720-2E10-2613-2481-0715BA03A6C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Often additionally sub-additivity is assumed: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nl-NL" sz="20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20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nl-NL" sz="2000" dirty="0"/>
              </a:p>
              <a:p>
                <a:pPr marL="0" indent="0">
                  <a:buNone/>
                </a:pPr>
                <a:endParaRPr lang="en-GB" sz="1100" dirty="0"/>
              </a:p>
              <a:p>
                <a:pPr marL="0" indent="0">
                  <a:buNone/>
                </a:pPr>
                <a:r>
                  <a:rPr lang="en-GB" dirty="0"/>
                  <a:t>i.e., by combining two cells, the sensitivity will always be smaller or equal to the sum of the individual sensitivities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4FD7E720-2E10-2613-2481-0715BA03A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278" t="-14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2C91FA8-4D59-C385-21E9-CC16AB4D41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3013380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64AF-C5F6-2681-64ED-AFBC57E3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9BB4888-2250-C6A0-A6B0-27155AB4D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20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3A2954-A07E-00C2-999F-CE537A961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Holdings/branches/offices:</a:t>
            </a:r>
          </a:p>
          <a:p>
            <a:pPr marL="0" indent="0">
              <a:buNone/>
            </a:pPr>
            <a:r>
              <a:rPr lang="en-US" dirty="0"/>
              <a:t>companies contributing to more than one cell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NB: In marginal combined to one contribution when checking sensitivity!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68501A7-3A6B-5468-FC3C-680CBF66D7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3620178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A83A-7142-3060-6FB7-0EEE8A81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EE52B21-03AA-20E2-09D9-DDC96ABCB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21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9AD204A-7E2E-33E5-1314-E9B2D80944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6BB0951D-8481-1A0D-17A5-6E57FACFB7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658" y="987574"/>
            <a:ext cx="5724636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Example: </a:t>
            </a:r>
            <a:r>
              <a:rPr lang="en-GB" sz="2000" i="1" dirty="0"/>
              <a:t>p</a:t>
            </a:r>
            <a:r>
              <a:rPr lang="en-GB" sz="2000" dirty="0"/>
              <a:t>% rule with </a:t>
            </a:r>
            <a:r>
              <a:rPr lang="en-GB" sz="2000" i="1" dirty="0"/>
              <a:t>p</a:t>
            </a:r>
            <a:r>
              <a:rPr lang="en-GB" sz="2000" dirty="0"/>
              <a:t> = 10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7D49569B-0E28-2847-2519-D789962BE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386986"/>
              </p:ext>
            </p:extLst>
          </p:nvPr>
        </p:nvGraphicFramePr>
        <p:xfrm>
          <a:off x="1187624" y="1546848"/>
          <a:ext cx="6220146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815471859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18602806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01356257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89322444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403774255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380221638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792667066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473999076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20153799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253087828"/>
                    </a:ext>
                  </a:extLst>
                </a:gridCol>
                <a:gridCol w="562293">
                  <a:extLst>
                    <a:ext uri="{9D8B030D-6E8A-4147-A177-3AD203B41FA5}">
                      <a16:colId xmlns:a16="http://schemas.microsoft.com/office/drawing/2014/main" val="3637012444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4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7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26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Violins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4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1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22423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BEC8BEF7-EDF1-C18A-A626-F99CE0923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125653"/>
              </p:ext>
            </p:extLst>
          </p:nvPr>
        </p:nvGraphicFramePr>
        <p:xfrm>
          <a:off x="1647130" y="3512690"/>
          <a:ext cx="5400600" cy="914478"/>
        </p:xfrm>
        <a:graphic>
          <a:graphicData uri="http://schemas.openxmlformats.org/drawingml/2006/table">
            <a:tbl>
              <a:tblPr firstRow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5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B050"/>
                          </a:solidFill>
                          <a:latin typeface="+mn-lt"/>
                        </a:rPr>
                        <a:t>600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70C0"/>
                          </a:solidFill>
                          <a:latin typeface="+mn-lt"/>
                        </a:rPr>
                        <a:t>90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B050"/>
                          </a:solidFill>
                          <a:latin typeface="+mn-lt"/>
                        </a:rPr>
                        <a:t>600</a:t>
                      </a:r>
                      <a:r>
                        <a:rPr lang="nl-NL" sz="1400" i="1" dirty="0">
                          <a:latin typeface="+mn-lt"/>
                        </a:rPr>
                        <a:t>, </a:t>
                      </a:r>
                      <a:r>
                        <a:rPr lang="nl-NL" sz="1400" i="1" dirty="0">
                          <a:solidFill>
                            <a:srgbClr val="0070C0"/>
                          </a:solidFill>
                          <a:latin typeface="+mn-lt"/>
                        </a:rPr>
                        <a:t>90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60,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i="1" dirty="0">
                          <a:solidFill>
                            <a:schemeClr val="tx1"/>
                          </a:solidFill>
                          <a:latin typeface="+mn-lt"/>
                        </a:rPr>
                        <a:t>60,</a:t>
                      </a: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i="1" dirty="0">
                          <a:solidFill>
                            <a:schemeClr val="tx1"/>
                          </a:solidFill>
                          <a:latin typeface="+mn-lt"/>
                        </a:rPr>
                        <a:t>6 x </a:t>
                      </a: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kstvak 14">
            <a:extLst>
              <a:ext uri="{FF2B5EF4-FFF2-40B4-BE49-F238E27FC236}">
                <a16:creationId xmlns:a16="http://schemas.microsoft.com/office/drawing/2014/main" id="{9A9ECE88-8933-6E19-8BBE-E62CDB288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210" y="4445618"/>
            <a:ext cx="45365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nl-NL" sz="1800" dirty="0">
                <a:latin typeface="+mn-lt"/>
              </a:rPr>
              <a:t>((810 – </a:t>
            </a:r>
            <a:r>
              <a:rPr lang="nl-NL" sz="1800" dirty="0">
                <a:solidFill>
                  <a:srgbClr val="0070C0"/>
                </a:solidFill>
                <a:latin typeface="+mn-lt"/>
              </a:rPr>
              <a:t>90</a:t>
            </a:r>
            <a:r>
              <a:rPr lang="nl-NL" sz="1800" dirty="0">
                <a:latin typeface="+mn-lt"/>
              </a:rPr>
              <a:t>) – </a:t>
            </a:r>
            <a:r>
              <a:rPr lang="nl-NL" sz="1800" dirty="0">
                <a:solidFill>
                  <a:srgbClr val="00B050"/>
                </a:solidFill>
                <a:latin typeface="+mn-lt"/>
              </a:rPr>
              <a:t>600</a:t>
            </a:r>
            <a:r>
              <a:rPr lang="nl-NL" sz="1800" dirty="0">
                <a:latin typeface="+mn-lt"/>
              </a:rPr>
              <a:t>)/</a:t>
            </a:r>
            <a:r>
              <a:rPr lang="nl-NL" sz="1800" dirty="0">
                <a:solidFill>
                  <a:srgbClr val="00B050"/>
                </a:solidFill>
                <a:latin typeface="+mn-lt"/>
              </a:rPr>
              <a:t>600</a:t>
            </a:r>
            <a:r>
              <a:rPr lang="nl-NL" sz="1800" dirty="0">
                <a:latin typeface="+mn-lt"/>
              </a:rPr>
              <a:t> = 20%  =&gt; </a:t>
            </a:r>
            <a:r>
              <a:rPr lang="nl-NL" sz="1800" b="1" i="1" dirty="0">
                <a:solidFill>
                  <a:srgbClr val="00B050"/>
                </a:solidFill>
                <a:latin typeface="+mn-lt"/>
              </a:rPr>
              <a:t>Safe</a:t>
            </a:r>
            <a:endParaRPr lang="nl-NL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0470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2370-2DE7-F3D8-53C2-6C18E734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BFE2782-0234-A34D-5634-D28BE3B6B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22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2F18052-E667-FCAA-AEEE-7B14F789A0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2EAD8815-098C-1A60-9FAB-7C87EB13A9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658" y="987574"/>
            <a:ext cx="5724636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Example: </a:t>
            </a:r>
            <a:r>
              <a:rPr lang="en-GB" sz="2000" i="1" dirty="0"/>
              <a:t>p</a:t>
            </a:r>
            <a:r>
              <a:rPr lang="en-GB" sz="2000" dirty="0"/>
              <a:t>% rule with </a:t>
            </a:r>
            <a:r>
              <a:rPr lang="en-GB" sz="2000" i="1" dirty="0"/>
              <a:t>p</a:t>
            </a:r>
            <a:r>
              <a:rPr lang="en-GB" sz="2000" dirty="0"/>
              <a:t> = 10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7BB1AFD2-D298-2CFA-F257-B28ADA47254C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1546848"/>
          <a:ext cx="6220146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815471859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18602806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01356257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89322444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403774255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380221638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792667066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473999076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20153799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253087828"/>
                    </a:ext>
                  </a:extLst>
                </a:gridCol>
                <a:gridCol w="562293">
                  <a:extLst>
                    <a:ext uri="{9D8B030D-6E8A-4147-A177-3AD203B41FA5}">
                      <a16:colId xmlns:a16="http://schemas.microsoft.com/office/drawing/2014/main" val="3637012444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4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7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26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Violins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4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1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2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22423"/>
                  </a:ext>
                </a:extLst>
              </a:tr>
            </a:tbl>
          </a:graphicData>
        </a:graphic>
      </p:graphicFrame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2543F035-824F-C328-3E1E-C74B2B5D7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61891"/>
              </p:ext>
            </p:extLst>
          </p:nvPr>
        </p:nvGraphicFramePr>
        <p:xfrm>
          <a:off x="1648800" y="3513600"/>
          <a:ext cx="5400600" cy="914478"/>
        </p:xfrm>
        <a:graphic>
          <a:graphicData uri="http://schemas.openxmlformats.org/drawingml/2006/table">
            <a:tbl>
              <a:tblPr firstRow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5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B050"/>
                          </a:solidFill>
                          <a:latin typeface="+mn-lt"/>
                        </a:rPr>
                        <a:t>600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B050"/>
                          </a:solidFill>
                          <a:latin typeface="+mn-lt"/>
                        </a:rPr>
                        <a:t>90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B050"/>
                          </a:solidFill>
                          <a:latin typeface="+mn-lt"/>
                        </a:rPr>
                        <a:t>690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solidFill>
                            <a:srgbClr val="0070C0"/>
                          </a:solidFill>
                          <a:latin typeface="+mn-lt"/>
                        </a:rPr>
                        <a:t>60</a:t>
                      </a:r>
                      <a:r>
                        <a:rPr lang="nl-NL" sz="1400" i="1" dirty="0"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10,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i="1" dirty="0">
                          <a:solidFill>
                            <a:srgbClr val="0070C0"/>
                          </a:solidFill>
                          <a:latin typeface="+mn-lt"/>
                        </a:rPr>
                        <a:t>60</a:t>
                      </a:r>
                      <a:r>
                        <a:rPr lang="nl-NL" sz="1400" b="0" i="1" dirty="0">
                          <a:solidFill>
                            <a:schemeClr val="tx1"/>
                          </a:solidFill>
                          <a:latin typeface="+mn-lt"/>
                        </a:rPr>
                        <a:t>,</a:t>
                      </a: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i="1" dirty="0">
                          <a:latin typeface="+mn-lt"/>
                        </a:rPr>
                        <a:t>-</a:t>
                      </a:r>
                      <a:endParaRPr lang="nl-NL" sz="14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i="1" dirty="0">
                          <a:solidFill>
                            <a:schemeClr val="tx1"/>
                          </a:solidFill>
                          <a:latin typeface="+mn-lt"/>
                        </a:rPr>
                        <a:t>6 x </a:t>
                      </a:r>
                      <a:r>
                        <a:rPr lang="nl-NL" sz="1400" i="1" dirty="0">
                          <a:latin typeface="+mn-lt"/>
                        </a:rPr>
                        <a:t>10</a:t>
                      </a:r>
                      <a:r>
                        <a:rPr lang="nl-NL" sz="1400" i="1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nl-NL" sz="1400" b="0" i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0" marR="91430" marT="45733" marB="45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kstvak 14">
            <a:extLst>
              <a:ext uri="{FF2B5EF4-FFF2-40B4-BE49-F238E27FC236}">
                <a16:creationId xmlns:a16="http://schemas.microsoft.com/office/drawing/2014/main" id="{1622403F-F59C-34E7-19EE-6AD881879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800" y="4446000"/>
            <a:ext cx="45365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nl-NL" sz="1800" dirty="0">
                <a:latin typeface="+mn-lt"/>
              </a:rPr>
              <a:t>((810 – </a:t>
            </a:r>
            <a:r>
              <a:rPr lang="nl-NL" sz="1800" dirty="0">
                <a:solidFill>
                  <a:srgbClr val="0070C0"/>
                </a:solidFill>
                <a:latin typeface="+mn-lt"/>
              </a:rPr>
              <a:t>60</a:t>
            </a:r>
            <a:r>
              <a:rPr lang="nl-NL" sz="1800" dirty="0">
                <a:latin typeface="+mn-lt"/>
              </a:rPr>
              <a:t>) – </a:t>
            </a:r>
            <a:r>
              <a:rPr lang="nl-NL" sz="1800" dirty="0">
                <a:solidFill>
                  <a:srgbClr val="00B050"/>
                </a:solidFill>
                <a:latin typeface="+mn-lt"/>
              </a:rPr>
              <a:t>690</a:t>
            </a:r>
            <a:r>
              <a:rPr lang="nl-NL" sz="1800" dirty="0">
                <a:latin typeface="+mn-lt"/>
              </a:rPr>
              <a:t>)/</a:t>
            </a:r>
            <a:r>
              <a:rPr lang="nl-NL" sz="1800" dirty="0">
                <a:solidFill>
                  <a:srgbClr val="00B050"/>
                </a:solidFill>
                <a:latin typeface="+mn-lt"/>
              </a:rPr>
              <a:t>690</a:t>
            </a:r>
            <a:r>
              <a:rPr lang="nl-NL" sz="1800" dirty="0">
                <a:latin typeface="+mn-lt"/>
              </a:rPr>
              <a:t> = 8.7%  =&gt; </a:t>
            </a:r>
            <a:r>
              <a:rPr lang="nl-NL" sz="1800" b="1" i="1" dirty="0" err="1">
                <a:solidFill>
                  <a:srgbClr val="FF0000"/>
                </a:solidFill>
                <a:latin typeface="+mn-lt"/>
              </a:rPr>
              <a:t>Unsafe</a:t>
            </a:r>
            <a:endParaRPr lang="nl-NL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4505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F89229-5716-A963-0FBF-BCC42B86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23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E17539-A3DB-4B36-1DF4-4F0CFDC9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special </a:t>
            </a:r>
            <a:r>
              <a:rPr lang="nl-NL" dirty="0" err="1"/>
              <a:t>tables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6076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A83-F945-BE24-B8DD-6B14DAF8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8EF1778-4318-CA07-3FF8-DE9E16A21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24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C24E291-3059-AEFE-C8FF-68F35B6BE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 far assumed: </a:t>
            </a:r>
          </a:p>
          <a:p>
            <a:pPr marL="0" indent="0">
              <a:buNone/>
            </a:pPr>
            <a:r>
              <a:rPr lang="en-US" dirty="0"/>
              <a:t>	population tables (complete enumeration)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Often (weighted) tables based on sample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Response knowledge?</a:t>
            </a:r>
          </a:p>
          <a:p>
            <a:pPr marL="0" indent="0">
              <a:buNone/>
            </a:pPr>
            <a:r>
              <a:rPr lang="en-US" dirty="0"/>
              <a:t>Yes? Treat like complete enumeration</a:t>
            </a:r>
          </a:p>
          <a:p>
            <a:pPr marL="0" indent="0">
              <a:buNone/>
            </a:pPr>
            <a:r>
              <a:rPr lang="en-US" dirty="0"/>
              <a:t>No? …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786B2B4-7136-AB09-3A4D-C7F0017FED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Survey based tables</a:t>
            </a:r>
          </a:p>
        </p:txBody>
      </p:sp>
    </p:spTree>
    <p:extLst>
      <p:ext uri="{BB962C8B-B14F-4D97-AF65-F5344CB8AC3E}">
        <p14:creationId xmlns:p14="http://schemas.microsoft.com/office/powerpoint/2010/main" val="594406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A89E-EA39-8BAC-51FB-AD7DAC6E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A97E7B0-E12C-8FE8-57AF-1B7B031FE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25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22151CC-CCA5-FF06-538A-B9464D1805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Survey based tables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FC71EFE1-E9DE-246C-6B07-9075D2069871}"/>
              </a:ext>
            </a:extLst>
          </p:cNvPr>
          <p:cNvSpPr txBox="1">
            <a:spLocks/>
          </p:cNvSpPr>
          <p:nvPr/>
        </p:nvSpPr>
        <p:spPr>
          <a:xfrm>
            <a:off x="467544" y="993761"/>
            <a:ext cx="6696744" cy="36724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─"/>
              <a:defRPr sz="2400" kern="1200" spc="4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lvl="1" indent="-166688">
              <a:buFont typeface="Arial" panose="020B0604020202020204" pitchFamily="34" charset="0"/>
              <a:buChar char="•"/>
            </a:pPr>
            <a:r>
              <a:rPr lang="en-GB" sz="2000" dirty="0"/>
              <a:t>relax rules</a:t>
            </a:r>
          </a:p>
          <a:p>
            <a:pPr marL="180975" lvl="1" indent="-166688">
              <a:buFont typeface="Arial" panose="020B0604020202020204" pitchFamily="34" charset="0"/>
              <a:buChar char="•"/>
            </a:pPr>
            <a:r>
              <a:rPr lang="en-GB" sz="2000" dirty="0"/>
              <a:t>adjust rules e.g., use weights to construct </a:t>
            </a:r>
            <a:br>
              <a:rPr lang="en-GB" sz="2000" dirty="0"/>
            </a:br>
            <a:r>
              <a:rPr lang="en-GB" sz="2000" dirty="0"/>
              <a:t>‘virtually completely enumerated’ cells</a:t>
            </a:r>
          </a:p>
          <a:p>
            <a:endParaRPr lang="en-GB" sz="2000" dirty="0"/>
          </a:p>
          <a:p>
            <a:pPr marL="0" lvl="3" indent="0" defTabSz="762000">
              <a:lnSpc>
                <a:spcPct val="90000"/>
              </a:lnSpc>
              <a:buNone/>
            </a:pPr>
            <a:r>
              <a:rPr lang="en-GB" sz="2000" dirty="0"/>
              <a:t>E.g., 	</a:t>
            </a:r>
            <a:r>
              <a:rPr lang="en-GB" sz="1600" dirty="0"/>
              <a:t>Contributor 1: 100, weight 1</a:t>
            </a:r>
          </a:p>
          <a:p>
            <a:pPr marL="0" lvl="3" indent="0" defTabSz="762000">
              <a:lnSpc>
                <a:spcPct val="90000"/>
              </a:lnSpc>
              <a:buNone/>
            </a:pPr>
            <a:r>
              <a:rPr lang="en-GB" sz="1600" dirty="0"/>
              <a:t>	Contributor 2:   50, weight 4</a:t>
            </a:r>
          </a:p>
          <a:p>
            <a:pPr marL="0" lvl="3" indent="0" defTabSz="762000">
              <a:lnSpc>
                <a:spcPct val="90000"/>
              </a:lnSpc>
              <a:buNone/>
            </a:pPr>
            <a:r>
              <a:rPr lang="en-GB" sz="1600" dirty="0"/>
              <a:t>	Contributor 3:   20, weight 2</a:t>
            </a:r>
          </a:p>
          <a:p>
            <a:endParaRPr lang="en-GB" sz="2000" dirty="0"/>
          </a:p>
          <a:p>
            <a:endParaRPr lang="en-GB" sz="1100" dirty="0"/>
          </a:p>
          <a:p>
            <a:pPr marL="0" indent="0">
              <a:buNone/>
            </a:pPr>
            <a:r>
              <a:rPr lang="en-GB" sz="2000" dirty="0"/>
              <a:t>Non-integer weights: several possibilities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A7930B95-0EC0-1400-3107-9C1ED8093FDE}"/>
              </a:ext>
            </a:extLst>
          </p:cNvPr>
          <p:cNvSpPr txBox="1"/>
          <p:nvPr/>
        </p:nvSpPr>
        <p:spPr>
          <a:xfrm>
            <a:off x="5148064" y="1922024"/>
            <a:ext cx="2209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1: 100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2:   50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3:   50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4:   50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5:   50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6:   20</a:t>
            </a:r>
          </a:p>
          <a:p>
            <a:r>
              <a:rPr lang="nl-NL" sz="1600" dirty="0" err="1">
                <a:solidFill>
                  <a:srgbClr val="271D6C"/>
                </a:solidFill>
                <a:effectLst/>
              </a:rPr>
              <a:t>Contributor</a:t>
            </a:r>
            <a:r>
              <a:rPr lang="nl-NL" sz="1600" dirty="0">
                <a:solidFill>
                  <a:srgbClr val="271D6C"/>
                </a:solidFill>
                <a:effectLst/>
              </a:rPr>
              <a:t> 7:   20</a:t>
            </a:r>
            <a:endParaRPr lang="nl-NL" sz="1200" dirty="0">
              <a:solidFill>
                <a:srgbClr val="271D6C"/>
              </a:solidFill>
              <a:effectLst/>
            </a:endParaRPr>
          </a:p>
        </p:txBody>
      </p:sp>
      <p:sp>
        <p:nvSpPr>
          <p:cNvPr id="7" name="PIJL-RECHTS 5">
            <a:extLst>
              <a:ext uri="{FF2B5EF4-FFF2-40B4-BE49-F238E27FC236}">
                <a16:creationId xmlns:a16="http://schemas.microsoft.com/office/drawing/2014/main" id="{FFA2D51E-5537-9B54-2375-42E14376A4AE}"/>
              </a:ext>
            </a:extLst>
          </p:cNvPr>
          <p:cNvSpPr/>
          <p:nvPr/>
        </p:nvSpPr>
        <p:spPr bwMode="auto">
          <a:xfrm>
            <a:off x="4067944" y="2677565"/>
            <a:ext cx="685800" cy="304800"/>
          </a:xfrm>
          <a:prstGeom prst="rightArrow">
            <a:avLst/>
          </a:prstGeom>
          <a:solidFill>
            <a:srgbClr val="89E0FF"/>
          </a:solidFill>
          <a:ln w="12700" cap="flat" cmpd="sng" algn="ctr">
            <a:solidFill>
              <a:schemeClr val="tx1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600" b="0" i="0" u="none" strike="noStrike" cap="none" normalizeH="0" baseline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75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B34D-7CD4-9F2C-9342-29D1A0E47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27EC252-A38F-E067-C3EB-E80F91CAF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26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172AAE-C3B7-0E78-0B58-2228344CF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Tables sharing cells</a:t>
            </a:r>
          </a:p>
          <a:p>
            <a:r>
              <a:rPr lang="en-US" dirty="0"/>
              <a:t>Parts of higher dimensional table</a:t>
            </a:r>
          </a:p>
          <a:p>
            <a:r>
              <a:rPr lang="en-US" dirty="0"/>
              <a:t>Hierarchically linked spanning variables</a:t>
            </a:r>
          </a:p>
          <a:p>
            <a:r>
              <a:rPr lang="en-US" dirty="0"/>
              <a:t>Some shared spanning variable(s)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C653B0A-72F4-C7BC-52E3-EED8462B6D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</p:spTree>
    <p:extLst>
      <p:ext uri="{BB962C8B-B14F-4D97-AF65-F5344CB8AC3E}">
        <p14:creationId xmlns:p14="http://schemas.microsoft.com/office/powerpoint/2010/main" val="1957473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E116-49A1-08DB-8C43-879D6526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1034C48-0FF3-6418-3C40-EB37B54DA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27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D8BA5A5-1CA7-81C1-CF7B-138175FE17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2B34E6BE-FCED-23A3-E748-5E9B553D1A18}"/>
              </a:ext>
            </a:extLst>
          </p:cNvPr>
          <p:cNvSpPr txBox="1">
            <a:spLocks/>
          </p:cNvSpPr>
          <p:nvPr/>
        </p:nvSpPr>
        <p:spPr>
          <a:xfrm>
            <a:off x="1403648" y="1035844"/>
            <a:ext cx="5724636" cy="36724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─"/>
              <a:defRPr sz="2400" kern="1200" spc="4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-"/>
              <a:defRPr sz="2400" kern="1200" baseline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 defTabSz="449263">
              <a:buNone/>
            </a:pPr>
            <a:r>
              <a:rPr lang="en-US" sz="1600" dirty="0">
                <a:solidFill>
                  <a:schemeClr val="tx1"/>
                </a:solidFill>
              </a:rPr>
              <a:t>	Table 1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500" dirty="0">
              <a:solidFill>
                <a:schemeClr val="tx1"/>
              </a:solidFill>
            </a:endParaRPr>
          </a:p>
          <a:p>
            <a:pPr marL="0" indent="0" defTabSz="449263">
              <a:buNone/>
            </a:pPr>
            <a:r>
              <a:rPr lang="en-US" sz="1600" dirty="0">
                <a:solidFill>
                  <a:schemeClr val="tx1"/>
                </a:solidFill>
              </a:rPr>
              <a:t>	Table 2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600" dirty="0">
              <a:solidFill>
                <a:schemeClr val="tx1"/>
              </a:solidFill>
            </a:endParaRPr>
          </a:p>
          <a:p>
            <a:pPr marL="0" indent="0" defTabSz="449263">
              <a:buNone/>
            </a:pPr>
            <a:r>
              <a:rPr lang="en-US" sz="1600" dirty="0">
                <a:solidFill>
                  <a:schemeClr val="tx1"/>
                </a:solidFill>
              </a:rPr>
              <a:t>	Table 3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1FEB90BF-4BA4-DCAC-A252-3005143CF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17922"/>
              </p:ext>
            </p:extLst>
          </p:nvPr>
        </p:nvGraphicFramePr>
        <p:xfrm>
          <a:off x="2681790" y="1068236"/>
          <a:ext cx="4237673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606108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Amsterdam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Rotterdam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8B6DD9D4-2419-339B-2458-BEF40E1F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91936"/>
              </p:ext>
            </p:extLst>
          </p:nvPr>
        </p:nvGraphicFramePr>
        <p:xfrm>
          <a:off x="2681789" y="2319828"/>
          <a:ext cx="4237673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606108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Criminal record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DD04E71F-170C-97C3-C048-18F8E0AB8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0747"/>
              </p:ext>
            </p:extLst>
          </p:nvPr>
        </p:nvGraphicFramePr>
        <p:xfrm>
          <a:off x="2681789" y="3568327"/>
          <a:ext cx="4237673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606108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Criminal record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Amsterdam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Rotterdam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sp>
        <p:nvSpPr>
          <p:cNvPr id="10" name="Tekstvak 9">
            <a:extLst>
              <a:ext uri="{FF2B5EF4-FFF2-40B4-BE49-F238E27FC236}">
                <a16:creationId xmlns:a16="http://schemas.microsoft.com/office/drawing/2014/main" id="{0B8E866A-A859-C424-ADB6-8B61BD443344}"/>
              </a:ext>
            </a:extLst>
          </p:cNvPr>
          <p:cNvSpPr txBox="1"/>
          <p:nvPr/>
        </p:nvSpPr>
        <p:spPr>
          <a:xfrm>
            <a:off x="2627784" y="698904"/>
            <a:ext cx="244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70C0"/>
                </a:solidFill>
              </a:rPr>
              <a:t>Number of booksellers</a:t>
            </a:r>
            <a:endParaRPr lang="nl-NL" b="1" dirty="0">
              <a:solidFill>
                <a:srgbClr val="0070C0"/>
              </a:solidFill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BCAC3AC-BD44-393A-2EAF-6EA184A3BA00}"/>
              </a:ext>
            </a:extLst>
          </p:cNvPr>
          <p:cNvSpPr txBox="1"/>
          <p:nvPr/>
        </p:nvSpPr>
        <p:spPr>
          <a:xfrm>
            <a:off x="4788024" y="693364"/>
            <a:ext cx="354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: Gender </a:t>
            </a:r>
            <a:r>
              <a:rPr lang="en-GB" dirty="0">
                <a:sym typeface="Symbol" pitchFamily="18" charset="2"/>
              </a:rPr>
              <a:t> Region  Criminal record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307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8835-B6BD-52EC-E483-308CD46D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46FD6895-E1EA-B377-0D65-CAEC7D02C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28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D5A81EE-6289-6C95-A611-D46BCC5B4A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361" y="915566"/>
            <a:ext cx="6335935" cy="3455715"/>
          </a:xfrm>
        </p:spPr>
        <p:txBody>
          <a:bodyPr/>
          <a:lstStyle/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542925" algn="l"/>
                <a:tab pos="1343025" algn="l"/>
                <a:tab pos="1704975" algn="l"/>
                <a:tab pos="2333625" algn="l"/>
                <a:tab pos="2600325" algn="l"/>
              </a:tabLst>
              <a:defRPr/>
            </a:pP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Equations following from Table 1: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  <a:tab pos="2600325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MAmN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= 	21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  <a:tab pos="2600325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MRoY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MRoN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12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  <a:tab pos="2600325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FAmN</a:t>
            </a: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16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  <a:tab pos="2600325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FRoN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= 	19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542925" algn="l"/>
                <a:tab pos="1343025" algn="l"/>
                <a:tab pos="1704975" algn="l"/>
                <a:tab pos="2333625" algn="l"/>
                <a:tab pos="2600325" algn="l"/>
              </a:tabLst>
              <a:defRPr/>
            </a:pP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Equations following from Table 2: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MRoY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23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FAmY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= 	  8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MAmN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MRoN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10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FAmN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+ 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FRoN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27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542925" algn="l"/>
                <a:tab pos="1343025" algn="l"/>
                <a:tab pos="1704975" algn="l"/>
                <a:tab pos="2333625" algn="l"/>
                <a:tab pos="2600325" algn="l"/>
              </a:tabLst>
              <a:defRPr/>
            </a:pP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Equations following from Table 3: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MAmY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+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FAmY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11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MAmN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+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FAmN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26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MRoY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+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FRoY</a:t>
            </a: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20</a:t>
            </a:r>
          </a:p>
          <a:p>
            <a:pPr marL="0" marR="0" lvl="0" indent="0" algn="l" defTabSz="7048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80975" algn="l"/>
                <a:tab pos="715963" algn="l"/>
                <a:tab pos="896938" algn="l"/>
                <a:tab pos="1436688" algn="l"/>
                <a:tab pos="1612900" algn="l"/>
              </a:tabLst>
              <a:defRPr/>
            </a:pPr>
            <a:r>
              <a:rPr kumimoji="0" lang="en-GB" sz="1400" b="0" i="1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MRoN</a:t>
            </a:r>
            <a:r>
              <a:rPr kumimoji="0" lang="en-GB" sz="1400" b="0" i="1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+	</a:t>
            </a:r>
            <a:r>
              <a:rPr kumimoji="0" lang="en-GB" sz="1400" b="0" i="1" u="none" strike="noStrike" kern="1200" cap="none" spc="40" normalizeH="0" baseline="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x</a:t>
            </a:r>
            <a:r>
              <a:rPr kumimoji="0" lang="en-GB" sz="1400" b="0" i="1" u="none" strike="noStrike" kern="1200" cap="none" spc="40" normalizeH="0" baseline="-25000" noProof="0" dirty="0" err="1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FRoN</a:t>
            </a:r>
            <a:r>
              <a:rPr kumimoji="0" lang="en-GB" sz="1400" b="0" i="0" u="none" strike="noStrike" kern="1200" cap="none" spc="40" normalizeH="0" baseline="-2500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	</a:t>
            </a:r>
            <a:r>
              <a:rPr kumimoji="0" lang="en-GB" sz="1400" b="0" i="0" u="none" strike="noStrike" kern="1200" cap="none" spc="40" normalizeH="0" baseline="0" noProof="0" dirty="0">
                <a:ln>
                  <a:noFill/>
                </a:ln>
                <a:solidFill>
                  <a:srgbClr val="271D6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= 	11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4053DB-4815-1ECD-03E4-A892DCA251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485F1E2E-673B-27D0-ECAD-1402C62CD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43969"/>
              </p:ext>
            </p:extLst>
          </p:nvPr>
        </p:nvGraphicFramePr>
        <p:xfrm>
          <a:off x="3779910" y="1241588"/>
          <a:ext cx="3250883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498793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endParaRPr lang="en-US" sz="10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Amsterdam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Rotterdam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5F7C6D26-81B4-4736-D999-3904179CB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601686"/>
              </p:ext>
            </p:extLst>
          </p:nvPr>
        </p:nvGraphicFramePr>
        <p:xfrm>
          <a:off x="3779911" y="2499742"/>
          <a:ext cx="3250883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498793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Criminal record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C400AA93-C0FE-3F60-3B9B-7A3C624F8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943538"/>
              </p:ext>
            </p:extLst>
          </p:nvPr>
        </p:nvGraphicFramePr>
        <p:xfrm>
          <a:off x="3779912" y="3801190"/>
          <a:ext cx="3250883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498793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Criminal record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Amsterdam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Rotterdam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029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/>
        </p:nvGraphicFramePr>
        <p:xfrm>
          <a:off x="2555777" y="2214178"/>
          <a:ext cx="4237673" cy="2438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606108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Male, 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Male, Ro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Male, 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169777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51374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Ro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51356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78302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/>
              <a:pPr algn="ctr"/>
              <a:t>29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Solving these equations with assumptions</a:t>
            </a:r>
          </a:p>
          <a:p>
            <a:r>
              <a:rPr lang="en-GB" sz="2000" dirty="0"/>
              <a:t>	</a:t>
            </a:r>
            <a:r>
              <a:rPr lang="en-GB" sz="2000" i="1" dirty="0" err="1"/>
              <a:t>x</a:t>
            </a:r>
            <a:r>
              <a:rPr lang="en-GB" sz="2000" i="1" baseline="-25000" dirty="0" err="1"/>
              <a:t>GRC</a:t>
            </a:r>
            <a:r>
              <a:rPr lang="en-GB" sz="2000" dirty="0"/>
              <a:t>    </a:t>
            </a:r>
            <a:r>
              <a:rPr lang="en-GB" sz="2000" dirty="0">
                <a:sym typeface="Symbol" pitchFamily="18" charset="2"/>
              </a:rPr>
              <a:t> 0</a:t>
            </a:r>
          </a:p>
          <a:p>
            <a:r>
              <a:rPr lang="en-GB" sz="2000" dirty="0">
                <a:sym typeface="Symbol" pitchFamily="18" charset="2"/>
              </a:rPr>
              <a:t>	</a:t>
            </a:r>
            <a:r>
              <a:rPr lang="en-GB" sz="2000" i="1" dirty="0" err="1"/>
              <a:t>x</a:t>
            </a:r>
            <a:r>
              <a:rPr lang="en-GB" sz="2000" i="1" baseline="-25000" dirty="0" err="1"/>
              <a:t>GRC</a:t>
            </a:r>
            <a:r>
              <a:rPr lang="en-GB" sz="2000" i="1" baseline="-25000" dirty="0"/>
              <a:t>      </a:t>
            </a:r>
            <a:r>
              <a:rPr lang="en-GB" sz="2000" dirty="0"/>
              <a:t>integer</a:t>
            </a:r>
          </a:p>
          <a:p>
            <a:r>
              <a:rPr lang="en-GB" sz="2000" dirty="0"/>
              <a:t>we get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555777" y="2214178"/>
          <a:ext cx="4237673" cy="2438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482184649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1629819558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469808303"/>
                    </a:ext>
                  </a:extLst>
                </a:gridCol>
                <a:gridCol w="606108">
                  <a:extLst>
                    <a:ext uri="{9D8B030D-6E8A-4147-A177-3AD203B41FA5}">
                      <a16:colId xmlns:a16="http://schemas.microsoft.com/office/drawing/2014/main" val="3734629196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7237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Male, 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Male, Ro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7343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Male, 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169777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51374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Ro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51356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Female, 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78302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4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87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A5C4-4239-8C58-475B-E47D89C8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0769D70-6B2F-A3C9-9015-B85FCCB9C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30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021408-304B-49DC-1E73-EDCF90EFF6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B2BD558-6E01-0D5E-ED40-58803F5310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635785C-7FFD-1983-4374-35B4A1C05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90844"/>
              </p:ext>
            </p:extLst>
          </p:nvPr>
        </p:nvGraphicFramePr>
        <p:xfrm>
          <a:off x="1857902" y="970484"/>
          <a:ext cx="2929573" cy="38404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22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Groningen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Friesland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Drenthe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Overijssel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Gelderland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Flevoland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Utrecht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Zuid-Holland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Zeeland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Noord-Brabant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Limburg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6" name="Picture 32" descr="provincies">
            <a:extLst>
              <a:ext uri="{FF2B5EF4-FFF2-40B4-BE49-F238E27FC236}">
                <a16:creationId xmlns:a16="http://schemas.microsoft.com/office/drawing/2014/main" id="{3669B901-1372-DE8F-FB5E-E8104AA76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11710"/>
            <a:ext cx="3029273" cy="3029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C5EB1115-660A-D20A-54D7-385AB6B93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49082"/>
              </p:ext>
            </p:extLst>
          </p:nvPr>
        </p:nvGraphicFramePr>
        <p:xfrm>
          <a:off x="5239455" y="728422"/>
          <a:ext cx="2451736" cy="174244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43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North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East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South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13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3DE8-9844-52FE-B139-C6626C47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0C51F75-01C9-363A-6D45-A992261C8A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31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A9318E1-9B82-1724-0AD5-26A6542595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6B5B957-25E2-7104-6E6E-0BD6FACBA1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18EB8D58-15C2-2D8A-F8F6-C91B1B317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33043"/>
              </p:ext>
            </p:extLst>
          </p:nvPr>
        </p:nvGraphicFramePr>
        <p:xfrm>
          <a:off x="1857600" y="972000"/>
          <a:ext cx="2929573" cy="38404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22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Groningen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Friesland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Drenthe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Overijssel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Gelderland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Flevoland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Utrecht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Zuid-Holland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Zeeland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Noord-Brabant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Limburg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1AA08C63-EC06-A122-EA2C-6B9B92DA2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71765"/>
              </p:ext>
            </p:extLst>
          </p:nvPr>
        </p:nvGraphicFramePr>
        <p:xfrm>
          <a:off x="5238000" y="727200"/>
          <a:ext cx="2451736" cy="174244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43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North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63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East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South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Afbeelding 1">
            <a:extLst>
              <a:ext uri="{FF2B5EF4-FFF2-40B4-BE49-F238E27FC236}">
                <a16:creationId xmlns:a16="http://schemas.microsoft.com/office/drawing/2014/main" id="{69337B1F-1B41-2BDF-4C31-B619D4D6B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00" y="2221200"/>
            <a:ext cx="3031200" cy="303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1384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9124-F03E-16AF-1943-E9BD08C5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4A4C6C4E-C125-DAB7-8906-157174F15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32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8C8B40E-A47A-EAF1-3B14-EC305CA3A8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106DB3B-D62E-7448-12F5-CB812EBF92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6A96FC1-5FE5-3E96-505C-A0A600B0D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23891"/>
              </p:ext>
            </p:extLst>
          </p:nvPr>
        </p:nvGraphicFramePr>
        <p:xfrm>
          <a:off x="1857600" y="972000"/>
          <a:ext cx="2929573" cy="38404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22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Groningen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Friesland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19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Drenthe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Overijssel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Gelderland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41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Flevoland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Utrecht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Zuid-Holland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Zeeland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Noord-Brabant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Limburg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566D8E2-A671-0AD0-672E-2DC95735E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719885"/>
              </p:ext>
            </p:extLst>
          </p:nvPr>
        </p:nvGraphicFramePr>
        <p:xfrm>
          <a:off x="5238000" y="727200"/>
          <a:ext cx="2451736" cy="174244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43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North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63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East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South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9" descr="provinciesE">
            <a:extLst>
              <a:ext uri="{FF2B5EF4-FFF2-40B4-BE49-F238E27FC236}">
                <a16:creationId xmlns:a16="http://schemas.microsoft.com/office/drawing/2014/main" id="{C36E6B86-EF08-C8CF-6DE1-2060CED7F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00" y="2221200"/>
            <a:ext cx="3031200" cy="303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6682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E322-D0D6-952E-CEE1-0787BF72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606CCC9-B7F7-B537-B2CA-A2CB34633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33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A084C93-7D8D-594D-844A-7519A9D9BC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FE447B-0EDC-BF98-DF1D-8CD964EEAE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0A79028F-7EF4-47B8-E0DA-49201EC32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14514"/>
              </p:ext>
            </p:extLst>
          </p:nvPr>
        </p:nvGraphicFramePr>
        <p:xfrm>
          <a:off x="1857600" y="972000"/>
          <a:ext cx="2929573" cy="38404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22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Groningen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Friesland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19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Drenthe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Overijssel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Gelderland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41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Flevoland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Utrecht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nl-NL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Zuid-Holland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Zeeland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Noord-Brabant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Limburg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1FE00CB-CC4F-12DC-B727-5EF728FEF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680950"/>
              </p:ext>
            </p:extLst>
          </p:nvPr>
        </p:nvGraphicFramePr>
        <p:xfrm>
          <a:off x="5238000" y="727200"/>
          <a:ext cx="2451736" cy="174244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43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Something</a:t>
                      </a:r>
                      <a:r>
                        <a:rPr lang="nl-NL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1200" b="1" dirty="0" err="1">
                          <a:solidFill>
                            <a:schemeClr val="tx1"/>
                          </a:solidFill>
                        </a:rPr>
                        <a:t>sensitive</a:t>
                      </a:r>
                      <a:endParaRPr lang="nl-NL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North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FF0000"/>
                          </a:solidFill>
                        </a:rPr>
                        <a:t>63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East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rgbClr val="7030A0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South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200" dirty="0">
                          <a:solidFill>
                            <a:schemeClr val="tx1"/>
                          </a:solidFill>
                        </a:rPr>
                        <a:t>417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9" descr="provinciesE">
            <a:extLst>
              <a:ext uri="{FF2B5EF4-FFF2-40B4-BE49-F238E27FC236}">
                <a16:creationId xmlns:a16="http://schemas.microsoft.com/office/drawing/2014/main" id="{3A4938E4-9AAB-BC09-8206-80BE6D9EC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00" y="2221200"/>
            <a:ext cx="3031200" cy="303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8025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E910-0A62-C6A0-C81A-5ACE1E43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B24BBBB-8FCD-E826-7B33-DD9295478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34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4ECBC-67D4-3913-480B-FBD9A1040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defTabSz="762000">
              <a:lnSpc>
                <a:spcPct val="90000"/>
              </a:lnSpc>
              <a:buNone/>
            </a:pPr>
            <a:r>
              <a:rPr lang="en-GB" dirty="0"/>
              <a:t>In practice often many classifications of same variable</a:t>
            </a:r>
          </a:p>
          <a:p>
            <a:pPr defTabSz="762000">
              <a:lnSpc>
                <a:spcPct val="90000"/>
              </a:lnSpc>
            </a:pPr>
            <a:endParaRPr lang="en-GB" dirty="0"/>
          </a:p>
          <a:p>
            <a:pPr marL="0" indent="0" defTabSz="762000">
              <a:lnSpc>
                <a:spcPct val="90000"/>
              </a:lnSpc>
              <a:buNone/>
            </a:pPr>
            <a:r>
              <a:rPr lang="en-GB" dirty="0"/>
              <a:t>Even: non-nested classifications!</a:t>
            </a:r>
          </a:p>
          <a:p>
            <a:pPr defTabSz="762000">
              <a:lnSpc>
                <a:spcPct val="90000"/>
              </a:lnSpc>
            </a:pPr>
            <a:endParaRPr lang="en-GB" dirty="0"/>
          </a:p>
          <a:p>
            <a:pPr defTabSz="762000">
              <a:lnSpc>
                <a:spcPct val="90000"/>
              </a:lnSpc>
            </a:pPr>
            <a:endParaRPr lang="en-GB" dirty="0"/>
          </a:p>
          <a:p>
            <a:pPr defTabSz="762000">
              <a:lnSpc>
                <a:spcPct val="90000"/>
              </a:lnSpc>
            </a:pPr>
            <a:endParaRPr lang="en-GB" dirty="0"/>
          </a:p>
          <a:p>
            <a:pPr defTabSz="762000">
              <a:lnSpc>
                <a:spcPct val="90000"/>
              </a:lnSpc>
            </a:pPr>
            <a:endParaRPr lang="en-GB" dirty="0"/>
          </a:p>
          <a:p>
            <a:pPr marL="0" indent="0" defTabSz="762000">
              <a:lnSpc>
                <a:spcPct val="90000"/>
              </a:lnSpc>
              <a:buNone/>
            </a:pPr>
            <a:r>
              <a:rPr lang="en-GB" dirty="0"/>
              <a:t>Beware of differencing!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D677EE-7540-9BE1-B257-9E5D25474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19F9E9E-9263-0D6C-8B7E-85727C1DF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151734"/>
            <a:ext cx="3191392" cy="2532911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5FF17216-5D39-9D42-7B90-5C9A97DD137C}"/>
              </a:ext>
            </a:extLst>
          </p:cNvPr>
          <p:cNvSpPr txBox="1"/>
          <p:nvPr/>
        </p:nvSpPr>
        <p:spPr>
          <a:xfrm>
            <a:off x="5772740" y="2151733"/>
            <a:ext cx="2541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0" dirty="0" err="1">
                <a:solidFill>
                  <a:srgbClr val="0F5494"/>
                </a:solidFill>
                <a:effectLst/>
              </a:rPr>
              <a:t>Coloured</a:t>
            </a:r>
            <a:r>
              <a:rPr lang="nl-NL" sz="1200" b="0" dirty="0">
                <a:solidFill>
                  <a:srgbClr val="0F5494"/>
                </a:solidFill>
                <a:effectLst/>
              </a:rPr>
              <a:t> </a:t>
            </a:r>
            <a:r>
              <a:rPr lang="nl-NL" sz="1200" b="0" dirty="0" err="1">
                <a:solidFill>
                  <a:srgbClr val="0F5494"/>
                </a:solidFill>
                <a:effectLst/>
              </a:rPr>
              <a:t>areas</a:t>
            </a:r>
            <a:r>
              <a:rPr lang="nl-NL" sz="1200" b="0" dirty="0">
                <a:solidFill>
                  <a:srgbClr val="0F5494"/>
                </a:solidFill>
                <a:effectLst/>
              </a:rPr>
              <a:t>: Care facility </a:t>
            </a:r>
            <a:r>
              <a:rPr lang="nl-NL" sz="1200" b="0" dirty="0" err="1">
                <a:solidFill>
                  <a:srgbClr val="0F5494"/>
                </a:solidFill>
                <a:effectLst/>
              </a:rPr>
              <a:t>areas</a:t>
            </a:r>
            <a:endParaRPr lang="nl-NL" sz="1200" b="0" dirty="0">
              <a:solidFill>
                <a:srgbClr val="0F5494"/>
              </a:solidFill>
              <a:effectLst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A730508-26CD-1174-C1BC-0AC7243FA469}"/>
              </a:ext>
            </a:extLst>
          </p:cNvPr>
          <p:cNvSpPr txBox="1"/>
          <p:nvPr/>
        </p:nvSpPr>
        <p:spPr>
          <a:xfrm>
            <a:off x="6804248" y="4093599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0" dirty="0">
                <a:solidFill>
                  <a:srgbClr val="0F5494"/>
                </a:solidFill>
                <a:effectLst/>
              </a:rPr>
              <a:t>Eemnes (</a:t>
            </a:r>
            <a:r>
              <a:rPr lang="nl-NL" sz="1200" b="0" dirty="0" err="1">
                <a:solidFill>
                  <a:srgbClr val="0F5494"/>
                </a:solidFill>
                <a:effectLst/>
              </a:rPr>
              <a:t>municipality</a:t>
            </a:r>
            <a:r>
              <a:rPr lang="nl-NL" sz="1200" b="0" dirty="0">
                <a:solidFill>
                  <a:srgbClr val="0F5494"/>
                </a:solidFill>
                <a:effectLst/>
              </a:rPr>
              <a:t>)</a:t>
            </a: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7C170834-85EF-D6E8-8867-2C8E9FDE784A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6228184" y="4093599"/>
            <a:ext cx="576064" cy="138500"/>
          </a:xfrm>
          <a:prstGeom prst="straightConnector1">
            <a:avLst/>
          </a:prstGeom>
          <a:noFill/>
          <a:ln w="25400" cap="flat" cmpd="sng" algn="ctr">
            <a:solidFill>
              <a:srgbClr val="0F5494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46341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33F4-98A7-9535-E9F7-733FAF89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EFF60D0-8CEB-355B-1FE2-11260B60A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35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9A1901-5F1E-9C04-1155-3406F8D376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Grid squares and administrative areas in Census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354430F-6780-42C3-6FB5-EF2A57971F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Linked tables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15A6E07-949D-C015-30E2-A48BB93358C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13" y="1716896"/>
            <a:ext cx="4796963" cy="29196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2CD9ECE-0C5E-FEF5-F66A-84642DD6CC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716896"/>
            <a:ext cx="4796963" cy="29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1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7901692-1C90-F575-9DF7-90F7CBD7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36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53FB97-6AB3-712E-B738-BA32DEE2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methods</a:t>
            </a:r>
          </a:p>
        </p:txBody>
      </p:sp>
    </p:spTree>
    <p:extLst>
      <p:ext uri="{BB962C8B-B14F-4D97-AF65-F5344CB8AC3E}">
        <p14:creationId xmlns:p14="http://schemas.microsoft.com/office/powerpoint/2010/main" val="3608860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3D2E-28FC-CD0E-8C29-7BE9B670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8B95211-6148-740E-D7D7-0E7CB9AAB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37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78C627D-A086-BCD9-D271-4184F3B884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Redesign: combine rows and/or columns to increase the number of units that fall into cells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84CC8DE-117B-696C-66F0-1E8DB3BEE2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DCB3432-451E-2CA5-A33E-B98661025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0966"/>
              </p:ext>
            </p:extLst>
          </p:nvPr>
        </p:nvGraphicFramePr>
        <p:xfrm>
          <a:off x="1461927" y="2197964"/>
          <a:ext cx="6220146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815471859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18602806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01356257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89322444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403774255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380221638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792667066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473999076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20153799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253087828"/>
                    </a:ext>
                  </a:extLst>
                </a:gridCol>
                <a:gridCol w="562293">
                  <a:extLst>
                    <a:ext uri="{9D8B030D-6E8A-4147-A177-3AD203B41FA5}">
                      <a16:colId xmlns:a16="http://schemas.microsoft.com/office/drawing/2014/main" val="3637012444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Number of companies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0099C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4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400" b="0" kern="1200" dirty="0">
                        <a:solidFill>
                          <a:srgbClr val="271D6C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7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Harps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151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274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26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Organs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54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4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Pianos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22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302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934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362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651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287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742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227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3127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1178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63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1021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474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1262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397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770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401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890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259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400" b="0" kern="1200" dirty="0">
                          <a:solidFill>
                            <a:srgbClr val="271D6C"/>
                          </a:solidFill>
                          <a:latin typeface="Arial"/>
                          <a:ea typeface="+mn-ea"/>
                          <a:cs typeface="+mn-cs"/>
                        </a:rPr>
                        <a:t>3943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0" kern="1200" dirty="0">
                          <a:solidFill>
                            <a:srgbClr val="0099CC"/>
                          </a:solidFill>
                          <a:latin typeface="Arial"/>
                          <a:ea typeface="+mn-ea"/>
                          <a:cs typeface="+mn-cs"/>
                        </a:rPr>
                        <a:t>1531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48354"/>
                  </a:ext>
                </a:extLst>
              </a:tr>
            </a:tbl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ED6AABA2-B9BF-BBF5-085B-8D0A3A6EF182}"/>
              </a:ext>
            </a:extLst>
          </p:cNvPr>
          <p:cNvSpPr/>
          <p:nvPr/>
        </p:nvSpPr>
        <p:spPr>
          <a:xfrm>
            <a:off x="2497497" y="3641716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85F99763-456B-0A46-E404-22CB76734506}"/>
              </a:ext>
            </a:extLst>
          </p:cNvPr>
          <p:cNvSpPr/>
          <p:nvPr/>
        </p:nvSpPr>
        <p:spPr>
          <a:xfrm>
            <a:off x="3577617" y="2921636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0A57A331-33AE-C6D0-1F60-909C55BD59B2}"/>
              </a:ext>
            </a:extLst>
          </p:cNvPr>
          <p:cNvSpPr/>
          <p:nvPr/>
        </p:nvSpPr>
        <p:spPr>
          <a:xfrm>
            <a:off x="5593841" y="3641716"/>
            <a:ext cx="93610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63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D47F-BE75-FFC0-C2A5-CA2CF1AA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BD501C9-2519-A432-9486-7DD97CEDF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38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9CE5C80-52DB-7CEA-C7E9-87DEF3FD78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Redesign: combine rows and/or columns to increase the number of units that fall into cells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C994243-C112-71F1-1BCB-A19CFD0A2C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828D9AB2-2285-3F24-C342-15C33AA8A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85467"/>
              </p:ext>
            </p:extLst>
          </p:nvPr>
        </p:nvGraphicFramePr>
        <p:xfrm>
          <a:off x="1475656" y="2199600"/>
          <a:ext cx="5926773" cy="188976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64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860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600" b="0" dirty="0">
                          <a:solidFill>
                            <a:srgbClr val="271D6C"/>
                          </a:solidFill>
                        </a:rPr>
                        <a:t> </a:t>
                      </a:r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Region</a:t>
                      </a:r>
                      <a:endParaRPr lang="nl-NL" sz="1600" b="0" dirty="0">
                        <a:solidFill>
                          <a:srgbClr val="271D6C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nl-NL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 err="1">
                          <a:solidFill>
                            <a:srgbClr val="0099CC"/>
                          </a:solidFill>
                        </a:rPr>
                        <a:t>Number</a:t>
                      </a:r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 of companies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00B050"/>
                          </a:solidFill>
                        </a:rPr>
                        <a:t>B + 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nl-NL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151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100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23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274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00B050"/>
                          </a:solidFill>
                        </a:rPr>
                        <a:t>Organs</a:t>
                      </a:r>
                      <a:r>
                        <a:rPr lang="nl-NL" sz="1400" b="0" dirty="0">
                          <a:solidFill>
                            <a:srgbClr val="00B050"/>
                          </a:solidFill>
                        </a:rPr>
                        <a:t> + </a:t>
                      </a:r>
                      <a:r>
                        <a:rPr lang="nl-NL" sz="1400" b="0" dirty="0" err="1">
                          <a:solidFill>
                            <a:srgbClr val="00B050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163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21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364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49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79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302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1585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649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742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227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1178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474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798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259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200" b="0" dirty="0">
                          <a:solidFill>
                            <a:srgbClr val="0099CC"/>
                          </a:solidFill>
                        </a:rPr>
                        <a:t>1531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B662A1D0-FF60-C8EC-3F99-47FBE821F4D8}"/>
              </a:ext>
            </a:extLst>
          </p:cNvPr>
          <p:cNvSpPr/>
          <p:nvPr/>
        </p:nvSpPr>
        <p:spPr>
          <a:xfrm>
            <a:off x="3320860" y="3147814"/>
            <a:ext cx="936104" cy="3600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A171E297-1A44-A764-02E1-01F1AF3DE31D}"/>
              </a:ext>
            </a:extLst>
          </p:cNvPr>
          <p:cNvSpPr/>
          <p:nvPr/>
        </p:nvSpPr>
        <p:spPr>
          <a:xfrm>
            <a:off x="4427984" y="2841248"/>
            <a:ext cx="936104" cy="3600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09E5122-9F3E-B2ED-1D75-24FC137B182A}"/>
              </a:ext>
            </a:extLst>
          </p:cNvPr>
          <p:cNvSpPr/>
          <p:nvPr/>
        </p:nvSpPr>
        <p:spPr>
          <a:xfrm>
            <a:off x="5436096" y="3146416"/>
            <a:ext cx="936104" cy="3600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189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36C4-C574-D880-094D-A1D6A656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E08AFB8-BFBA-F8D1-B438-641A17B96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39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4EA4043-3E3D-2C3D-DC11-392954C5E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 b="1" i="1" dirty="0">
                <a:solidFill>
                  <a:srgbClr val="00B0F0"/>
                </a:solidFill>
              </a:rPr>
              <a:t>Primary suppressions</a:t>
            </a:r>
            <a:endParaRPr lang="en-GB" i="1" dirty="0"/>
          </a:p>
          <a:p>
            <a:pPr marL="0" indent="0">
              <a:buFontTx/>
              <a:buNone/>
            </a:pPr>
            <a:r>
              <a:rPr lang="en-GB" dirty="0"/>
              <a:t>suppress cells that are </a:t>
            </a:r>
            <a:r>
              <a:rPr lang="en-GB" b="1" dirty="0">
                <a:solidFill>
                  <a:srgbClr val="FF0000"/>
                </a:solidFill>
              </a:rPr>
              <a:t>sensitive</a:t>
            </a:r>
            <a:r>
              <a:rPr lang="en-GB" dirty="0"/>
              <a:t> according to used measure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A12A4D8-C7F3-9CE7-56CC-2F6274C37B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0CFF4F53-6022-DA94-042F-60FAB2754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145003"/>
              </p:ext>
            </p:extLst>
          </p:nvPr>
        </p:nvGraphicFramePr>
        <p:xfrm>
          <a:off x="2555776" y="2208118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742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1639E5BB-CE68-7B41-A1EC-A7DB04B87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594718"/>
              </p:ext>
            </p:extLst>
          </p:nvPr>
        </p:nvGraphicFramePr>
        <p:xfrm>
          <a:off x="2555776" y="2208118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47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742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44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FE5C-2EF0-AEFE-AD91-371B726D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35DD77A-1A0C-AFE1-E568-D1B0A38C0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40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09B251-90CC-977D-C453-C13A1F9F36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GB" b="1" i="1" dirty="0">
                <a:solidFill>
                  <a:srgbClr val="00B0F0"/>
                </a:solidFill>
              </a:rPr>
              <a:t>Secondary suppressions</a:t>
            </a:r>
          </a:p>
          <a:p>
            <a:pPr>
              <a:buNone/>
            </a:pPr>
            <a:r>
              <a:rPr lang="en-GB" dirty="0"/>
              <a:t>suppress additional (</a:t>
            </a:r>
            <a:r>
              <a:rPr lang="en-GB" b="1" dirty="0">
                <a:solidFill>
                  <a:srgbClr val="0070C0"/>
                </a:solidFill>
              </a:rPr>
              <a:t>safe</a:t>
            </a:r>
            <a:r>
              <a:rPr lang="en-GB" dirty="0"/>
              <a:t>) cells to prevent recalculation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B8863CA-A012-825D-C12C-080A3A021E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7AD7F87D-A776-9753-874D-C350F7A9A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526666"/>
              </p:ext>
            </p:extLst>
          </p:nvPr>
        </p:nvGraphicFramePr>
        <p:xfrm>
          <a:off x="2556000" y="2208118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16D99F25-CBEF-4E4A-B143-EA76ED276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684098"/>
              </p:ext>
            </p:extLst>
          </p:nvPr>
        </p:nvGraphicFramePr>
        <p:xfrm>
          <a:off x="2556000" y="2206800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742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9F2BBB8D-5979-D393-6A41-45BF0D642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364783"/>
              </p:ext>
            </p:extLst>
          </p:nvPr>
        </p:nvGraphicFramePr>
        <p:xfrm>
          <a:off x="2556000" y="2208118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4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09DB-C841-5140-F608-2BA8731F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FB60292-F4DB-E6DB-1894-3675CACF3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41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1F1CA63-16BD-6828-B7D8-A289B27EE3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BEWARE: Two (or more) suppressions per row/column not necessarily enough!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251354-EA4A-1972-7563-0BA5A4F54E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96AEA591-B242-5EAD-26ED-3C786FD67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16039"/>
              </p:ext>
            </p:extLst>
          </p:nvPr>
        </p:nvGraphicFramePr>
        <p:xfrm>
          <a:off x="2556000" y="2206800"/>
          <a:ext cx="3745233" cy="259588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400" b="0" dirty="0">
                        <a:solidFill>
                          <a:srgbClr val="0099CC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Harps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Organs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Pianos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651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1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3127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1021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1262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890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nl-NL" sz="1400" b="0" dirty="0">
                          <a:solidFill>
                            <a:schemeClr val="tx1"/>
                          </a:solidFill>
                        </a:rPr>
                        <a:t>3943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33036087-C7D6-CCB8-616C-419175C33961}"/>
              </a:ext>
            </a:extLst>
          </p:cNvPr>
          <p:cNvSpPr/>
          <p:nvPr/>
        </p:nvSpPr>
        <p:spPr bwMode="auto">
          <a:xfrm>
            <a:off x="4334307" y="2946128"/>
            <a:ext cx="275990" cy="291549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nl-NL" sz="360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51340FE-DD5D-9E37-37F1-8BC95CC5B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119" y="1725760"/>
            <a:ext cx="2819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nl-NL" sz="1400" dirty="0" err="1">
                <a:solidFill>
                  <a:srgbClr val="FF0000"/>
                </a:solidFill>
              </a:rPr>
              <a:t>Can</a:t>
            </a:r>
            <a:r>
              <a:rPr lang="nl-NL" sz="1400" dirty="0">
                <a:solidFill>
                  <a:srgbClr val="FF0000"/>
                </a:solidFill>
              </a:rPr>
              <a:t> </a:t>
            </a:r>
            <a:r>
              <a:rPr lang="nl-NL" sz="1400" dirty="0" err="1">
                <a:solidFill>
                  <a:srgbClr val="FF0000"/>
                </a:solidFill>
              </a:rPr>
              <a:t>still</a:t>
            </a:r>
            <a:r>
              <a:rPr lang="nl-NL" sz="1400" dirty="0">
                <a:solidFill>
                  <a:srgbClr val="FF0000"/>
                </a:solidFill>
              </a:rPr>
              <a:t> </a:t>
            </a:r>
            <a:r>
              <a:rPr lang="nl-NL" sz="1400" dirty="0" err="1">
                <a:solidFill>
                  <a:srgbClr val="FF0000"/>
                </a:solidFill>
              </a:rPr>
              <a:t>be</a:t>
            </a:r>
            <a:r>
              <a:rPr lang="nl-NL" sz="1400" dirty="0">
                <a:solidFill>
                  <a:srgbClr val="FF0000"/>
                </a:solidFill>
              </a:rPr>
              <a:t> </a:t>
            </a:r>
            <a:r>
              <a:rPr lang="nl-NL" sz="1400" dirty="0" err="1">
                <a:solidFill>
                  <a:srgbClr val="FF0000"/>
                </a:solidFill>
              </a:rPr>
              <a:t>recalculated</a:t>
            </a:r>
            <a:endParaRPr lang="nl-NL" sz="1400" dirty="0">
              <a:solidFill>
                <a:srgbClr val="FF0000"/>
              </a:solidFill>
            </a:endParaRP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72E6F820-38B1-E4E5-0977-D7683031A7BA}"/>
              </a:ext>
            </a:extLst>
          </p:cNvPr>
          <p:cNvCxnSpPr>
            <a:cxnSpLocks noChangeShapeType="1"/>
            <a:stCxn id="7" idx="2"/>
            <a:endCxn id="6" idx="7"/>
          </p:cNvCxnSpPr>
          <p:nvPr/>
        </p:nvCxnSpPr>
        <p:spPr bwMode="auto">
          <a:xfrm flipH="1">
            <a:off x="4569879" y="2033537"/>
            <a:ext cx="1859940" cy="955287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0821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9CCE-90F9-DAAA-69AE-3C247070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F5FADE1-2859-1A79-BAD4-CA28F518F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42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5CDB08E-8408-AE27-29BD-A5CDFC07F6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Always:</a:t>
            </a:r>
          </a:p>
          <a:p>
            <a:pPr marL="0" indent="0">
              <a:buNone/>
            </a:pPr>
            <a:r>
              <a:rPr lang="en-US" dirty="0"/>
              <a:t>	using a-priori information (e.g., </a:t>
            </a:r>
            <a:r>
              <a:rPr lang="en-US" i="1" dirty="0"/>
              <a:t>T</a:t>
            </a:r>
            <a:r>
              <a:rPr lang="en-US" i="1" baseline="-25000" dirty="0"/>
              <a:t>C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 0) 	possible to obtain interval for each </a:t>
            </a:r>
            <a:r>
              <a:rPr lang="en-US" i="1" dirty="0">
                <a:sym typeface="Symbol" pitchFamily="18" charset="2"/>
              </a:rPr>
              <a:t>T</a:t>
            </a:r>
            <a:r>
              <a:rPr lang="en-US" i="1" baseline="-25000" dirty="0">
                <a:sym typeface="Symbol" pitchFamily="18" charset="2"/>
              </a:rPr>
              <a:t>C</a:t>
            </a:r>
            <a:endParaRPr lang="en-US" dirty="0">
              <a:sym typeface="Symbol" pitchFamily="18" charset="2"/>
            </a:endParaRPr>
          </a:p>
          <a:p>
            <a:pPr marL="0" indent="0">
              <a:buNone/>
            </a:pPr>
            <a:endParaRPr lang="en-US" sz="1200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  <a:sym typeface="Symbol" pitchFamily="18" charset="2"/>
              </a:rPr>
              <a:t>Feasibility interval</a:t>
            </a:r>
            <a:endParaRPr lang="en-US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itchFamily="18" charset="2"/>
              </a:rPr>
              <a:t>	[</a:t>
            </a:r>
            <a:r>
              <a:rPr lang="en-US" i="1" dirty="0">
                <a:sym typeface="Symbol" pitchFamily="18" charset="2"/>
              </a:rPr>
              <a:t>T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latin typeface="Symbol" pitchFamily="18" charset="2"/>
                <a:sym typeface="Symbol" pitchFamily="18" charset="2"/>
              </a:rPr>
              <a:t>-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L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i="1" dirty="0">
                <a:sym typeface="Symbol" pitchFamily="18" charset="2"/>
              </a:rPr>
              <a:t>T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+ </a:t>
            </a:r>
            <a:r>
              <a:rPr lang="en-US" i="1" dirty="0">
                <a:sym typeface="Symbol" pitchFamily="18" charset="2"/>
              </a:rPr>
              <a:t>U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] with </a:t>
            </a:r>
            <a:r>
              <a:rPr lang="en-US" i="1" dirty="0">
                <a:sym typeface="Symbol" pitchFamily="18" charset="2"/>
              </a:rPr>
              <a:t>L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i="1" dirty="0">
                <a:sym typeface="Symbol" pitchFamily="18" charset="2"/>
              </a:rPr>
              <a:t>U</a:t>
            </a:r>
            <a:r>
              <a:rPr lang="en-US" i="1" baseline="-25000" dirty="0">
                <a:sym typeface="Symbol" pitchFamily="18" charset="2"/>
              </a:rPr>
              <a:t>C  </a:t>
            </a:r>
            <a:r>
              <a:rPr lang="en-US" dirty="0">
                <a:sym typeface="Symbol" pitchFamily="18" charset="2"/>
              </a:rPr>
              <a:t> 0</a:t>
            </a:r>
            <a:endParaRPr lang="en-US" i="1" dirty="0">
              <a:sym typeface="Symbol" pitchFamily="18" charset="2"/>
            </a:endParaRPr>
          </a:p>
          <a:p>
            <a:pPr marL="0" indent="0">
              <a:buNone/>
            </a:pPr>
            <a:endParaRPr lang="en-US" sz="1200" i="1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itchFamily="18" charset="2"/>
              </a:rPr>
              <a:t>Sometimes </a:t>
            </a:r>
            <a:r>
              <a:rPr lang="en-US" i="1" dirty="0">
                <a:sym typeface="Symbol" pitchFamily="18" charset="2"/>
              </a:rPr>
              <a:t>L</a:t>
            </a:r>
            <a:r>
              <a:rPr lang="en-US" i="1" baseline="-25000" dirty="0">
                <a:sym typeface="Symbol" pitchFamily="18" charset="2"/>
              </a:rPr>
              <a:t>C </a:t>
            </a:r>
            <a:r>
              <a:rPr lang="en-US" dirty="0">
                <a:sym typeface="Symbol" pitchFamily="18" charset="2"/>
              </a:rPr>
              <a:t>= </a:t>
            </a:r>
            <a:r>
              <a:rPr lang="en-US" i="1" dirty="0">
                <a:sym typeface="Symbol" pitchFamily="18" charset="2"/>
              </a:rPr>
              <a:t>U</a:t>
            </a:r>
            <a:r>
              <a:rPr lang="en-US" i="1" baseline="-25000" dirty="0">
                <a:sym typeface="Symbol" pitchFamily="18" charset="2"/>
              </a:rPr>
              <a:t>C </a:t>
            </a:r>
            <a:r>
              <a:rPr lang="en-US" i="1" dirty="0">
                <a:sym typeface="Symbol" pitchFamily="18" charset="2"/>
              </a:rPr>
              <a:t>= 0</a:t>
            </a:r>
            <a:r>
              <a:rPr lang="en-US" i="1" baseline="-25000" dirty="0">
                <a:sym typeface="Symbol" pitchFamily="18" charset="2"/>
              </a:rPr>
              <a:t> 	</a:t>
            </a:r>
            <a:r>
              <a:rPr lang="en-US" sz="1800" dirty="0">
                <a:sym typeface="Symbol" pitchFamily="18" charset="2"/>
              </a:rPr>
              <a:t>(exact recalculation)</a:t>
            </a:r>
            <a:endParaRPr lang="en-US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itchFamily="18" charset="2"/>
              </a:rPr>
              <a:t>or bounds within </a:t>
            </a:r>
            <a:r>
              <a:rPr lang="en-US" i="1" dirty="0">
                <a:sym typeface="Symbol" pitchFamily="18" charset="2"/>
              </a:rPr>
              <a:t>p</a:t>
            </a:r>
            <a:r>
              <a:rPr lang="en-US" dirty="0">
                <a:sym typeface="Symbol" pitchFamily="18" charset="2"/>
              </a:rPr>
              <a:t>% of </a:t>
            </a:r>
            <a:r>
              <a:rPr lang="en-US" i="1" dirty="0">
                <a:sym typeface="Symbol" pitchFamily="18" charset="2"/>
              </a:rPr>
              <a:t>T</a:t>
            </a:r>
            <a:r>
              <a:rPr lang="en-US" i="1" baseline="-25000" dirty="0">
                <a:sym typeface="Symbol" pitchFamily="18" charset="2"/>
              </a:rPr>
              <a:t>C</a:t>
            </a:r>
            <a:r>
              <a:rPr lang="en-US" b="1" dirty="0">
                <a:solidFill>
                  <a:schemeClr val="tx2"/>
                </a:solidFill>
                <a:sym typeface="Symbol" pitchFamily="18" charset="2"/>
              </a:rPr>
              <a:t>	</a:t>
            </a:r>
            <a:endParaRPr lang="en-GB" b="1" dirty="0">
              <a:solidFill>
                <a:schemeClr val="tx2"/>
              </a:solidFill>
              <a:sym typeface="Symbol" pitchFamily="18" charset="2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B0805E0-4FAC-47C3-30FC-CDE38CE630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795684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D4FD-D675-0CB1-B137-11E3B27A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2AD9550-145E-508F-4702-D892E6203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43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4600EE2-A789-6A89-1A47-5810C46ECE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How to obtain feasibility interval, given the suppressions?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General approach (two LP problems):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/>
          </a:p>
          <a:p>
            <a:pPr marL="542925" lvl="1" indent="-1588">
              <a:lnSpc>
                <a:spcPct val="90000"/>
              </a:lnSpc>
              <a:buNone/>
            </a:pPr>
            <a:r>
              <a:rPr lang="en-GB" sz="1800" dirty="0"/>
              <a:t>maximise </a:t>
            </a:r>
            <a:r>
              <a:rPr lang="en-GB" sz="1800" i="1" dirty="0"/>
              <a:t>T</a:t>
            </a:r>
            <a:r>
              <a:rPr lang="en-GB" sz="1800" i="1" baseline="-25000" dirty="0"/>
              <a:t>C </a:t>
            </a:r>
            <a:br>
              <a:rPr lang="en-GB" sz="1800" i="1" baseline="-25000" dirty="0"/>
            </a:br>
            <a:r>
              <a:rPr lang="en-GB" sz="1800" dirty="0"/>
              <a:t>under sum-restrictions of table and </a:t>
            </a:r>
            <a:r>
              <a:rPr lang="en-GB" sz="1800" i="1" dirty="0"/>
              <a:t>T</a:t>
            </a:r>
            <a:r>
              <a:rPr lang="en-GB" sz="1800" i="1" baseline="-25000" dirty="0"/>
              <a:t>C </a:t>
            </a:r>
            <a:r>
              <a:rPr lang="en-GB" sz="1800" dirty="0">
                <a:sym typeface="Symbol" pitchFamily="18" charset="2"/>
              </a:rPr>
              <a:t> 0</a:t>
            </a:r>
          </a:p>
          <a:p>
            <a:pPr marL="542925" lvl="1" indent="-1588">
              <a:lnSpc>
                <a:spcPct val="90000"/>
              </a:lnSpc>
              <a:buNone/>
            </a:pPr>
            <a:endParaRPr lang="en-GB" sz="1800" i="1" baseline="-25000" dirty="0"/>
          </a:p>
          <a:p>
            <a:pPr marL="542925" lvl="1" indent="-1588">
              <a:lnSpc>
                <a:spcPct val="90000"/>
              </a:lnSpc>
              <a:buNone/>
            </a:pPr>
            <a:r>
              <a:rPr lang="en-GB" sz="1800" dirty="0"/>
              <a:t>minimise </a:t>
            </a:r>
            <a:r>
              <a:rPr lang="en-GB" sz="1800" i="1" dirty="0"/>
              <a:t>T</a:t>
            </a:r>
            <a:r>
              <a:rPr lang="en-GB" sz="1800" i="1" baseline="-25000" dirty="0"/>
              <a:t>C</a:t>
            </a:r>
            <a:br>
              <a:rPr lang="en-GB" sz="1800" i="1" baseline="-25000" dirty="0"/>
            </a:br>
            <a:r>
              <a:rPr lang="en-GB" sz="1800" dirty="0"/>
              <a:t>under sum-restrictions of table and </a:t>
            </a:r>
            <a:r>
              <a:rPr lang="en-GB" sz="1800" i="1" dirty="0"/>
              <a:t>T</a:t>
            </a:r>
            <a:r>
              <a:rPr lang="en-GB" sz="1800" i="1" baseline="-25000" dirty="0"/>
              <a:t>C </a:t>
            </a:r>
            <a:r>
              <a:rPr lang="en-GB" sz="1800" dirty="0">
                <a:sym typeface="Symbol" pitchFamily="18" charset="2"/>
              </a:rPr>
              <a:t> 0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AA5B40F-5507-37A0-9789-1256AD66B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646699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4183B-FD43-5837-42F5-6ACE87163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2061186-5483-5B62-6ADA-B14C3D90B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44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FBF6E5E-5082-FD75-009B-75E1F822FA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Feasibility intervals for primary unsafe cells should be sufficiently wide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dirty="0"/>
              <a:t>Possible rule: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solidFill>
                  <a:schemeClr val="tx2"/>
                </a:solidFill>
              </a:rPr>
              <a:t>Require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i="1" dirty="0">
                <a:solidFill>
                  <a:schemeClr val="tx2"/>
                </a:solidFill>
              </a:rPr>
              <a:t>minimum feasibility interval</a:t>
            </a:r>
            <a:r>
              <a:rPr lang="en-GB" b="1" dirty="0">
                <a:solidFill>
                  <a:schemeClr val="tx2"/>
                </a:solidFill>
              </a:rPr>
              <a:t>,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b="1" dirty="0">
                <a:solidFill>
                  <a:schemeClr val="tx2"/>
                </a:solidFill>
              </a:rPr>
              <a:t> 	</a:t>
            </a:r>
            <a:r>
              <a:rPr lang="en-GB" dirty="0">
                <a:solidFill>
                  <a:schemeClr val="tx2"/>
                </a:solidFill>
              </a:rPr>
              <a:t>i.e., require </a:t>
            </a:r>
            <a:r>
              <a:rPr lang="en-GB" b="1" i="1" dirty="0">
                <a:solidFill>
                  <a:srgbClr val="00B0F0"/>
                </a:solidFill>
              </a:rPr>
              <a:t>safety ranges</a:t>
            </a:r>
            <a:r>
              <a:rPr lang="en-GB" dirty="0">
                <a:solidFill>
                  <a:schemeClr val="tx2"/>
                </a:solidFill>
              </a:rPr>
              <a:t>, for each </a:t>
            </a:r>
            <a:r>
              <a:rPr lang="en-GB" b="1" dirty="0">
                <a:solidFill>
                  <a:schemeClr val="tx2"/>
                </a:solidFill>
              </a:rPr>
              <a:t>		</a:t>
            </a:r>
            <a:r>
              <a:rPr lang="en-GB" dirty="0">
                <a:solidFill>
                  <a:schemeClr val="tx2"/>
                </a:solidFill>
              </a:rPr>
              <a:t>primary unsafe cell</a:t>
            </a:r>
          </a:p>
          <a:p>
            <a:pPr marL="0" indent="0">
              <a:buNone/>
            </a:pPr>
            <a:endParaRPr lang="en-GB" sz="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Safety range a.k.a. protection interval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B14F4C-31F3-B88D-4053-1C86B6DB7C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481348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8BC5-958E-04FE-5139-17EAC63B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F446DDF-1C11-9939-FF20-2FD3FD229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45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68F40CE-BBA4-BE5F-F23A-37FA63A22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Threshold rule: fixed percentage/absolute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Concentration rules: sensitivity determines the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sensitive </a:t>
            </a:r>
          </a:p>
          <a:p>
            <a:pPr marL="0" indent="0">
              <a:buNone/>
            </a:pPr>
            <a:r>
              <a:rPr lang="en-US" dirty="0"/>
              <a:t>	more protection </a:t>
            </a:r>
          </a:p>
          <a:p>
            <a:pPr marL="0" indent="0">
              <a:buNone/>
            </a:pPr>
            <a:r>
              <a:rPr lang="en-US" dirty="0"/>
              <a:t>		larger safety range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180BA4-2962-EF3B-3F4B-7F25D2E246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7" name="Pijl-rechts 4">
            <a:extLst>
              <a:ext uri="{FF2B5EF4-FFF2-40B4-BE49-F238E27FC236}">
                <a16:creationId xmlns:a16="http://schemas.microsoft.com/office/drawing/2014/main" id="{EBB21D7C-FA4B-B06B-0B13-A27DCC784E92}"/>
              </a:ext>
            </a:extLst>
          </p:cNvPr>
          <p:cNvSpPr/>
          <p:nvPr/>
        </p:nvSpPr>
        <p:spPr>
          <a:xfrm>
            <a:off x="2639144" y="3097032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jl-rechts 5">
            <a:extLst>
              <a:ext uri="{FF2B5EF4-FFF2-40B4-BE49-F238E27FC236}">
                <a16:creationId xmlns:a16="http://schemas.microsoft.com/office/drawing/2014/main" id="{8276989B-EA31-0AAF-B9A7-136ABE5EFD2F}"/>
              </a:ext>
            </a:extLst>
          </p:cNvPr>
          <p:cNvSpPr/>
          <p:nvPr/>
        </p:nvSpPr>
        <p:spPr>
          <a:xfrm>
            <a:off x="3779912" y="3538744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11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918A-9775-AF7F-3B6B-0A859027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0C54875-0C41-0A38-79CC-690155A7B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46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2BEA33-059D-C8D2-E287-D04E01891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sz="1800" b="1" i="1" dirty="0"/>
              <a:t>Protection standards:</a:t>
            </a:r>
          </a:p>
          <a:p>
            <a:pPr marL="0" lvl="1" indent="0">
              <a:buNone/>
            </a:pPr>
            <a:r>
              <a:rPr lang="en-US" sz="1800" i="1" dirty="0"/>
              <a:t>Protection against exact disclosure</a:t>
            </a:r>
            <a:br>
              <a:rPr lang="en-US" sz="1800" i="1" dirty="0"/>
            </a:br>
            <a:r>
              <a:rPr lang="en-US" sz="1600" dirty="0"/>
              <a:t>It is not possible to disclose the exact value of a sensitive cell if no additional knowledge is considered (like singletons)</a:t>
            </a:r>
          </a:p>
          <a:p>
            <a:pPr marL="0" lvl="1" indent="0">
              <a:buNone/>
            </a:pPr>
            <a:endParaRPr lang="en-US" sz="1600" dirty="0"/>
          </a:p>
          <a:p>
            <a:pPr marL="0" lvl="1" indent="0">
              <a:buNone/>
            </a:pPr>
            <a:r>
              <a:rPr lang="en-US" sz="1800" i="1" dirty="0"/>
              <a:t>Protection against interval disclosure</a:t>
            </a:r>
            <a:br>
              <a:rPr lang="en-US" sz="1800" i="1" dirty="0"/>
            </a:br>
            <a:r>
              <a:rPr lang="en-US" sz="1600" dirty="0"/>
              <a:t>Safety ranges of a sensitive cell are satisfied if no additional knowledge is considered (like singletons)</a:t>
            </a:r>
          </a:p>
          <a:p>
            <a:pPr marL="0" lvl="1" indent="0">
              <a:buNone/>
            </a:pPr>
            <a:endParaRPr lang="en-US" sz="1600" dirty="0"/>
          </a:p>
          <a:p>
            <a:pPr marL="0" lvl="1" indent="0">
              <a:buNone/>
              <a:tabLst>
                <a:tab pos="182563" algn="l"/>
              </a:tabLst>
            </a:pPr>
            <a:r>
              <a:rPr lang="en-US" sz="1800" i="1" dirty="0"/>
              <a:t>Protection against singleton disclosure</a:t>
            </a:r>
            <a:br>
              <a:rPr lang="en-US" sz="1800" i="1" dirty="0"/>
            </a:br>
            <a:r>
              <a:rPr lang="en-US" sz="1600" dirty="0"/>
              <a:t>A suppression pattern with only two suppressed cells within a row (or column) of a table is not feasible if each one of the two corresponds to a single respondent </a:t>
            </a:r>
            <a:endParaRPr lang="en-US" sz="1800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EE13A7A-20B2-E2CA-F98D-DB8C53A95D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750748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9E25-7F9A-069E-1227-18322A79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29563D1-4AE1-802B-7464-98CCE1396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47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084592A-37A1-AE83-5C46-ECFBA0BC54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2AA63A7D-21C3-F16C-D583-075B6348D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950944"/>
              </p:ext>
            </p:extLst>
          </p:nvPr>
        </p:nvGraphicFramePr>
        <p:xfrm>
          <a:off x="1259632" y="1851670"/>
          <a:ext cx="5960887" cy="2357715"/>
        </p:xfrm>
        <a:graphic>
          <a:graphicData uri="http://schemas.openxmlformats.org/drawingml/2006/table">
            <a:tbl>
              <a:tblPr/>
              <a:tblGrid>
                <a:gridCol w="116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61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51" marR="91451" marT="45700" marB="4570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Modular</a:t>
                      </a:r>
                    </a:p>
                  </a:txBody>
                  <a:tcPr marL="91451" marR="91451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Optimal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Network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HyperCube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Exact or interval disclosure</a:t>
                      </a:r>
                    </a:p>
                  </a:txBody>
                  <a:tcPr marL="91451" marR="91451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Interval (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subtable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scenario)</a:t>
                      </a:r>
                    </a:p>
                  </a:txBody>
                  <a:tcPr marL="91451" marR="91451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Interval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Interval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Interval (subtable scenario)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7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Singleton disclosure</a:t>
                      </a:r>
                    </a:p>
                  </a:txBody>
                  <a:tcPr marL="91451" marR="91451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(row/column scenario)</a:t>
                      </a:r>
                    </a:p>
                  </a:txBody>
                  <a:tcPr marL="91451" marR="91451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(row/column scenario)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Yes</a:t>
                      </a:r>
                    </a:p>
                  </a:txBody>
                  <a:tcPr marL="91451" marR="91451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56AC4449-9895-913D-A1B1-156F38453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054" y="1268424"/>
            <a:ext cx="1961658" cy="5847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/>
              <a:t>(Commercial) </a:t>
            </a:r>
            <a:br>
              <a:rPr lang="en-US" sz="1600" dirty="0"/>
            </a:br>
            <a:r>
              <a:rPr lang="en-US" sz="1600" dirty="0"/>
              <a:t>LP solver</a:t>
            </a:r>
          </a:p>
        </p:txBody>
      </p:sp>
    </p:spTree>
    <p:extLst>
      <p:ext uri="{BB962C8B-B14F-4D97-AF65-F5344CB8AC3E}">
        <p14:creationId xmlns:p14="http://schemas.microsoft.com/office/powerpoint/2010/main" val="3823226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38A6-3883-ADDB-218D-717129E2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FC2334B-74EC-AD59-5645-89CB027BD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48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84D0ED3-7BB8-A329-506E-61AD4BD1CB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00B0F0"/>
                </a:solidFill>
              </a:rPr>
              <a:t>Rounding</a:t>
            </a:r>
          </a:p>
          <a:p>
            <a:pPr marL="0" indent="0">
              <a:buNone/>
            </a:pPr>
            <a:r>
              <a:rPr lang="en-US" sz="1800" dirty="0"/>
              <a:t>Basic idea:</a:t>
            </a:r>
          </a:p>
          <a:p>
            <a:pPr lvl="1"/>
            <a:r>
              <a:rPr lang="en-US" sz="1800" dirty="0"/>
              <a:t>Replace each cell value by integer multiple of rounding base </a:t>
            </a:r>
            <a:r>
              <a:rPr lang="en-US" sz="1800" i="1" dirty="0"/>
              <a:t>b</a:t>
            </a:r>
            <a:endParaRPr lang="en-US" sz="1800" dirty="0"/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r>
              <a:rPr lang="en-US" sz="1800" dirty="0"/>
              <a:t>Larger </a:t>
            </a:r>
            <a:r>
              <a:rPr lang="en-US" sz="1800" i="1" dirty="0"/>
              <a:t>b</a:t>
            </a:r>
            <a:r>
              <a:rPr lang="en-US" sz="1800" dirty="0"/>
              <a:t> implies more protection</a:t>
            </a:r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r>
              <a:rPr lang="en-US" sz="1800" dirty="0"/>
              <a:t>Choose </a:t>
            </a:r>
            <a:r>
              <a:rPr lang="en-US" sz="1800" i="1" dirty="0"/>
              <a:t>b</a:t>
            </a:r>
            <a:r>
              <a:rPr lang="en-US" sz="1800" dirty="0"/>
              <a:t> according to used sensitivity measure</a:t>
            </a:r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r>
              <a:rPr lang="en-US" sz="1800" dirty="0"/>
              <a:t>Provides feasibility interval </a:t>
            </a:r>
            <a:br>
              <a:rPr lang="en-US" sz="1800" dirty="0"/>
            </a:br>
            <a:r>
              <a:rPr lang="en-US" sz="1800" dirty="0"/>
              <a:t>(can be smaller than +/- rounding base)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333B515-E7FA-3545-0E87-239BADF064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532857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EB99D-1DBE-E744-C28E-8306BF50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268D69-FCC9-6422-DAC3-B89C201B0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49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4269B72-95D2-A48F-56B6-4F144EE9F1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Conventional rounding (e.g., rounding base </a:t>
            </a:r>
            <a:r>
              <a:rPr lang="en-US" i="1" dirty="0"/>
              <a:t>b</a:t>
            </a:r>
            <a:r>
              <a:rPr lang="en-US" dirty="0"/>
              <a:t> = 5):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65B3730-F4D5-4753-DD2B-3E88161114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807EDA9-16EE-AC3B-04E4-513ECC764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95561"/>
              </p:ext>
            </p:extLst>
          </p:nvPr>
        </p:nvGraphicFramePr>
        <p:xfrm>
          <a:off x="1979712" y="2139248"/>
          <a:ext cx="3970340" cy="182880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9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7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Books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Papers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Pens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E9955382-B23B-FC5D-CD55-AC2C75BB8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71601"/>
              </p:ext>
            </p:extLst>
          </p:nvPr>
        </p:nvGraphicFramePr>
        <p:xfrm>
          <a:off x="1979712" y="2139248"/>
          <a:ext cx="3970340" cy="182880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9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7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Books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Papers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Pens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60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86F7CD61-048B-B8AF-3D1B-0275066CA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73715"/>
              </p:ext>
            </p:extLst>
          </p:nvPr>
        </p:nvGraphicFramePr>
        <p:xfrm>
          <a:off x="1979712" y="2139248"/>
          <a:ext cx="3970340" cy="1828800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DADADA">
                        <a:tint val="50000"/>
                        <a:satMod val="300000"/>
                      </a:srgbClr>
                    </a:gs>
                    <a:gs pos="35000">
                      <a:srgbClr val="DADADA">
                        <a:tint val="37000"/>
                        <a:satMod val="300000"/>
                      </a:srgbClr>
                    </a:gs>
                    <a:gs pos="100000">
                      <a:srgbClr val="DADAD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79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7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 err="1">
                          <a:solidFill>
                            <a:srgbClr val="271D6C"/>
                          </a:solidFill>
                        </a:rPr>
                        <a:t>Region</a:t>
                      </a:r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nl-NL" sz="1400" b="0" dirty="0">
                        <a:solidFill>
                          <a:srgbClr val="271D6C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Books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Papers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50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Pens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FF0000"/>
                          </a:solidFill>
                        </a:rPr>
                        <a:t>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nl-NL" sz="1400" b="0" dirty="0">
                          <a:solidFill>
                            <a:srgbClr val="271D6C"/>
                          </a:solidFill>
                        </a:rPr>
                        <a:t>190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DAD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19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B00FF-9512-9538-000C-25564A82E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593F874-2574-5FB4-4295-3AC249EA07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50</a:t>
            </a:fld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D3D95967-5D36-B3B5-D427-8A3CBACAD88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defTabSz="762000">
                  <a:lnSpc>
                    <a:spcPct val="90000"/>
                  </a:lnSpc>
                </a:pPr>
                <a:r>
                  <a:rPr lang="en-GB" dirty="0"/>
                  <a:t>Controlled rounding: preserve </a:t>
                </a:r>
                <a:r>
                  <a:rPr lang="en-GB" dirty="0" err="1"/>
                  <a:t>additivity</a:t>
                </a:r>
                <a:endParaRPr lang="en-GB" dirty="0"/>
              </a:p>
              <a:p>
                <a:pPr defTabSz="762000">
                  <a:lnSpc>
                    <a:spcPct val="90000"/>
                  </a:lnSpc>
                </a:pPr>
                <a:r>
                  <a:rPr lang="en-GB" dirty="0"/>
                  <a:t>Replace with </a:t>
                </a:r>
                <a:r>
                  <a:rPr lang="en-GB" i="1" dirty="0"/>
                  <a:t>one of </a:t>
                </a:r>
                <a:r>
                  <a:rPr lang="en-GB" dirty="0"/>
                  <a:t>nearest multiples of rounding base: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either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nl-NL" i="1">
                                <a:latin typeface="Cambria Math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nl-NL" i="1">
                        <a:latin typeface="Cambria Math"/>
                      </a:rPr>
                      <m:t>𝑏</m:t>
                    </m:r>
                  </m:oMath>
                </a14:m>
                <a:r>
                  <a:rPr lang="en-GB" dirty="0"/>
                  <a:t> </a:t>
                </a:r>
                <a:r>
                  <a:rPr lang="en-GB" sz="2800" dirty="0"/>
                  <a:t> </a:t>
                </a:r>
                <a:r>
                  <a:rPr lang="en-GB" dirty="0"/>
                  <a:t>or 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nl-NL" i="1">
                                <a:latin typeface="Cambria Math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nl-NL" i="1">
                        <a:latin typeface="Cambria Math"/>
                      </a:rPr>
                      <m:t>𝑏</m:t>
                    </m:r>
                  </m:oMath>
                </a14:m>
                <a:endParaRPr lang="en-GB" dirty="0"/>
              </a:p>
              <a:p>
                <a:pPr defTabSz="762000">
                  <a:lnSpc>
                    <a:spcPct val="90000"/>
                  </a:lnSpc>
                </a:pPr>
                <a:endParaRPr lang="en-GB" dirty="0"/>
              </a:p>
              <a:p>
                <a:pPr defTabSz="762000">
                  <a:lnSpc>
                    <a:spcPct val="90000"/>
                  </a:lnSpc>
                </a:pPr>
                <a:r>
                  <a:rPr lang="en-GB" dirty="0"/>
                  <a:t>Zero restricted: do not change multiples of rounding base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D3D95967-5D36-B3B5-D427-8A3CBACAD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278" t="-26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F5C9943-A550-5B7A-0C11-E926C25FD4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8848806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3928-7D5A-AEBA-35B3-FD6AF876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4E332D7-7938-2090-F087-CBFBCDDD5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51</a:t>
            </a:fld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3473C701-1090-F0E2-E1D5-956353D5C48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i="1" dirty="0">
                    <a:solidFill>
                      <a:srgbClr val="00B0F0"/>
                    </a:solidFill>
                  </a:rPr>
                  <a:t>Cell key method, noise addition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Post tabular method (noise added to table cells)</a:t>
                </a:r>
              </a:p>
              <a:p>
                <a:pPr marL="0" indent="0">
                  <a:buNone/>
                </a:pPr>
                <a:endParaRPr lang="en-US" sz="675" dirty="0"/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sz="2000" dirty="0"/>
                  <a:t>Determine </a:t>
                </a:r>
                <a:r>
                  <a:rPr lang="en-US" sz="2000" b="1" i="1" dirty="0"/>
                  <a:t>p</a:t>
                </a:r>
                <a:r>
                  <a:rPr lang="en-US" sz="2000" b="1" dirty="0"/>
                  <a:t>-table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sz="2000" dirty="0"/>
                  <a:t>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r>
                      <a:rPr lang="nl-NL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sz="2000" dirty="0"/>
                  <a:t> value for each record</a:t>
                </a:r>
                <a:r>
                  <a:rPr lang="en-US" sz="2000" i="1" dirty="0"/>
                  <a:t> </a:t>
                </a:r>
                <a:r>
                  <a:rPr lang="en-US" sz="2000" dirty="0"/>
                  <a:t>= </a:t>
                </a:r>
                <a:r>
                  <a:rPr lang="en-US" sz="2000" i="1" dirty="0"/>
                  <a:t>record key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sz="2000" dirty="0"/>
                  <a:t>Sum record keys of records in each table cell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sz="2000" dirty="0"/>
                  <a:t>Assign fractional part of that sum as </a:t>
                </a:r>
                <a:r>
                  <a:rPr lang="en-US" sz="2000" b="1" i="1" dirty="0"/>
                  <a:t>cell key</a:t>
                </a:r>
                <a:r>
                  <a:rPr lang="en-US" sz="2000" dirty="0"/>
                  <a:t> to each table cell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sz="2000" dirty="0"/>
                  <a:t>Use </a:t>
                </a:r>
                <a:r>
                  <a:rPr lang="en-US" sz="2000" b="1" i="1" dirty="0"/>
                  <a:t>cell value </a:t>
                </a:r>
                <a:r>
                  <a:rPr lang="en-US" sz="2000" dirty="0"/>
                  <a:t>AND </a:t>
                </a:r>
                <a:r>
                  <a:rPr lang="en-US" sz="2000" b="1" i="1" dirty="0"/>
                  <a:t>cell key</a:t>
                </a:r>
                <a:r>
                  <a:rPr lang="en-US" sz="2000" b="1" dirty="0"/>
                  <a:t> </a:t>
                </a:r>
                <a:r>
                  <a:rPr lang="en-US" sz="2000" dirty="0"/>
                  <a:t>AND </a:t>
                </a:r>
                <a:r>
                  <a:rPr lang="en-US" sz="2000" b="1" i="1" dirty="0"/>
                  <a:t>p</a:t>
                </a:r>
                <a:r>
                  <a:rPr lang="en-US" sz="2000" b="1" dirty="0"/>
                  <a:t>-table</a:t>
                </a:r>
                <a:r>
                  <a:rPr lang="en-US" sz="2000" dirty="0"/>
                  <a:t> to get amount of noise to add to that cell</a:t>
                </a:r>
              </a:p>
            </p:txBody>
          </p:sp>
        </mc:Choice>
        <mc:Fallback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3473C701-1090-F0E2-E1D5-956353D5C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278" t="-14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CFFA24-0EF7-2869-FEF8-5049B92A82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731341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9904-C54C-5F2E-B125-60781EF1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B454ADF-F29B-5F0B-8CA8-EE21469A9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52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D9ABC5-9911-76FC-CEDB-34DA584E84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sz="2000" i="1" dirty="0"/>
              <a:t>p</a:t>
            </a:r>
            <a:r>
              <a:rPr lang="en-US" sz="2000" dirty="0"/>
              <a:t>-table: Transition probabilities (R-package </a:t>
            </a:r>
            <a:r>
              <a:rPr lang="en-US" sz="1200" spc="3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ptable</a:t>
            </a:r>
            <a:r>
              <a:rPr lang="en-US" sz="2000" dirty="0"/>
              <a:t>)</a:t>
            </a:r>
            <a:endParaRPr lang="en-US" dirty="0"/>
          </a:p>
          <a:p>
            <a:pPr marL="0" lvl="1" indent="0">
              <a:buNone/>
            </a:pPr>
            <a:r>
              <a:rPr lang="en-US" dirty="0"/>
              <a:t>	</a:t>
            </a:r>
            <a:r>
              <a:rPr lang="en-US" sz="2000" i="1" dirty="0" err="1"/>
              <a:t>p</a:t>
            </a:r>
            <a:r>
              <a:rPr lang="en-US" sz="2000" i="1" baseline="-25000" dirty="0" err="1"/>
              <a:t>ij</a:t>
            </a:r>
            <a:r>
              <a:rPr lang="en-US" sz="2000" dirty="0"/>
              <a:t> = P(cell value </a:t>
            </a:r>
            <a:r>
              <a:rPr lang="en-US" sz="2000" i="1" dirty="0"/>
              <a:t>i</a:t>
            </a:r>
            <a:r>
              <a:rPr lang="en-US" sz="2000" dirty="0"/>
              <a:t> is changed into value </a:t>
            </a:r>
            <a:r>
              <a:rPr lang="en-US" sz="2000" i="1" dirty="0"/>
              <a:t>j</a:t>
            </a:r>
            <a:r>
              <a:rPr lang="en-US" sz="2000" dirty="0"/>
              <a:t>)</a:t>
            </a:r>
            <a:endParaRPr lang="en-US" dirty="0"/>
          </a:p>
          <a:p>
            <a:pPr marL="0" lvl="1" indent="0">
              <a:buNone/>
            </a:pPr>
            <a:r>
              <a:rPr lang="en-US" sz="2000" dirty="0"/>
              <a:t>E.g., probabilities	</a:t>
            </a: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8E6A254-2B95-44DE-5769-194035A534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70DC22FA-8F61-04E3-DA2E-D3BCCD900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20248"/>
              </p:ext>
            </p:extLst>
          </p:nvPr>
        </p:nvGraphicFramePr>
        <p:xfrm>
          <a:off x="1799692" y="2711700"/>
          <a:ext cx="3091578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279">
                  <a:extLst>
                    <a:ext uri="{9D8B030D-6E8A-4147-A177-3AD203B41FA5}">
                      <a16:colId xmlns:a16="http://schemas.microsoft.com/office/drawing/2014/main" val="1078241879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1720451357"/>
                    </a:ext>
                  </a:extLst>
                </a:gridCol>
                <a:gridCol w="207407">
                  <a:extLst>
                    <a:ext uri="{9D8B030D-6E8A-4147-A177-3AD203B41FA5}">
                      <a16:colId xmlns:a16="http://schemas.microsoft.com/office/drawing/2014/main" val="3267103628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416150815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3033345248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3978440190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371154688"/>
                    </a:ext>
                  </a:extLst>
                </a:gridCol>
                <a:gridCol w="426482">
                  <a:extLst>
                    <a:ext uri="{9D8B030D-6E8A-4147-A177-3AD203B41FA5}">
                      <a16:colId xmlns:a16="http://schemas.microsoft.com/office/drawing/2014/main" val="364407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i="1" baseline="-25000" dirty="0"/>
                        <a:t> i        </a:t>
                      </a:r>
                      <a:r>
                        <a:rPr lang="en-US" sz="800" b="1" i="1" baseline="30000" dirty="0"/>
                        <a:t>j</a:t>
                      </a:r>
                      <a:endParaRPr lang="en-US" sz="800" b="1" i="1" baseline="-25000" dirty="0"/>
                    </a:p>
                  </a:txBody>
                  <a:tcPr marL="68580" marR="68580" marT="34290" marB="34290" anchor="ctr"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2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3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4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6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81671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52040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0.5133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0.4600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0.0267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35350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/>
                        <a:t>2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0.1656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0.5463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0.2449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0.0432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91349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/>
                        <a:t>3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0.4208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0.2776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0.1824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0.1192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9089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/>
                        <a:t>4</a:t>
                      </a:r>
                      <a:endParaRPr lang="en-US" sz="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0.0739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0.2442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0.3637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0.2442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0.0739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11185692"/>
                  </a:ext>
                </a:extLst>
              </a:tr>
            </a:tbl>
          </a:graphicData>
        </a:graphic>
      </p:graphicFrame>
      <p:grpSp>
        <p:nvGrpSpPr>
          <p:cNvPr id="6" name="Groep 5">
            <a:extLst>
              <a:ext uri="{FF2B5EF4-FFF2-40B4-BE49-F238E27FC236}">
                <a16:creationId xmlns:a16="http://schemas.microsoft.com/office/drawing/2014/main" id="{F1A54B2A-50F8-8911-6463-81ECFF0B8627}"/>
              </a:ext>
            </a:extLst>
          </p:cNvPr>
          <p:cNvGrpSpPr/>
          <p:nvPr/>
        </p:nvGrpSpPr>
        <p:grpSpPr>
          <a:xfrm>
            <a:off x="5364088" y="2358969"/>
            <a:ext cx="1963872" cy="2281544"/>
            <a:chOff x="5004048" y="2101442"/>
            <a:chExt cx="2618496" cy="304205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D8AC3E99-FE79-FFD3-10A4-E08E4C8DE3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7"/>
            <a:stretch/>
          </p:blipFill>
          <p:spPr bwMode="auto">
            <a:xfrm>
              <a:off x="5076056" y="2443469"/>
              <a:ext cx="2546488" cy="2700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822F69A3-6778-4596-A4DF-E42C2DADD42C}"/>
                </a:ext>
              </a:extLst>
            </p:cNvPr>
            <p:cNvSpPr/>
            <p:nvPr/>
          </p:nvSpPr>
          <p:spPr>
            <a:xfrm>
              <a:off x="5364088" y="4731990"/>
              <a:ext cx="1008112" cy="144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6D7EE9AD-9837-931C-35FB-4F4660F9B4EF}"/>
                </a:ext>
              </a:extLst>
            </p:cNvPr>
            <p:cNvSpPr txBox="1"/>
            <p:nvPr/>
          </p:nvSpPr>
          <p:spPr>
            <a:xfrm>
              <a:off x="5330180" y="4694321"/>
              <a:ext cx="674280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75" i="1" dirty="0"/>
                <a:t>v</a:t>
              </a:r>
              <a:r>
                <a:rPr lang="en-US" sz="675" dirty="0"/>
                <a:t> = </a:t>
              </a:r>
              <a:r>
                <a:rPr lang="en-US" sz="675" i="1" dirty="0"/>
                <a:t>j</a:t>
              </a:r>
              <a:r>
                <a:rPr lang="en-US" sz="675" dirty="0"/>
                <a:t> – </a:t>
              </a:r>
              <a:r>
                <a:rPr lang="en-US" sz="675" i="1" dirty="0"/>
                <a:t>i</a:t>
              </a:r>
              <a:r>
                <a:rPr lang="en-US" sz="675" dirty="0"/>
                <a:t> :</a:t>
              </a:r>
              <a:endParaRPr lang="en-US" sz="900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47E5728C-D81F-4A61-16B1-1B127FA536EC}"/>
                </a:ext>
              </a:extLst>
            </p:cNvPr>
            <p:cNvSpPr/>
            <p:nvPr/>
          </p:nvSpPr>
          <p:spPr>
            <a:xfrm>
              <a:off x="5004048" y="2101442"/>
              <a:ext cx="165960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/>
              <a:r>
                <a:rPr lang="en-US" dirty="0">
                  <a:solidFill>
                    <a:srgbClr val="271D6C"/>
                  </a:solidFill>
                </a:rPr>
                <a:t>Cumulative</a:t>
              </a:r>
              <a:endParaRPr lang="en-US" sz="1350" dirty="0">
                <a:solidFill>
                  <a:srgbClr val="271D6C"/>
                </a:solidFill>
              </a:endParaRPr>
            </a:p>
          </p:txBody>
        </p:sp>
      </p:grp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687B4AA2-C572-E4D0-04F6-A4C7846D3088}"/>
              </a:ext>
            </a:extLst>
          </p:cNvPr>
          <p:cNvCxnSpPr/>
          <p:nvPr/>
        </p:nvCxnSpPr>
        <p:spPr>
          <a:xfrm>
            <a:off x="2501770" y="3196884"/>
            <a:ext cx="3456384" cy="432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2ABB05C9-E1A8-0C88-EF8A-1D319BA2918A}"/>
              </a:ext>
            </a:extLst>
          </p:cNvPr>
          <p:cNvCxnSpPr/>
          <p:nvPr/>
        </p:nvCxnSpPr>
        <p:spPr>
          <a:xfrm>
            <a:off x="3149842" y="3196884"/>
            <a:ext cx="3510390" cy="432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5CE9EF1F-8F8A-A55E-D7D2-9D1250FAF991}"/>
              </a:ext>
            </a:extLst>
          </p:cNvPr>
          <p:cNvCxnSpPr/>
          <p:nvPr/>
        </p:nvCxnSpPr>
        <p:spPr>
          <a:xfrm>
            <a:off x="3549464" y="3196884"/>
            <a:ext cx="3672408" cy="3780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95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C654-A4F7-E618-E789-ADE5F8C1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158158A-FFEF-AE1A-21AC-E571EF7A5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53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3D04E38-2D5C-1D9A-D329-6AEDA15F06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54F77060-1F7D-A464-AB48-2A09A8F0F5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494403"/>
              </p:ext>
            </p:extLst>
          </p:nvPr>
        </p:nvGraphicFramePr>
        <p:xfrm>
          <a:off x="1686152" y="1476353"/>
          <a:ext cx="1836204" cy="280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</a:t>
                      </a:r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Key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0.34582249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0.68438579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0.95880618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0.62902289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0.86598721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0.36307981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0.91420393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0.69629390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0.53460054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0.68511663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0.03426370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0.33696811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0.11181613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0.56526973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0.01047942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6" name="Inhaltsplatzhalter 4">
            <a:extLst>
              <a:ext uri="{FF2B5EF4-FFF2-40B4-BE49-F238E27FC236}">
                <a16:creationId xmlns:a16="http://schemas.microsoft.com/office/drawing/2014/main" id="{8856ADAF-17B3-5C48-00A6-B4545AF03E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890658"/>
              </p:ext>
            </p:extLst>
          </p:nvPr>
        </p:nvGraphicFramePr>
        <p:xfrm>
          <a:off x="5220072" y="1491630"/>
          <a:ext cx="1714474" cy="227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17">
                  <a:extLst>
                    <a:ext uri="{9D8B030D-6E8A-4147-A177-3AD203B41FA5}">
                      <a16:colId xmlns:a16="http://schemas.microsoft.com/office/drawing/2014/main" val="631792773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1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Cell</a:t>
                      </a:r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Key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0.73611646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0.53206947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0.21194429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0.99210270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0.70435560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0.96679974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0.73755586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0.03176086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0.56526973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0.47438843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0.99210270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E2179B74-F3E0-F425-8E89-0D04A03374C7}"/>
              </a:ext>
            </a:extLst>
          </p:cNvPr>
          <p:cNvCxnSpPr>
            <a:endCxn id="10" idx="1"/>
          </p:cNvCxnSpPr>
          <p:nvPr/>
        </p:nvCxnSpPr>
        <p:spPr>
          <a:xfrm>
            <a:off x="3522356" y="2451381"/>
            <a:ext cx="454334" cy="358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37BFA9EF-3072-F6A6-D8FA-FBF3BF1F0A3D}"/>
              </a:ext>
            </a:extLst>
          </p:cNvPr>
          <p:cNvCxnSpPr>
            <a:endCxn id="10" idx="1"/>
          </p:cNvCxnSpPr>
          <p:nvPr/>
        </p:nvCxnSpPr>
        <p:spPr>
          <a:xfrm flipV="1">
            <a:off x="3522356" y="2810130"/>
            <a:ext cx="454334" cy="350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83B4B5B5-4403-54A1-A25C-BA41F68E9F23}"/>
              </a:ext>
            </a:extLst>
          </p:cNvPr>
          <p:cNvCxnSpPr>
            <a:endCxn id="10" idx="1"/>
          </p:cNvCxnSpPr>
          <p:nvPr/>
        </p:nvCxnSpPr>
        <p:spPr>
          <a:xfrm flipV="1">
            <a:off x="3522486" y="2810130"/>
            <a:ext cx="454204" cy="86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AA5B5CAD-71D0-FEC1-2F94-B8F34594094D}"/>
              </a:ext>
            </a:extLst>
          </p:cNvPr>
          <p:cNvSpPr txBox="1"/>
          <p:nvPr/>
        </p:nvSpPr>
        <p:spPr>
          <a:xfrm>
            <a:off x="3976690" y="2700484"/>
            <a:ext cx="792088" cy="219291"/>
          </a:xfrm>
          <a:prstGeom prst="rect">
            <a:avLst/>
          </a:prstGeom>
          <a:noFill/>
        </p:spPr>
        <p:txBody>
          <a:bodyPr wrap="square" lIns="36000" rIns="36000" rtlCol="0">
            <a:normAutofit fontScale="92500"/>
          </a:bodyPr>
          <a:lstStyle/>
          <a:p>
            <a:r>
              <a:rPr lang="en-US" sz="825" dirty="0"/>
              <a:t>Sum=1.73755586</a:t>
            </a: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E2668093-4EA0-06CB-780F-58B67A328E9A}"/>
              </a:ext>
            </a:extLst>
          </p:cNvPr>
          <p:cNvCxnSpPr>
            <a:stCxn id="10" idx="3"/>
          </p:cNvCxnSpPr>
          <p:nvPr/>
        </p:nvCxnSpPr>
        <p:spPr>
          <a:xfrm>
            <a:off x="4768778" y="2810130"/>
            <a:ext cx="4512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687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D035-BA2D-9B89-064D-C25AF6A5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893D320-7762-8B4B-0283-001C69A9E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54</a:t>
            </a:fld>
            <a:endParaRPr lang="en-US" sz="12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ABCCA9-5075-F829-2FC6-8E6C2732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A0D7C276-A058-CB33-A1D2-8D3884E62C8A}"/>
              </a:ext>
            </a:extLst>
          </p:cNvPr>
          <p:cNvGrpSpPr/>
          <p:nvPr/>
        </p:nvGrpSpPr>
        <p:grpSpPr>
          <a:xfrm>
            <a:off x="4644008" y="1412215"/>
            <a:ext cx="1963872" cy="2281544"/>
            <a:chOff x="5004048" y="2101442"/>
            <a:chExt cx="2618496" cy="3042058"/>
          </a:xfrm>
        </p:grpSpPr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BCF1BAC2-9D89-B4A2-8B38-17E52B628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7"/>
            <a:stretch/>
          </p:blipFill>
          <p:spPr bwMode="auto">
            <a:xfrm>
              <a:off x="5076056" y="2443469"/>
              <a:ext cx="2546488" cy="2700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AD1B10CB-8450-6D13-9BA2-FD31738EE617}"/>
                </a:ext>
              </a:extLst>
            </p:cNvPr>
            <p:cNvSpPr/>
            <p:nvPr/>
          </p:nvSpPr>
          <p:spPr>
            <a:xfrm>
              <a:off x="5364088" y="4731990"/>
              <a:ext cx="1008112" cy="144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Tekstvak 17">
              <a:extLst>
                <a:ext uri="{FF2B5EF4-FFF2-40B4-BE49-F238E27FC236}">
                  <a16:creationId xmlns:a16="http://schemas.microsoft.com/office/drawing/2014/main" id="{EA8526EA-7E60-E286-E1A1-35C35DBD9EC4}"/>
                </a:ext>
              </a:extLst>
            </p:cNvPr>
            <p:cNvSpPr txBox="1"/>
            <p:nvPr/>
          </p:nvSpPr>
          <p:spPr>
            <a:xfrm>
              <a:off x="5330180" y="4694321"/>
              <a:ext cx="674280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75" i="1" dirty="0"/>
                <a:t>v</a:t>
              </a:r>
              <a:r>
                <a:rPr lang="en-US" sz="675" dirty="0"/>
                <a:t> = </a:t>
              </a:r>
              <a:r>
                <a:rPr lang="en-US" sz="675" i="1" dirty="0"/>
                <a:t>j</a:t>
              </a:r>
              <a:r>
                <a:rPr lang="en-US" sz="675" dirty="0"/>
                <a:t> – </a:t>
              </a:r>
              <a:r>
                <a:rPr lang="en-US" sz="675" i="1" dirty="0"/>
                <a:t>i</a:t>
              </a:r>
              <a:r>
                <a:rPr lang="en-US" sz="675" dirty="0"/>
                <a:t> :</a:t>
              </a:r>
              <a:endParaRPr lang="en-US" sz="900" dirty="0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D50C7DC5-ABC8-C362-0CCC-7EFABF6FA830}"/>
                </a:ext>
              </a:extLst>
            </p:cNvPr>
            <p:cNvSpPr/>
            <p:nvPr/>
          </p:nvSpPr>
          <p:spPr>
            <a:xfrm>
              <a:off x="5004048" y="2101442"/>
              <a:ext cx="165960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/>
              <a:r>
                <a:rPr lang="en-US" dirty="0">
                  <a:solidFill>
                    <a:srgbClr val="271D6C"/>
                  </a:solidFill>
                </a:rPr>
                <a:t>Cumulative</a:t>
              </a:r>
              <a:endParaRPr lang="en-US" sz="1350" dirty="0">
                <a:solidFill>
                  <a:srgbClr val="271D6C"/>
                </a:solidFill>
              </a:endParaRPr>
            </a:p>
          </p:txBody>
        </p:sp>
      </p:grpSp>
      <p:graphicFrame>
        <p:nvGraphicFramePr>
          <p:cNvPr id="20" name="Inhaltsplatzhalter 4">
            <a:extLst>
              <a:ext uri="{FF2B5EF4-FFF2-40B4-BE49-F238E27FC236}">
                <a16:creationId xmlns:a16="http://schemas.microsoft.com/office/drawing/2014/main" id="{A561395B-01F8-A0F4-97F6-A8258D42F3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221284"/>
              </p:ext>
            </p:extLst>
          </p:nvPr>
        </p:nvGraphicFramePr>
        <p:xfrm>
          <a:off x="1977799" y="1530765"/>
          <a:ext cx="1714474" cy="227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17">
                  <a:extLst>
                    <a:ext uri="{9D8B030D-6E8A-4147-A177-3AD203B41FA5}">
                      <a16:colId xmlns:a16="http://schemas.microsoft.com/office/drawing/2014/main" val="631792773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1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Cell</a:t>
                      </a:r>
                      <a:r>
                        <a:rPr lang="de-DE" sz="8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Key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0.73611646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0.53206947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0.21194429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0.99210270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0.70435560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0.96679974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0.73755586</a:t>
                      </a:r>
                    </a:p>
                  </a:txBody>
                  <a:tcPr marL="7144" marR="7144" marT="714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0.03176086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0.56526973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0.47438843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250"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0.99210270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" name="Ovaal 20">
            <a:extLst>
              <a:ext uri="{FF2B5EF4-FFF2-40B4-BE49-F238E27FC236}">
                <a16:creationId xmlns:a16="http://schemas.microsoft.com/office/drawing/2014/main" id="{F638E5A0-9BF8-E2CB-76DF-991A23F72F78}"/>
              </a:ext>
            </a:extLst>
          </p:cNvPr>
          <p:cNvSpPr>
            <a:spLocks noChangeAspect="1"/>
          </p:cNvSpPr>
          <p:nvPr/>
        </p:nvSpPr>
        <p:spPr>
          <a:xfrm>
            <a:off x="2736320" y="279572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124B292F-9517-D45F-5307-B816058BF13A}"/>
              </a:ext>
            </a:extLst>
          </p:cNvPr>
          <p:cNvSpPr/>
          <p:nvPr/>
        </p:nvSpPr>
        <p:spPr>
          <a:xfrm>
            <a:off x="4817481" y="206663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561CF559-ED4F-325A-47D5-9A384F78217D}"/>
              </a:ext>
            </a:extLst>
          </p:cNvPr>
          <p:cNvCxnSpPr>
            <a:stCxn id="21" idx="6"/>
            <a:endCxn id="22" idx="2"/>
          </p:cNvCxnSpPr>
          <p:nvPr/>
        </p:nvCxnSpPr>
        <p:spPr>
          <a:xfrm flipV="1">
            <a:off x="2880320" y="2138638"/>
            <a:ext cx="1937161" cy="729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226CC536-F54A-43BF-A197-30E2065A0106}"/>
              </a:ext>
            </a:extLst>
          </p:cNvPr>
          <p:cNvCxnSpPr/>
          <p:nvPr/>
        </p:nvCxnSpPr>
        <p:spPr>
          <a:xfrm flipV="1">
            <a:off x="6088194" y="1747105"/>
            <a:ext cx="0" cy="1249066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DC9657CC-52EC-7F65-017A-A8B3AF8D8BD6}"/>
              </a:ext>
            </a:extLst>
          </p:cNvPr>
          <p:cNvCxnSpPr/>
          <p:nvPr/>
        </p:nvCxnSpPr>
        <p:spPr>
          <a:xfrm>
            <a:off x="3692274" y="2867729"/>
            <a:ext cx="2395920" cy="160216"/>
          </a:xfrm>
          <a:prstGeom prst="line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B45A6198-A58B-9118-34BF-716B8AC6BEA4}"/>
              </a:ext>
            </a:extLst>
          </p:cNvPr>
          <p:cNvCxnSpPr/>
          <p:nvPr/>
        </p:nvCxnSpPr>
        <p:spPr>
          <a:xfrm flipH="1">
            <a:off x="6119522" y="2120644"/>
            <a:ext cx="108012" cy="13979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8499C8D2-A4B0-6173-551D-C807368CEA9D}"/>
              </a:ext>
            </a:extLst>
          </p:cNvPr>
          <p:cNvSpPr txBox="1"/>
          <p:nvPr/>
        </p:nvSpPr>
        <p:spPr>
          <a:xfrm>
            <a:off x="4767609" y="3922893"/>
            <a:ext cx="15661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271D6C"/>
                </a:solidFill>
              </a:rPr>
              <a:t>(M, B): </a:t>
            </a:r>
            <a:r>
              <a:rPr lang="en-US" sz="1350" i="1" dirty="0">
                <a:solidFill>
                  <a:srgbClr val="271D6C"/>
                </a:solidFill>
              </a:rPr>
              <a:t>j</a:t>
            </a:r>
            <a:r>
              <a:rPr lang="en-US" sz="1350" dirty="0">
                <a:solidFill>
                  <a:srgbClr val="271D6C"/>
                </a:solidFill>
              </a:rPr>
              <a:t> = </a:t>
            </a:r>
            <a:r>
              <a:rPr lang="en-US" sz="1350" i="1" dirty="0">
                <a:solidFill>
                  <a:srgbClr val="271D6C"/>
                </a:solidFill>
              </a:rPr>
              <a:t>i</a:t>
            </a:r>
            <a:r>
              <a:rPr lang="en-US" sz="1350" dirty="0">
                <a:solidFill>
                  <a:srgbClr val="271D6C"/>
                </a:solidFill>
              </a:rPr>
              <a:t> + 1 = 4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54B81906-74AF-32EF-4AE2-EC1032620013}"/>
              </a:ext>
            </a:extLst>
          </p:cNvPr>
          <p:cNvSpPr txBox="1"/>
          <p:nvPr/>
        </p:nvSpPr>
        <p:spPr>
          <a:xfrm>
            <a:off x="1998707" y="3927852"/>
            <a:ext cx="9918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271D6C"/>
                </a:solidFill>
              </a:rPr>
              <a:t>(M, B): </a:t>
            </a:r>
            <a:r>
              <a:rPr lang="en-US" sz="1350" i="1" dirty="0">
                <a:solidFill>
                  <a:srgbClr val="271D6C"/>
                </a:solidFill>
              </a:rPr>
              <a:t>i</a:t>
            </a:r>
            <a:r>
              <a:rPr lang="en-US" sz="1350" dirty="0">
                <a:solidFill>
                  <a:srgbClr val="271D6C"/>
                </a:solidFill>
              </a:rPr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27923036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5571-DA50-663E-DB1C-CAA9392B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76D3330-5EA6-A6CB-0579-FED8E33997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55</a:t>
            </a:fld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D3877A69-6A65-C2DA-4A38-A90D799AD2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Characteristics of CKM:</a:t>
                </a:r>
              </a:p>
              <a:p>
                <a:r>
                  <a:rPr lang="en-US" dirty="0"/>
                  <a:t>Can be adjusted to apply to magnitude tables</a:t>
                </a:r>
              </a:p>
              <a:p>
                <a:r>
                  <a:rPr lang="en-US" dirty="0"/>
                  <a:t>Consistency over tables (same cell, same noise)</a:t>
                </a:r>
              </a:p>
              <a:p>
                <a:r>
                  <a:rPr lang="en-US" dirty="0"/>
                  <a:t>Non additive tables (but smaller “error” in totals)</a:t>
                </a:r>
              </a:p>
              <a:p>
                <a:r>
                  <a:rPr lang="en-US" dirty="0"/>
                  <a:t>Can be made additive, but loose consistency</a:t>
                </a:r>
              </a:p>
              <a:p>
                <a:r>
                  <a:rPr lang="en-US" dirty="0"/>
                  <a:t>Can be seen as an 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-DP method</a:t>
                </a:r>
              </a:p>
            </p:txBody>
          </p:sp>
        </mc:Choice>
        <mc:Fallback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D3877A69-6A65-C2DA-4A38-A90D799AD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278" t="-14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D0D5C16-2FE4-DB62-C14E-A61E2918C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31140299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47AD-E0C5-D57C-D7D0-0576F07B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8B3985E-8881-7827-5163-D5BA123AA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56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D5B29EB-9F64-A64F-C120-89E073E3D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check risk measures and apply methods: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l-GR" dirty="0"/>
              <a:t>τ</a:t>
            </a:r>
            <a:r>
              <a:rPr lang="en-US" dirty="0"/>
              <a:t>-</a:t>
            </a:r>
            <a:r>
              <a:rPr lang="en-US" cap="small" dirty="0"/>
              <a:t>argus</a:t>
            </a:r>
            <a:r>
              <a:rPr lang="en-US" dirty="0"/>
              <a:t> (stand alone software)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000" dirty="0" err="1">
                <a:latin typeface="Lucida Console" panose="020B0609040504020204" pitchFamily="49" charset="0"/>
              </a:rPr>
              <a:t>sdcTable</a:t>
            </a:r>
            <a:r>
              <a:rPr lang="en-US" dirty="0"/>
              <a:t> (R-package)</a:t>
            </a:r>
          </a:p>
          <a:p>
            <a:pPr marL="0" indent="0">
              <a:buNone/>
            </a:pPr>
            <a:r>
              <a:rPr lang="en-US" sz="2000" dirty="0" err="1">
                <a:latin typeface="Lucida Console" panose="020B0609040504020204" pitchFamily="49" charset="0"/>
              </a:rPr>
              <a:t>rtauargus</a:t>
            </a:r>
            <a:r>
              <a:rPr lang="en-US" dirty="0"/>
              <a:t> (R-package)</a:t>
            </a:r>
          </a:p>
          <a:p>
            <a:pPr marL="0" indent="0">
              <a:buNone/>
            </a:pPr>
            <a:r>
              <a:rPr lang="en-US" sz="2000" dirty="0" err="1">
                <a:latin typeface="Lucida Console" panose="020B0609040504020204" pitchFamily="49" charset="0"/>
              </a:rPr>
              <a:t>GaussSuppression</a:t>
            </a:r>
            <a:r>
              <a:rPr lang="en-US" dirty="0"/>
              <a:t> (R-package)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7F9349C-1BC7-D745-6B26-DC9D1ADEC1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0DF403B5-612E-5616-D201-C16DD72B14B5}"/>
              </a:ext>
            </a:extLst>
          </p:cNvPr>
          <p:cNvSpPr/>
          <p:nvPr/>
        </p:nvSpPr>
        <p:spPr>
          <a:xfrm>
            <a:off x="2074234" y="4155926"/>
            <a:ext cx="4419468" cy="409830"/>
          </a:xfrm>
          <a:prstGeom prst="rect">
            <a:avLst/>
          </a:prstGeom>
          <a:solidFill>
            <a:schemeClr val="bg1"/>
          </a:solidFill>
          <a:effectLst>
            <a:outerShdw blurRad="76200" dir="18900000" sy="23000" kx="-1200000" algn="b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08041">
              <a:spcBef>
                <a:spcPct val="20000"/>
              </a:spcBef>
              <a:defRPr/>
            </a:pPr>
            <a:r>
              <a:rPr lang="en-US" sz="2000" i="1" spc="40" dirty="0">
                <a:solidFill>
                  <a:srgbClr val="271D6C"/>
                </a:solidFill>
                <a:latin typeface="Calibri" pitchFamily="34" charset="0"/>
                <a:hlinkClick r:id="rId2"/>
              </a:rPr>
              <a:t>https://github.com/sdctools</a:t>
            </a:r>
            <a:r>
              <a:rPr lang="en-US" sz="2000" i="1" spc="40" dirty="0">
                <a:solidFill>
                  <a:srgbClr val="271D6C"/>
                </a:solidFill>
                <a:latin typeface="Calibri" pitchFamily="34" charset="0"/>
              </a:rPr>
              <a:t> </a:t>
            </a:r>
          </a:p>
        </p:txBody>
      </p:sp>
      <p:pic>
        <p:nvPicPr>
          <p:cNvPr id="6" name="Afbeelding 5" descr="Afbeelding met Graphics, symbool, grafische vormgeving, Lettertype&#10;&#10;Door AI gegenereerde inhoud is mogelijk onjuist.">
            <a:extLst>
              <a:ext uri="{FF2B5EF4-FFF2-40B4-BE49-F238E27FC236}">
                <a16:creationId xmlns:a16="http://schemas.microsoft.com/office/drawing/2014/main" id="{249AB854-25ED-0EB2-F222-85E67266AC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472" y="2859782"/>
            <a:ext cx="745609" cy="577744"/>
          </a:xfrm>
          <a:prstGeom prst="rect">
            <a:avLst/>
          </a:prstGeom>
        </p:spPr>
      </p:pic>
      <p:pic>
        <p:nvPicPr>
          <p:cNvPr id="8" name="Afbeelding 7" descr="Afbeelding met sport, symbool, cirkel&#10;&#10;Door AI gegenereerde inhoud is mogelijk onjuist.">
            <a:extLst>
              <a:ext uri="{FF2B5EF4-FFF2-40B4-BE49-F238E27FC236}">
                <a16:creationId xmlns:a16="http://schemas.microsoft.com/office/drawing/2014/main" id="{21CEF993-9D8D-6086-2D0E-F54392A58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803752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952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0701823-E9D7-5BC8-CC13-C25E52B1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>
                <a:solidFill>
                  <a:schemeClr val="bg1"/>
                </a:solidFill>
              </a:rPr>
              <a:pPr algn="ctr"/>
              <a:t>57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9E44E8-67F3-1515-D2D1-91848071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35456269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1F152F2-677E-78D8-9699-BB43BFD01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58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554AAA6-E093-611A-895E-E151B41548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Check results that </a:t>
            </a:r>
            <a:r>
              <a:rPr lang="en-US" b="1" dirty="0">
                <a:solidFill>
                  <a:srgbClr val="00B0F0"/>
                </a:solidFill>
              </a:rPr>
              <a:t>leave</a:t>
            </a:r>
            <a:r>
              <a:rPr lang="en-US" dirty="0"/>
              <a:t> the NSI</a:t>
            </a:r>
          </a:p>
          <a:p>
            <a:endParaRPr lang="en-US" dirty="0"/>
          </a:p>
          <a:p>
            <a:r>
              <a:rPr lang="en-US" dirty="0"/>
              <a:t>On-site: intermediate and final</a:t>
            </a:r>
          </a:p>
          <a:p>
            <a:r>
              <a:rPr lang="en-US" dirty="0"/>
              <a:t>Remote access: (intermediate and) final</a:t>
            </a:r>
          </a:p>
          <a:p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0E88EE-006F-770A-55E6-16369E5C77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  <p:pic>
        <p:nvPicPr>
          <p:cNvPr id="8" name="Picture 2" descr="Mission : Impossible - The Final Reckoning » : notre désir de progrès  va-t-il nous mener à notre perte ?">
            <a:extLst>
              <a:ext uri="{FF2B5EF4-FFF2-40B4-BE49-F238E27FC236}">
                <a16:creationId xmlns:a16="http://schemas.microsoft.com/office/drawing/2014/main" id="{C590CE7D-CAAD-7F83-E8AA-8CE6FD200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670" y="847482"/>
            <a:ext cx="2815824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8602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B036-9DD3-E169-023A-596063C8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6C99C95-23DA-D2F9-F545-B8EE3B845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59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19FD561-448C-3054-31B6-13E6539B46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Output of OS/RA can be everything…</a:t>
            </a:r>
          </a:p>
          <a:p>
            <a:endParaRPr lang="en-US" sz="200" dirty="0"/>
          </a:p>
          <a:p>
            <a:pPr>
              <a:tabLst>
                <a:tab pos="442913" algn="l"/>
              </a:tabLst>
            </a:pPr>
            <a:r>
              <a:rPr lang="en-US" sz="2200" dirty="0"/>
              <a:t>	Traditional output (tables)</a:t>
            </a:r>
          </a:p>
          <a:p>
            <a:pPr>
              <a:tabLst>
                <a:tab pos="442913" algn="l"/>
              </a:tabLst>
            </a:pPr>
            <a:r>
              <a:rPr lang="en-US" sz="2200" dirty="0"/>
              <a:t>	Descriptive statistics</a:t>
            </a:r>
          </a:p>
          <a:p>
            <a:pPr>
              <a:tabLst>
                <a:tab pos="442913" algn="l"/>
              </a:tabLst>
            </a:pPr>
            <a:r>
              <a:rPr lang="en-US" sz="2200" dirty="0"/>
              <a:t>	Output of many analyses, e.g.,</a:t>
            </a:r>
          </a:p>
          <a:p>
            <a:pPr lvl="1" defTabSz="269875"/>
            <a:r>
              <a:rPr lang="en-US" sz="2200" dirty="0"/>
              <a:t>		(Non)-linear regression</a:t>
            </a:r>
          </a:p>
          <a:p>
            <a:pPr lvl="1" defTabSz="269875"/>
            <a:r>
              <a:rPr lang="en-US" sz="2200" dirty="0"/>
              <a:t>		Factor analysis</a:t>
            </a:r>
          </a:p>
          <a:p>
            <a:pPr lvl="1" defTabSz="269875"/>
            <a:r>
              <a:rPr lang="en-US" sz="2200" dirty="0"/>
              <a:t>		Correspondence analysis</a:t>
            </a:r>
          </a:p>
          <a:p>
            <a:pPr lvl="1" defTabSz="269875"/>
            <a:r>
              <a:rPr lang="en-US" sz="2200" dirty="0"/>
              <a:t>		…</a:t>
            </a:r>
          </a:p>
          <a:p>
            <a:pPr defTabSz="442913"/>
            <a:r>
              <a:rPr lang="en-US" sz="2200" dirty="0"/>
              <a:t>	Graphics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2D9BA3-DBA8-0734-B2AA-B95642116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882BD06-7982-677A-79C8-E46817508CBA}"/>
              </a:ext>
            </a:extLst>
          </p:cNvPr>
          <p:cNvSpPr txBox="1"/>
          <p:nvPr/>
        </p:nvSpPr>
        <p:spPr>
          <a:xfrm rot="20569506">
            <a:off x="2922016" y="3398491"/>
            <a:ext cx="6255794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400" spc="40" dirty="0">
                <a:solidFill>
                  <a:srgbClr val="271D6C"/>
                </a:solidFill>
                <a:latin typeface="Calibri" pitchFamily="34" charset="0"/>
              </a:rPr>
              <a:t>Set of rules that covers every possible output?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CE13BE0-F9CA-D978-5528-146686A35D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699012"/>
            <a:ext cx="1224136" cy="12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34E32-DB6E-A264-D714-2B9C66B0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2D462E0-43AB-1581-46F9-A8A5D51CA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60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A58C17-0B1E-1681-6E5B-021DD60404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Examples of “problems”</a:t>
            </a:r>
          </a:p>
          <a:p>
            <a:endParaRPr lang="en-US" sz="1050" b="1" dirty="0"/>
          </a:p>
          <a:p>
            <a:r>
              <a:rPr lang="en-US" sz="2000" b="1" dirty="0"/>
              <a:t>Extreme values (max, min)</a:t>
            </a:r>
          </a:p>
          <a:p>
            <a:pPr lvl="1"/>
            <a:r>
              <a:rPr lang="en-US" sz="2000" dirty="0"/>
              <a:t>Often extremes belong to (unique) identifiable units</a:t>
            </a:r>
          </a:p>
          <a:p>
            <a:pPr lvl="1"/>
            <a:r>
              <a:rPr lang="en-US" sz="2000" dirty="0"/>
              <a:t>Extremes are very visible</a:t>
            </a:r>
          </a:p>
          <a:p>
            <a:r>
              <a:rPr lang="en-US" sz="2000" b="1" dirty="0"/>
              <a:t>Mean</a:t>
            </a:r>
          </a:p>
          <a:p>
            <a:pPr lvl="1"/>
            <a:r>
              <a:rPr lang="en-US" sz="2000" dirty="0"/>
              <a:t>Single respondent?</a:t>
            </a:r>
          </a:p>
          <a:p>
            <a:pPr lvl="1"/>
            <a:r>
              <a:rPr lang="en-US" sz="2000" dirty="0"/>
              <a:t>Two respondents?</a:t>
            </a:r>
          </a:p>
          <a:p>
            <a:pPr lvl="1"/>
            <a:r>
              <a:rPr lang="en-US" sz="2000" dirty="0"/>
              <a:t>Dominating respondent?</a:t>
            </a:r>
          </a:p>
          <a:p>
            <a:pPr lvl="1"/>
            <a:r>
              <a:rPr lang="en-US" sz="2000" dirty="0"/>
              <a:t>Group disclosure?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10A8A73-74F3-059D-0E7B-C426905509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15631265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3D7B-EF74-8316-898D-67D8253B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00ADEC7-11A5-D6DC-8AC1-1CCC53410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61</a:t>
            </a:fld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8F7FD351-1A6F-6DBF-BA10-3123450962A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Linear regression</a:t>
                </a:r>
              </a:p>
              <a:p>
                <a:pPr lvl="1"/>
                <a:r>
                  <a:rPr lang="en-US" sz="2400" dirty="0"/>
                  <a:t>Apply regression twice, second time with deletion or addition of a single observation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Subtract the estimated regression coefficients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en-US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lvl="1"/>
                <a:r>
                  <a:rPr lang="en-US" sz="2400" dirty="0"/>
                  <a:t>May lead to information about individual values in case of</a:t>
                </a:r>
              </a:p>
              <a:p>
                <a:pPr lvl="1"/>
                <a:r>
                  <a:rPr lang="en-US" sz="2400" dirty="0"/>
                  <a:t>	Known means of one regression</a:t>
                </a:r>
              </a:p>
              <a:p>
                <a:pPr lvl="1"/>
                <a:r>
                  <a:rPr lang="en-US" sz="2400" dirty="0"/>
                  <a:t>	Binary explanatory variables</a:t>
                </a:r>
              </a:p>
              <a:p>
                <a:pPr lvl="1"/>
                <a:r>
                  <a:rPr lang="en-US" sz="2400" dirty="0"/>
                  <a:t>	Binary dependent variable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8F7FD351-1A6F-6DBF-BA10-312345096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879" t="-2326" b="-24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D07297F-DE00-632C-75C5-AA32A7CE4E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14070258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34DF-BAEA-8ACB-D6F0-D4B0DFC7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14F1F08-F680-B2EF-AD8C-ABD54C32C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62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BB0F8A-C97A-CFCC-5E37-87ADEB0397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2000" b="1" dirty="0"/>
              <a:t>Graphics</a:t>
            </a:r>
          </a:p>
          <a:p>
            <a:endParaRPr lang="nl-NL" dirty="0"/>
          </a:p>
          <a:p>
            <a:pPr lvl="1">
              <a:lnSpc>
                <a:spcPct val="80000"/>
              </a:lnSpc>
            </a:pPr>
            <a:r>
              <a:rPr lang="nl-NL" sz="2000" dirty="0" err="1"/>
              <a:t>Possible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identify</a:t>
            </a:r>
            <a:r>
              <a:rPr lang="nl-NL" sz="2000" dirty="0"/>
              <a:t> </a:t>
            </a:r>
            <a:r>
              <a:rPr lang="nl-NL" sz="2000" dirty="0" err="1"/>
              <a:t>individual</a:t>
            </a:r>
            <a:r>
              <a:rPr lang="nl-NL" sz="2000" dirty="0"/>
              <a:t> respondent?</a:t>
            </a:r>
          </a:p>
          <a:p>
            <a:pPr lvl="1">
              <a:lnSpc>
                <a:spcPct val="80000"/>
              </a:lnSpc>
            </a:pPr>
            <a:r>
              <a:rPr lang="nl-NL" sz="2000" dirty="0" err="1"/>
              <a:t>Outliers</a:t>
            </a:r>
            <a:r>
              <a:rPr lang="nl-NL" sz="2000" dirty="0"/>
              <a:t> present?</a:t>
            </a:r>
          </a:p>
          <a:p>
            <a:pPr lvl="1">
              <a:lnSpc>
                <a:spcPct val="80000"/>
              </a:lnSpc>
            </a:pPr>
            <a:r>
              <a:rPr lang="nl-NL" sz="2000" dirty="0"/>
              <a:t>Is </a:t>
            </a:r>
            <a:r>
              <a:rPr lang="nl-NL" sz="2000" dirty="0" err="1"/>
              <a:t>underlying</a:t>
            </a:r>
            <a:r>
              <a:rPr lang="nl-NL" sz="2000" dirty="0"/>
              <a:t> data safe?</a:t>
            </a:r>
          </a:p>
          <a:p>
            <a:pPr lvl="1">
              <a:lnSpc>
                <a:spcPct val="80000"/>
              </a:lnSpc>
            </a:pPr>
            <a:r>
              <a:rPr lang="nl-NL" sz="2000" dirty="0"/>
              <a:t>Does picture have “data </a:t>
            </a:r>
            <a:r>
              <a:rPr lang="nl-NL" sz="2000" dirty="0" err="1"/>
              <a:t>embedded</a:t>
            </a:r>
            <a:r>
              <a:rPr lang="nl-NL" sz="2000" dirty="0"/>
              <a:t>”?</a:t>
            </a:r>
          </a:p>
          <a:p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31A9EB-A891-1541-493B-44C44E11AD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2293409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A36D9-896B-A02D-A571-611C6AD0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9D78721-DB8E-5870-D0C6-F4BA1B8B4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63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DB04658-F26E-5CF7-9DA2-7F95DA4596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313" y="1203598"/>
            <a:ext cx="8064127" cy="3455715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00B0F0"/>
                </a:solidFill>
              </a:rPr>
              <a:t>Guidelines</a:t>
            </a:r>
          </a:p>
          <a:p>
            <a:pPr marL="0" indent="0">
              <a:buNone/>
            </a:pPr>
            <a:r>
              <a:rPr lang="en-US" sz="2000" dirty="0"/>
              <a:t>Started as deliverable of </a:t>
            </a:r>
          </a:p>
          <a:p>
            <a:pPr marL="0" indent="0">
              <a:buNone/>
            </a:pPr>
            <a:r>
              <a:rPr lang="en-US" sz="2000" i="1" dirty="0" err="1"/>
              <a:t>ESSnet</a:t>
            </a:r>
            <a:r>
              <a:rPr lang="en-US" sz="2000" i="1" dirty="0"/>
              <a:t> on common tools and </a:t>
            </a:r>
            <a:r>
              <a:rPr lang="en-US" sz="2000" i="1" dirty="0" err="1"/>
              <a:t>harmonised</a:t>
            </a:r>
            <a:r>
              <a:rPr lang="en-US" sz="2000" i="1" dirty="0"/>
              <a:t> methodology for SDC in the ESS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000" dirty="0"/>
              <a:t>Included in Wiley book </a:t>
            </a:r>
          </a:p>
          <a:p>
            <a:pPr marL="0" indent="0">
              <a:buNone/>
            </a:pPr>
            <a:r>
              <a:rPr lang="en-US" sz="2000" i="1" dirty="0"/>
              <a:t>Statistical Disclosure Control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000" dirty="0"/>
              <a:t>Improved upon and extended in FP7</a:t>
            </a:r>
          </a:p>
          <a:p>
            <a:pPr marL="0" indent="0">
              <a:buNone/>
            </a:pPr>
            <a:r>
              <a:rPr lang="en-US" sz="2000" i="1" dirty="0"/>
              <a:t>Data without Boundaries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C81EAA-BF62-B330-7DD2-D4505A5BF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34729808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E7A1-195E-032D-BAF2-A85703C7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8E642CD-C28D-0BE3-C4CF-1633345A0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64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1D64FE4-EDB7-505D-53F7-1D7D26CE3C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Types of error with output checking:</a:t>
            </a:r>
          </a:p>
          <a:p>
            <a:endParaRPr lang="en-GB" dirty="0"/>
          </a:p>
          <a:p>
            <a:pPr marL="342900" indent="-342900">
              <a:buFont typeface="Calibri" pitchFamily="34" charset="0"/>
              <a:buChar char="─"/>
            </a:pPr>
            <a:r>
              <a:rPr lang="en-GB" dirty="0"/>
              <a:t>Releasing disclosive output</a:t>
            </a:r>
          </a:p>
          <a:p>
            <a:pPr marL="342900" indent="-342900">
              <a:buFont typeface="Calibri" pitchFamily="34" charset="0"/>
              <a:buChar char="─"/>
            </a:pPr>
            <a:endParaRPr lang="en-GB" dirty="0"/>
          </a:p>
          <a:p>
            <a:pPr marL="342900" indent="-342900">
              <a:buFont typeface="Calibri" pitchFamily="34" charset="0"/>
              <a:buChar char="─"/>
            </a:pPr>
            <a:r>
              <a:rPr lang="en-GB" dirty="0"/>
              <a:t>Not releasing safe output</a:t>
            </a:r>
          </a:p>
          <a:p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697085D-BD5D-BF21-47EC-14071F12F3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8248146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0454-10F7-F765-D58F-8832474E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6C70838-92D1-D38E-799F-D5C2FF812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65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B1E5A65-A12E-A29C-8A06-CD210AEACA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Two</a:t>
            </a:r>
            <a:r>
              <a:rPr lang="nl-NL" dirty="0"/>
              <a:t> model approach:</a:t>
            </a:r>
          </a:p>
          <a:p>
            <a:pPr defTabSz="361950"/>
            <a:r>
              <a:rPr lang="nl-NL" dirty="0"/>
              <a:t>	</a:t>
            </a:r>
          </a:p>
          <a:p>
            <a:pPr defTabSz="361950"/>
            <a:r>
              <a:rPr lang="nl-NL" dirty="0"/>
              <a:t>	</a:t>
            </a:r>
            <a:r>
              <a:rPr lang="nl-NL" b="1" dirty="0" err="1">
                <a:solidFill>
                  <a:srgbClr val="0070C0"/>
                </a:solidFill>
              </a:rPr>
              <a:t>Rule</a:t>
            </a:r>
            <a:r>
              <a:rPr lang="nl-NL" b="1" dirty="0">
                <a:solidFill>
                  <a:srgbClr val="0070C0"/>
                </a:solidFill>
              </a:rPr>
              <a:t>-of-</a:t>
            </a:r>
            <a:r>
              <a:rPr lang="nl-NL" b="1" dirty="0" err="1">
                <a:solidFill>
                  <a:srgbClr val="0070C0"/>
                </a:solidFill>
              </a:rPr>
              <a:t>thumb</a:t>
            </a:r>
            <a:endParaRPr lang="nl-NL" b="1" dirty="0">
              <a:solidFill>
                <a:srgbClr val="0070C0"/>
              </a:solidFill>
            </a:endParaRPr>
          </a:p>
          <a:p>
            <a:pPr defTabSz="447675"/>
            <a:r>
              <a:rPr lang="nl-NL" dirty="0"/>
              <a:t>		(</a:t>
            </a:r>
            <a:r>
              <a:rPr lang="nl-NL" b="1" dirty="0" err="1"/>
              <a:t>simple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make a first </a:t>
            </a:r>
            <a:r>
              <a:rPr lang="nl-NL" dirty="0" err="1"/>
              <a:t>distinction</a:t>
            </a:r>
            <a:r>
              <a:rPr lang="nl-NL" dirty="0"/>
              <a:t> </a:t>
            </a:r>
            <a:r>
              <a:rPr lang="nl-NL" dirty="0" err="1"/>
              <a:t>between</a:t>
            </a:r>
            <a:endParaRPr lang="nl-NL" dirty="0"/>
          </a:p>
          <a:p>
            <a:pPr defTabSz="447675"/>
            <a:r>
              <a:rPr lang="nl-NL" dirty="0"/>
              <a:t>		 safe output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potentially</a:t>
            </a:r>
            <a:r>
              <a:rPr lang="nl-NL" dirty="0"/>
              <a:t> </a:t>
            </a:r>
            <a:r>
              <a:rPr lang="nl-NL" dirty="0" err="1"/>
              <a:t>unsafe</a:t>
            </a:r>
            <a:r>
              <a:rPr lang="nl-NL" dirty="0"/>
              <a:t> output)</a:t>
            </a:r>
          </a:p>
          <a:p>
            <a:pPr defTabSz="361950"/>
            <a:r>
              <a:rPr lang="nl-NL" dirty="0"/>
              <a:t>	</a:t>
            </a:r>
          </a:p>
          <a:p>
            <a:pPr defTabSz="361950"/>
            <a:r>
              <a:rPr lang="nl-NL" dirty="0"/>
              <a:t>	</a:t>
            </a:r>
            <a:r>
              <a:rPr lang="nl-NL" b="1" dirty="0" err="1">
                <a:solidFill>
                  <a:srgbClr val="0070C0"/>
                </a:solidFill>
              </a:rPr>
              <a:t>Principle</a:t>
            </a:r>
            <a:r>
              <a:rPr lang="nl-NL" b="1" dirty="0">
                <a:solidFill>
                  <a:srgbClr val="0070C0"/>
                </a:solidFill>
              </a:rPr>
              <a:t> </a:t>
            </a:r>
            <a:r>
              <a:rPr lang="nl-NL" b="1" dirty="0" err="1">
                <a:solidFill>
                  <a:srgbClr val="0070C0"/>
                </a:solidFill>
              </a:rPr>
              <a:t>Based</a:t>
            </a:r>
            <a:r>
              <a:rPr lang="nl-NL" b="1" dirty="0">
                <a:solidFill>
                  <a:srgbClr val="0070C0"/>
                </a:solidFill>
              </a:rPr>
              <a:t> </a:t>
            </a:r>
          </a:p>
          <a:p>
            <a:pPr defTabSz="447675"/>
            <a:r>
              <a:rPr lang="nl-NL" dirty="0"/>
              <a:t>		(</a:t>
            </a:r>
            <a:r>
              <a:rPr lang="nl-NL" dirty="0" err="1"/>
              <a:t>further</a:t>
            </a:r>
            <a:r>
              <a:rPr lang="nl-NL" dirty="0"/>
              <a:t> check </a:t>
            </a:r>
            <a:r>
              <a:rPr lang="nl-NL" dirty="0" err="1"/>
              <a:t>potentially</a:t>
            </a:r>
            <a:r>
              <a:rPr lang="nl-NL" dirty="0"/>
              <a:t> </a:t>
            </a:r>
            <a:r>
              <a:rPr lang="nl-NL" dirty="0" err="1"/>
              <a:t>unsafe</a:t>
            </a:r>
            <a:r>
              <a:rPr lang="nl-NL" dirty="0"/>
              <a:t> output)</a:t>
            </a:r>
          </a:p>
          <a:p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CDB273B-F2E7-29AB-3F7A-7A86AA58F3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43B110D8-C57E-56C2-B5DD-32330522CCCC}"/>
              </a:ext>
            </a:extLst>
          </p:cNvPr>
          <p:cNvGrpSpPr>
            <a:grpSpLocks noChangeAspect="1"/>
          </p:cNvGrpSpPr>
          <p:nvPr/>
        </p:nvGrpSpPr>
        <p:grpSpPr>
          <a:xfrm>
            <a:off x="2987824" y="1851670"/>
            <a:ext cx="724520" cy="458594"/>
            <a:chOff x="2423895" y="1851670"/>
            <a:chExt cx="579616" cy="366875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8227C8B6-529E-7B7C-9450-3D1865065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708920" y="1851670"/>
              <a:ext cx="294591" cy="366875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378A4F8A-0A55-793E-D0B9-27E091E9B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423895" y="1851670"/>
              <a:ext cx="285025" cy="353487"/>
            </a:xfrm>
            <a:prstGeom prst="rect">
              <a:avLst/>
            </a:prstGeom>
          </p:spPr>
        </p:pic>
      </p:grp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A49094B-95F2-12A1-E54F-E3A1ADEE27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495" y="3579862"/>
            <a:ext cx="675409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36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438C-D12D-3A71-F611-EFCBC4B2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7427F9C-6DB9-5206-755E-74C19007B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66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30D286-C892-4194-D8F4-C077650C8C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Practical issues</a:t>
            </a:r>
          </a:p>
          <a:p>
            <a:r>
              <a:rPr lang="en-GB" dirty="0"/>
              <a:t>SDC awareness of researcher</a:t>
            </a:r>
          </a:p>
          <a:p>
            <a:r>
              <a:rPr lang="en-GB" dirty="0"/>
              <a:t>Joint responsibility of researcher and NSI</a:t>
            </a:r>
          </a:p>
          <a:p>
            <a:r>
              <a:rPr lang="en-GB" dirty="0"/>
              <a:t>Output checking is context specific</a:t>
            </a:r>
          </a:p>
          <a:p>
            <a:pPr lvl="1"/>
            <a:r>
              <a:rPr lang="en-GB" sz="2400" dirty="0"/>
              <a:t>Check by SDC-expert and context-expert</a:t>
            </a:r>
          </a:p>
          <a:p>
            <a:endParaRPr lang="en-GB" sz="1200" dirty="0"/>
          </a:p>
          <a:p>
            <a:r>
              <a:rPr lang="en-GB" dirty="0"/>
              <a:t>Consistency between checkers</a:t>
            </a:r>
          </a:p>
          <a:p>
            <a:endParaRPr lang="en-GB" sz="1200" dirty="0"/>
          </a:p>
          <a:p>
            <a:r>
              <a:rPr lang="en-GB" dirty="0"/>
              <a:t>Costs and time-limits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AC6FCE3-C53C-B8E9-69C0-0F0DADA0A1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14213597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9C84-4EBC-B7A7-87A0-4EBF6E62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09BF1E7-34EB-6C7D-2692-2DFF1B535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67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11C9CBF-9DD0-1C75-E299-A196AABCF1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Output checking is labour intensive!</a:t>
            </a:r>
          </a:p>
          <a:p>
            <a:endParaRPr lang="en-GB" dirty="0"/>
          </a:p>
          <a:p>
            <a:r>
              <a:rPr lang="en-GB" dirty="0"/>
              <a:t>Possibilities:</a:t>
            </a:r>
          </a:p>
          <a:p>
            <a:pPr lvl="1"/>
            <a:r>
              <a:rPr lang="en-GB" sz="2400" dirty="0"/>
              <a:t>Researcher facilitates NSI for checking</a:t>
            </a:r>
          </a:p>
          <a:p>
            <a:pPr lvl="1"/>
            <a:r>
              <a:rPr lang="en-GB" sz="2400" dirty="0"/>
              <a:t>Check sample of outputs</a:t>
            </a:r>
          </a:p>
          <a:p>
            <a:pPr lvl="1"/>
            <a:r>
              <a:rPr lang="en-GB" sz="2400" dirty="0"/>
              <a:t>Put price on checking of output</a:t>
            </a:r>
          </a:p>
          <a:p>
            <a:pPr lvl="1"/>
            <a:r>
              <a:rPr lang="en-GB" sz="2400" dirty="0"/>
              <a:t>Facilitate writing of reports at safe setting</a:t>
            </a:r>
          </a:p>
          <a:p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AB868B6-6C94-BDEF-67B1-AB3F8B8A3D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Output checking</a:t>
            </a:r>
          </a:p>
        </p:txBody>
      </p:sp>
    </p:spTree>
    <p:extLst>
      <p:ext uri="{BB962C8B-B14F-4D97-AF65-F5344CB8AC3E}">
        <p14:creationId xmlns:p14="http://schemas.microsoft.com/office/powerpoint/2010/main" val="14417058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ep 12">
            <a:extLst>
              <a:ext uri="{FF2B5EF4-FFF2-40B4-BE49-F238E27FC236}">
                <a16:creationId xmlns:a16="http://schemas.microsoft.com/office/drawing/2014/main" id="{C3CF24E5-2441-8858-3079-710C5D7F4195}"/>
              </a:ext>
            </a:extLst>
          </p:cNvPr>
          <p:cNvGrpSpPr/>
          <p:nvPr/>
        </p:nvGrpSpPr>
        <p:grpSpPr>
          <a:xfrm>
            <a:off x="5220072" y="2229036"/>
            <a:ext cx="2747746" cy="2747746"/>
            <a:chOff x="5220072" y="2229036"/>
            <a:chExt cx="2747746" cy="2747746"/>
          </a:xfrm>
        </p:grpSpPr>
        <p:pic>
          <p:nvPicPr>
            <p:cNvPr id="9" name="Afbeelding 8" descr="Afbeelding met tekst, schermopname, Graphics, Kleurrijkheid&#10;&#10;Door AI gegenereerde inhoud is mogelijk onjuist.">
              <a:extLst>
                <a:ext uri="{FF2B5EF4-FFF2-40B4-BE49-F238E27FC236}">
                  <a16:creationId xmlns:a16="http://schemas.microsoft.com/office/drawing/2014/main" id="{0E3832D6-2E1B-3EB8-65AF-66A64A384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0072" y="2229036"/>
              <a:ext cx="2747746" cy="2747746"/>
            </a:xfrm>
            <a:prstGeom prst="rect">
              <a:avLst/>
            </a:prstGeom>
          </p:spPr>
        </p:pic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F5A2FCA-AA18-6524-78A0-902243546ED0}"/>
                </a:ext>
              </a:extLst>
            </p:cNvPr>
            <p:cNvSpPr/>
            <p:nvPr/>
          </p:nvSpPr>
          <p:spPr>
            <a:xfrm>
              <a:off x="5220072" y="2230939"/>
              <a:ext cx="2448272" cy="1967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CE4B9AA-35FD-5BB8-86F4-0DFC47DC9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en-US" sz="1200" smtClean="0"/>
              <a:pPr algn="ctr"/>
              <a:t>68</a:t>
            </a:fld>
            <a:endParaRPr lang="en-US" sz="12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30553BB-0981-F91B-CB99-C4BAD55BA1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“New” types of data and output</a:t>
            </a:r>
          </a:p>
          <a:p>
            <a:pPr lvl="1"/>
            <a:r>
              <a:rPr lang="en-US" dirty="0"/>
              <a:t>Networks</a:t>
            </a:r>
          </a:p>
          <a:p>
            <a:pPr lvl="1"/>
            <a:r>
              <a:rPr lang="en-US" dirty="0"/>
              <a:t>Geo-spatial</a:t>
            </a:r>
          </a:p>
          <a:p>
            <a:pPr lvl="1"/>
            <a:r>
              <a:rPr lang="en-US" dirty="0"/>
              <a:t>Unstructured</a:t>
            </a:r>
          </a:p>
          <a:p>
            <a:pPr lvl="1"/>
            <a:r>
              <a:rPr lang="en-US" dirty="0"/>
              <a:t>(AI/ML) models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FDE17B-14A4-7A92-D959-6473386355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Challenges SDC</a:t>
            </a:r>
          </a:p>
        </p:txBody>
      </p:sp>
      <p:pic>
        <p:nvPicPr>
          <p:cNvPr id="6" name="Afbeelding 5" descr="Afbeelding met kaart, tekst, atlas, schermopname&#10;&#10;Door AI gegenereerde inhoud is mogelijk onjuist.">
            <a:extLst>
              <a:ext uri="{FF2B5EF4-FFF2-40B4-BE49-F238E27FC236}">
                <a16:creationId xmlns:a16="http://schemas.microsoft.com/office/drawing/2014/main" id="{89498576-B6DE-8C86-EF04-D1A8614C90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399" y="1364940"/>
            <a:ext cx="2471926" cy="1728192"/>
          </a:xfrm>
          <a:prstGeom prst="rect">
            <a:avLst/>
          </a:prstGeom>
        </p:spPr>
      </p:pic>
      <p:pic>
        <p:nvPicPr>
          <p:cNvPr id="1028" name="Picture 4" descr="Do text mining and natural language processing by Jayanti007 | Fiverr">
            <a:extLst>
              <a:ext uri="{FF2B5EF4-FFF2-40B4-BE49-F238E27FC236}">
                <a16:creationId xmlns:a16="http://schemas.microsoft.com/office/drawing/2014/main" id="{E4C9D912-C265-2C85-C10A-40A35828B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72286"/>
            <a:ext cx="2158380" cy="103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fbeelding 11" descr="Afbeelding met cirkel, Symmetrie, patroon&#10;&#10;Door AI gegenereerde inhoud is mogelijk onjuist.">
            <a:extLst>
              <a:ext uri="{FF2B5EF4-FFF2-40B4-BE49-F238E27FC236}">
                <a16:creationId xmlns:a16="http://schemas.microsoft.com/office/drawing/2014/main" id="{67CDCB9D-366F-16D6-25E7-10D1A1D568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60" y="1879263"/>
            <a:ext cx="1946845" cy="183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10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6771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/>
              <a:pPr algn="ctr"/>
              <a:t>70</a:t>
            </a:fld>
            <a:endParaRPr lang="nl-NL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tekst 2"/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Comparing </a:t>
                </a:r>
                <a:r>
                  <a:rPr lang="en-US" sz="2000" i="1" dirty="0"/>
                  <a:t>p</a:t>
                </a:r>
                <a:r>
                  <a:rPr lang="en-US" sz="2000" dirty="0"/>
                  <a:t>% rule and (2, </a:t>
                </a:r>
                <a:r>
                  <a:rPr lang="en-US" sz="2000" i="1" dirty="0"/>
                  <a:t>k</a:t>
                </a:r>
                <a:r>
                  <a:rPr lang="en-US" sz="2000" dirty="0"/>
                  <a:t>) dominance rule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(</a:t>
                </a:r>
                <a:r>
                  <a:rPr lang="en-US" sz="2000" i="1" dirty="0"/>
                  <a:t>n, k</a:t>
                </a:r>
                <a:r>
                  <a:rPr lang="en-US" sz="2000" dirty="0"/>
                  <a:t>) dominance rule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2000" i="1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endParaRPr lang="en-US" sz="2000" i="1" dirty="0"/>
              </a:p>
              <a:p>
                <a:r>
                  <a:rPr lang="en-US" sz="2000" i="1" dirty="0"/>
                  <a:t>p</a:t>
                </a:r>
                <a:r>
                  <a:rPr lang="en-US" sz="2000" dirty="0"/>
                  <a:t>%-rule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2000" i="1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ijdelijke aanduiding voor tekst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1171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  <p:grpSp>
        <p:nvGrpSpPr>
          <p:cNvPr id="11" name="Groep 10"/>
          <p:cNvGrpSpPr/>
          <p:nvPr/>
        </p:nvGrpSpPr>
        <p:grpSpPr>
          <a:xfrm>
            <a:off x="5364088" y="2240695"/>
            <a:ext cx="2232248" cy="1719027"/>
            <a:chOff x="4221088" y="2240694"/>
            <a:chExt cx="2232248" cy="1719027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4609528" y="2240694"/>
              <a:ext cx="360040" cy="379859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010894" y="3556878"/>
              <a:ext cx="144244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chemeClr val="tx2"/>
                  </a:solidFill>
                  <a:latin typeface="+mn-lt"/>
                </a:rPr>
                <a:t>More natural</a:t>
              </a: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4581128" y="3741544"/>
              <a:ext cx="47625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4221088" y="3579862"/>
              <a:ext cx="360040" cy="379859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256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/>
              <a:pPr algn="ctr"/>
              <a:t>71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Example:</a:t>
            </a:r>
          </a:p>
          <a:p>
            <a:r>
              <a:rPr lang="en-GB" sz="2000" dirty="0"/>
              <a:t>(3,85) dominance rule</a:t>
            </a:r>
          </a:p>
          <a:p>
            <a:endParaRPr lang="en-GB" sz="800" dirty="0"/>
          </a:p>
          <a:p>
            <a:pPr>
              <a:tabLst>
                <a:tab pos="357188" algn="l"/>
              </a:tabLst>
            </a:pPr>
            <a:r>
              <a:rPr lang="en-GB" sz="2000" dirty="0"/>
              <a:t>	Cell X: 25 + 19 + 13 + 8 + 2 = 67</a:t>
            </a:r>
          </a:p>
          <a:p>
            <a:pPr>
              <a:tabLst>
                <a:tab pos="357188" algn="l"/>
              </a:tabLst>
            </a:pPr>
            <a:r>
              <a:rPr lang="en-GB" sz="2000" dirty="0"/>
              <a:t>	Cell Y: </a:t>
            </a:r>
            <a:r>
              <a:rPr lang="en-GB" sz="700" dirty="0"/>
              <a:t> </a:t>
            </a:r>
            <a:r>
              <a:rPr lang="en-GB" sz="2000" dirty="0"/>
              <a:t>25 + 19 + 12 + 8 + 2 = 66</a:t>
            </a:r>
          </a:p>
          <a:p>
            <a:pPr>
              <a:lnSpc>
                <a:spcPct val="50000"/>
              </a:lnSpc>
            </a:pPr>
            <a:endParaRPr lang="en-GB" sz="2000" dirty="0"/>
          </a:p>
          <a:p>
            <a:r>
              <a:rPr lang="en-GB" sz="2000" dirty="0"/>
              <a:t>X is </a:t>
            </a:r>
            <a:r>
              <a:rPr lang="en-GB" sz="2000" b="1" dirty="0">
                <a:solidFill>
                  <a:srgbClr val="FF0000"/>
                </a:solidFill>
              </a:rPr>
              <a:t>unsafe</a:t>
            </a:r>
            <a:r>
              <a:rPr lang="en-GB" sz="2000" dirty="0"/>
              <a:t>: (25+19+13)/67 = 0.851</a:t>
            </a:r>
          </a:p>
          <a:p>
            <a:r>
              <a:rPr lang="en-GB" sz="2000" dirty="0"/>
              <a:t>Y is </a:t>
            </a:r>
            <a:r>
              <a:rPr lang="en-GB" sz="2000" b="1" dirty="0">
                <a:solidFill>
                  <a:srgbClr val="00B050"/>
                </a:solidFill>
              </a:rPr>
              <a:t>safe</a:t>
            </a:r>
            <a:r>
              <a:rPr lang="en-GB" sz="2000" dirty="0"/>
              <a:t>:     </a:t>
            </a:r>
            <a:r>
              <a:rPr lang="en-GB" sz="1200" dirty="0"/>
              <a:t> </a:t>
            </a:r>
            <a:r>
              <a:rPr lang="en-GB" sz="2000" dirty="0"/>
              <a:t>(25+19+12)/66 = 0.848</a:t>
            </a:r>
          </a:p>
          <a:p>
            <a:pPr marL="342900" indent="-342900"/>
            <a:r>
              <a:rPr lang="en-US" sz="2000" dirty="0"/>
              <a:t>But: </a:t>
            </a:r>
          </a:p>
          <a:p>
            <a:pPr marL="342900" indent="-342900"/>
            <a:r>
              <a:rPr lang="en-GB" sz="2000" dirty="0"/>
              <a:t>Estimating </a:t>
            </a:r>
            <a:r>
              <a:rPr lang="en-GB" sz="2000" i="1" dirty="0"/>
              <a:t>x</a:t>
            </a:r>
            <a:r>
              <a:rPr lang="en-GB" sz="2000" baseline="-25000" dirty="0"/>
              <a:t>1</a:t>
            </a:r>
            <a:r>
              <a:rPr lang="en-GB" sz="2000" dirty="0"/>
              <a:t>: 	67 - (19+13) = 35 = </a:t>
            </a:r>
            <a:r>
              <a:rPr lang="en-GB" sz="2000" b="1" dirty="0">
                <a:solidFill>
                  <a:srgbClr val="00B0F0"/>
                </a:solidFill>
              </a:rPr>
              <a:t>1.4 </a:t>
            </a:r>
            <a:r>
              <a:rPr lang="en-GB" sz="2000" b="1" i="1" dirty="0">
                <a:solidFill>
                  <a:srgbClr val="00B0F0"/>
                </a:solidFill>
              </a:rPr>
              <a:t>x</a:t>
            </a:r>
            <a:r>
              <a:rPr lang="en-GB" sz="2000" b="1" baseline="-25000" dirty="0">
                <a:solidFill>
                  <a:srgbClr val="00B0F0"/>
                </a:solidFill>
              </a:rPr>
              <a:t>1</a:t>
            </a:r>
          </a:p>
          <a:p>
            <a:pPr marL="342900" indent="-342900"/>
            <a:r>
              <a:rPr lang="en-GB" sz="2000" dirty="0"/>
              <a:t>Estimating y</a:t>
            </a:r>
            <a:r>
              <a:rPr lang="en-GB" sz="2000" baseline="-25000" dirty="0"/>
              <a:t>1</a:t>
            </a:r>
            <a:r>
              <a:rPr lang="en-GB" sz="2000" dirty="0"/>
              <a:t>: 	66 - (19+12) = 35 = </a:t>
            </a:r>
            <a:r>
              <a:rPr lang="en-GB" sz="2000" b="1" dirty="0">
                <a:solidFill>
                  <a:srgbClr val="00B0F0"/>
                </a:solidFill>
              </a:rPr>
              <a:t>1.4 </a:t>
            </a:r>
            <a:r>
              <a:rPr lang="en-GB" sz="2000" b="1" i="1" dirty="0">
                <a:solidFill>
                  <a:srgbClr val="00B0F0"/>
                </a:solidFill>
              </a:rPr>
              <a:t>y</a:t>
            </a:r>
            <a:r>
              <a:rPr lang="en-GB" sz="2000" b="1" baseline="-25000" dirty="0">
                <a:solidFill>
                  <a:srgbClr val="00B0F0"/>
                </a:solidFill>
              </a:rPr>
              <a:t>1</a:t>
            </a:r>
          </a:p>
          <a:p>
            <a:r>
              <a:rPr lang="en-US" sz="2000" b="1" i="1" dirty="0">
                <a:solidFill>
                  <a:srgbClr val="00B0F0"/>
                </a:solidFill>
              </a:rPr>
              <a:t>		Same relative error!</a:t>
            </a:r>
          </a:p>
          <a:p>
            <a:endParaRPr lang="en-US" sz="20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953426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/>
              <a:pPr algn="ctr"/>
              <a:t>72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/>
              <a:t>Example:</a:t>
            </a:r>
          </a:p>
          <a:p>
            <a:r>
              <a:rPr lang="en-GB" sz="1900" dirty="0"/>
              <a:t>(3,85) dominance rule</a:t>
            </a:r>
          </a:p>
          <a:p>
            <a:endParaRPr lang="en-GB" sz="700" dirty="0"/>
          </a:p>
          <a:p>
            <a:pPr>
              <a:tabLst>
                <a:tab pos="357188" algn="l"/>
              </a:tabLst>
            </a:pPr>
            <a:r>
              <a:rPr lang="en-GB" sz="1900" dirty="0"/>
              <a:t>	Cell C: 41 + 40 + 40 + 20 + 1 = 142</a:t>
            </a:r>
          </a:p>
          <a:p>
            <a:pPr>
              <a:tabLst>
                <a:tab pos="357188" algn="l"/>
              </a:tabLst>
            </a:pPr>
            <a:r>
              <a:rPr lang="en-GB" sz="1900" dirty="0"/>
              <a:t>	Cell T: </a:t>
            </a:r>
            <a:r>
              <a:rPr lang="en-GB" sz="900" dirty="0"/>
              <a:t> </a:t>
            </a:r>
            <a:r>
              <a:rPr lang="en-GB" sz="1900" dirty="0"/>
              <a:t>81 + 20 + 20 + 20 + 1 = 142</a:t>
            </a:r>
          </a:p>
          <a:p>
            <a:pPr>
              <a:lnSpc>
                <a:spcPct val="50000"/>
              </a:lnSpc>
            </a:pPr>
            <a:endParaRPr lang="en-GB" sz="1900" dirty="0"/>
          </a:p>
          <a:p>
            <a:r>
              <a:rPr lang="en-GB" sz="1900" dirty="0"/>
              <a:t>C is </a:t>
            </a:r>
            <a:r>
              <a:rPr lang="en-GB" sz="1900" b="1" dirty="0">
                <a:solidFill>
                  <a:srgbClr val="FF0000"/>
                </a:solidFill>
              </a:rPr>
              <a:t>unsafe</a:t>
            </a:r>
            <a:r>
              <a:rPr lang="en-GB" sz="1900" dirty="0"/>
              <a:t>: (41+40+40)/142 = 0.852</a:t>
            </a:r>
          </a:p>
          <a:p>
            <a:r>
              <a:rPr lang="en-GB" sz="1900" dirty="0"/>
              <a:t>T is </a:t>
            </a:r>
            <a:r>
              <a:rPr lang="en-GB" sz="1900" b="1" dirty="0">
                <a:solidFill>
                  <a:srgbClr val="FF0000"/>
                </a:solidFill>
              </a:rPr>
              <a:t>unsafe</a:t>
            </a:r>
            <a:r>
              <a:rPr lang="en-GB" sz="1900" dirty="0"/>
              <a:t>:</a:t>
            </a:r>
            <a:r>
              <a:rPr lang="en-GB" sz="300" dirty="0"/>
              <a:t> </a:t>
            </a:r>
            <a:r>
              <a:rPr lang="en-GB" sz="1900" dirty="0"/>
              <a:t> (81+20+20)/142 = 0.852</a:t>
            </a:r>
          </a:p>
          <a:p>
            <a:r>
              <a:rPr lang="en-US" sz="1900" dirty="0"/>
              <a:t>But:</a:t>
            </a:r>
          </a:p>
          <a:p>
            <a:pPr marL="342900" indent="-342900"/>
            <a:r>
              <a:rPr lang="en-GB" sz="1900" dirty="0"/>
              <a:t>Estimating </a:t>
            </a:r>
            <a:r>
              <a:rPr lang="en-GB" sz="1900" i="1" dirty="0"/>
              <a:t>x</a:t>
            </a:r>
            <a:r>
              <a:rPr lang="en-GB" sz="1900" baseline="-25000" dirty="0"/>
              <a:t>1</a:t>
            </a:r>
            <a:r>
              <a:rPr lang="en-GB" sz="1900" dirty="0"/>
              <a:t>: 	142 - (40+40) =   62 = </a:t>
            </a:r>
            <a:r>
              <a:rPr lang="en-GB" sz="1900" b="1" dirty="0">
                <a:solidFill>
                  <a:srgbClr val="00B0F0"/>
                </a:solidFill>
              </a:rPr>
              <a:t>1.51 </a:t>
            </a:r>
            <a:r>
              <a:rPr lang="en-GB" sz="1900" b="1" i="1" dirty="0">
                <a:solidFill>
                  <a:srgbClr val="00B0F0"/>
                </a:solidFill>
              </a:rPr>
              <a:t>x</a:t>
            </a:r>
            <a:r>
              <a:rPr lang="en-GB" sz="1900" b="1" baseline="-25000" dirty="0">
                <a:solidFill>
                  <a:srgbClr val="00B0F0"/>
                </a:solidFill>
              </a:rPr>
              <a:t>1</a:t>
            </a:r>
          </a:p>
          <a:p>
            <a:pPr marL="342900" indent="-342900"/>
            <a:r>
              <a:rPr lang="en-GB" sz="1900" dirty="0"/>
              <a:t>Estimating y</a:t>
            </a:r>
            <a:r>
              <a:rPr lang="en-GB" sz="1900" baseline="-25000" dirty="0"/>
              <a:t>1</a:t>
            </a:r>
            <a:r>
              <a:rPr lang="en-GB" sz="1900" dirty="0"/>
              <a:t>: 	142 - (20+20) = 102 = </a:t>
            </a:r>
            <a:r>
              <a:rPr lang="en-GB" sz="1900" b="1" dirty="0">
                <a:solidFill>
                  <a:srgbClr val="00B0F0"/>
                </a:solidFill>
              </a:rPr>
              <a:t>1.26 </a:t>
            </a:r>
            <a:r>
              <a:rPr lang="en-GB" sz="1900" b="1" i="1" dirty="0">
                <a:solidFill>
                  <a:srgbClr val="00B0F0"/>
                </a:solidFill>
              </a:rPr>
              <a:t>y</a:t>
            </a:r>
            <a:r>
              <a:rPr lang="en-GB" sz="1900" b="1" baseline="-25000" dirty="0">
                <a:solidFill>
                  <a:srgbClr val="00B0F0"/>
                </a:solidFill>
              </a:rPr>
              <a:t>1</a:t>
            </a:r>
          </a:p>
          <a:p>
            <a:r>
              <a:rPr lang="en-US" sz="1900" b="1" dirty="0">
                <a:solidFill>
                  <a:srgbClr val="00B0F0"/>
                </a:solidFill>
              </a:rPr>
              <a:t>		</a:t>
            </a:r>
            <a:r>
              <a:rPr lang="en-US" sz="1900" b="1" i="1" dirty="0">
                <a:solidFill>
                  <a:srgbClr val="00B0F0"/>
                </a:solidFill>
              </a:rPr>
              <a:t>Very different relative error!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Magnitude tables</a:t>
            </a:r>
          </a:p>
        </p:txBody>
      </p:sp>
    </p:spTree>
    <p:extLst>
      <p:ext uri="{BB962C8B-B14F-4D97-AF65-F5344CB8AC3E}">
        <p14:creationId xmlns:p14="http://schemas.microsoft.com/office/powerpoint/2010/main" val="2463709498"/>
      </p:ext>
    </p:extLst>
  </p:cSld>
  <p:clrMapOvr>
    <a:masterClrMapping/>
  </p:clrMapOvr>
</p:sld>
</file>

<file path=ppt/theme/theme1.xml><?xml version="1.0" encoding="utf-8"?>
<a:theme xmlns:a="http://schemas.openxmlformats.org/drawingml/2006/main" name="CBS indelingen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S Powerpoint sjabloon.potx" id="{289D481F-67B9-4705-A46A-DC6D3FFAEA19}" vid="{C665D2C1-8139-4571-8D3D-195E5FC4A2B9}"/>
    </a:ext>
  </a:extLst>
</a:theme>
</file>

<file path=ppt/theme/theme2.xml><?xml version="1.0" encoding="utf-8"?>
<a:theme xmlns:a="http://schemas.openxmlformats.org/drawingml/2006/main" name="Samenwerk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S Powerpoint sjabloon.potx" id="{289D481F-67B9-4705-A46A-DC6D3FFAEA19}" vid="{EFD510D0-05FE-41D2-B8B5-40701DBE2701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CBS Powerpoint sjabloon</Template>
  <TotalTime>2166</TotalTime>
  <Words>3741</Words>
  <Application>Microsoft Office PowerPoint</Application>
  <PresentationFormat>Diavoorstelling (16:9)</PresentationFormat>
  <Paragraphs>1798</Paragraphs>
  <Slides>72</Slides>
  <Notes>7</Notes>
  <HiddenSlides>3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72</vt:i4>
      </vt:variant>
    </vt:vector>
  </HeadingPairs>
  <TitlesOfParts>
    <vt:vector size="81" baseType="lpstr">
      <vt:lpstr>Arial</vt:lpstr>
      <vt:lpstr>Calibri</vt:lpstr>
      <vt:lpstr>Cambria Math</vt:lpstr>
      <vt:lpstr>Courier New</vt:lpstr>
      <vt:lpstr>Lucida Console</vt:lpstr>
      <vt:lpstr>Symbol</vt:lpstr>
      <vt:lpstr>Times</vt:lpstr>
      <vt:lpstr>CBS indelingen</vt:lpstr>
      <vt:lpstr>Samenwerking</vt:lpstr>
      <vt:lpstr>PowerPoint-presentatie</vt:lpstr>
      <vt:lpstr>PowerPoint-presentatie</vt:lpstr>
      <vt:lpstr>Tabulated data (tables)</vt:lpstr>
      <vt:lpstr>PowerPoint-presentatie</vt:lpstr>
      <vt:lpstr>Frequency count tables</vt:lpstr>
      <vt:lpstr>PowerPoint-presentatie</vt:lpstr>
      <vt:lpstr>PowerPoint-presentatie</vt:lpstr>
      <vt:lpstr>PowerPoint-presentatie</vt:lpstr>
      <vt:lpstr>PowerPoint-presentatie</vt:lpstr>
      <vt:lpstr>PowerPoint-presentatie</vt:lpstr>
      <vt:lpstr>Magnitude tables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Some special tables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Tables methods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Output checking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Wolf, P.P. de (Peter-Paul)</dc:creator>
  <dc:description>19-1-21: samenwerking slides toegevoegd</dc:description>
  <cp:lastModifiedBy>Wolf, P.P. de (Peter-Paul)</cp:lastModifiedBy>
  <cp:revision>47</cp:revision>
  <dcterms:created xsi:type="dcterms:W3CDTF">2025-05-23T08:30:35Z</dcterms:created>
  <dcterms:modified xsi:type="dcterms:W3CDTF">2025-09-02T10:55:46Z</dcterms:modified>
</cp:coreProperties>
</file>