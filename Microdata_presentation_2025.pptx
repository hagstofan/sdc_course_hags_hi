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1" r:id="rId7"/>
    <p:sldId id="260" r:id="rId8"/>
    <p:sldId id="264" r:id="rId9"/>
    <p:sldId id="263" r:id="rId10"/>
    <p:sldId id="262" r:id="rId11"/>
    <p:sldId id="266" r:id="rId12"/>
    <p:sldId id="267" r:id="rId13"/>
    <p:sldId id="265" r:id="rId14"/>
    <p:sldId id="268" r:id="rId15"/>
  </p:sldIdLst>
  <p:sldSz cx="12192000" cy="6858000"/>
  <p:notesSz cx="6858000" cy="9144000"/>
  <p:defaultTextStyle>
    <a:defPPr>
      <a:defRPr lang="is-I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942"/>
    <a:srgbClr val="0054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A1C34E-01E2-4F0B-88C2-48FAE9788D3B}" v="426" dt="2025-09-02T15:35:25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ia Guadalupe Lopez Flores - HAGS" userId="c786cb15-3018-4d64-b5e8-b0da498b0ef1" providerId="ADAL" clId="{F1A1C34E-01E2-4F0B-88C2-48FAE9788D3B}"/>
    <pc:docChg chg="undo custSel addSld modSld sldOrd">
      <pc:chgData name="Nidia Guadalupe Lopez Flores - HAGS" userId="c786cb15-3018-4d64-b5e8-b0da498b0ef1" providerId="ADAL" clId="{F1A1C34E-01E2-4F0B-88C2-48FAE9788D3B}" dt="2025-09-02T15:44:58.039" v="583" actId="113"/>
      <pc:docMkLst>
        <pc:docMk/>
      </pc:docMkLst>
      <pc:sldChg chg="modSp mod">
        <pc:chgData name="Nidia Guadalupe Lopez Flores - HAGS" userId="c786cb15-3018-4d64-b5e8-b0da498b0ef1" providerId="ADAL" clId="{F1A1C34E-01E2-4F0B-88C2-48FAE9788D3B}" dt="2025-09-02T15:44:58.039" v="583" actId="113"/>
        <pc:sldMkLst>
          <pc:docMk/>
          <pc:sldMk cId="3171640918" sldId="256"/>
        </pc:sldMkLst>
        <pc:spChg chg="mod">
          <ac:chgData name="Nidia Guadalupe Lopez Flores - HAGS" userId="c786cb15-3018-4d64-b5e8-b0da498b0ef1" providerId="ADAL" clId="{F1A1C34E-01E2-4F0B-88C2-48FAE9788D3B}" dt="2025-09-02T15:44:58.039" v="583" actId="113"/>
          <ac:spMkLst>
            <pc:docMk/>
            <pc:sldMk cId="3171640918" sldId="256"/>
            <ac:spMk id="2" creationId="{7406B7DF-19D4-4097-A5B3-B494A8529E2C}"/>
          </ac:spMkLst>
        </pc:spChg>
      </pc:sldChg>
      <pc:sldChg chg="modSp mod">
        <pc:chgData name="Nidia Guadalupe Lopez Flores - HAGS" userId="c786cb15-3018-4d64-b5e8-b0da498b0ef1" providerId="ADAL" clId="{F1A1C34E-01E2-4F0B-88C2-48FAE9788D3B}" dt="2025-09-02T15:44:17.824" v="581" actId="113"/>
        <pc:sldMkLst>
          <pc:docMk/>
          <pc:sldMk cId="758496934" sldId="260"/>
        </pc:sldMkLst>
        <pc:spChg chg="mod">
          <ac:chgData name="Nidia Guadalupe Lopez Flores - HAGS" userId="c786cb15-3018-4d64-b5e8-b0da498b0ef1" providerId="ADAL" clId="{F1A1C34E-01E2-4F0B-88C2-48FAE9788D3B}" dt="2025-09-02T15:44:17.824" v="581" actId="113"/>
          <ac:spMkLst>
            <pc:docMk/>
            <pc:sldMk cId="758496934" sldId="260"/>
            <ac:spMk id="2" creationId="{E75738CD-4233-F26A-5A54-E27518C564DB}"/>
          </ac:spMkLst>
        </pc:spChg>
      </pc:sldChg>
      <pc:sldChg chg="modSp new mod">
        <pc:chgData name="Nidia Guadalupe Lopez Flores - HAGS" userId="c786cb15-3018-4d64-b5e8-b0da498b0ef1" providerId="ADAL" clId="{F1A1C34E-01E2-4F0B-88C2-48FAE9788D3B}" dt="2025-09-02T14:20:05.777" v="317" actId="27636"/>
        <pc:sldMkLst>
          <pc:docMk/>
          <pc:sldMk cId="1661393920" sldId="262"/>
        </pc:sldMkLst>
        <pc:spChg chg="mod">
          <ac:chgData name="Nidia Guadalupe Lopez Flores - HAGS" userId="c786cb15-3018-4d64-b5e8-b0da498b0ef1" providerId="ADAL" clId="{F1A1C34E-01E2-4F0B-88C2-48FAE9788D3B}" dt="2025-09-02T14:19:21.006" v="297" actId="113"/>
          <ac:spMkLst>
            <pc:docMk/>
            <pc:sldMk cId="1661393920" sldId="262"/>
            <ac:spMk id="2" creationId="{DD59FEC5-7F6A-6341-F0E0-B2D6D8E04E2C}"/>
          </ac:spMkLst>
        </pc:spChg>
        <pc:spChg chg="mod">
          <ac:chgData name="Nidia Guadalupe Lopez Flores - HAGS" userId="c786cb15-3018-4d64-b5e8-b0da498b0ef1" providerId="ADAL" clId="{F1A1C34E-01E2-4F0B-88C2-48FAE9788D3B}" dt="2025-09-02T14:20:05.777" v="317" actId="27636"/>
          <ac:spMkLst>
            <pc:docMk/>
            <pc:sldMk cId="1661393920" sldId="262"/>
            <ac:spMk id="3" creationId="{98841C81-68F6-72D2-AF0C-7EFFB468DAA0}"/>
          </ac:spMkLst>
        </pc:spChg>
      </pc:sldChg>
      <pc:sldChg chg="modSp add mod ord">
        <pc:chgData name="Nidia Guadalupe Lopez Flores - HAGS" userId="c786cb15-3018-4d64-b5e8-b0da498b0ef1" providerId="ADAL" clId="{F1A1C34E-01E2-4F0B-88C2-48FAE9788D3B}" dt="2025-09-02T15:44:25.647" v="582" actId="113"/>
        <pc:sldMkLst>
          <pc:docMk/>
          <pc:sldMk cId="1443286505" sldId="263"/>
        </pc:sldMkLst>
        <pc:spChg chg="mod">
          <ac:chgData name="Nidia Guadalupe Lopez Flores - HAGS" userId="c786cb15-3018-4d64-b5e8-b0da498b0ef1" providerId="ADAL" clId="{F1A1C34E-01E2-4F0B-88C2-48FAE9788D3B}" dt="2025-09-02T15:44:25.647" v="582" actId="113"/>
          <ac:spMkLst>
            <pc:docMk/>
            <pc:sldMk cId="1443286505" sldId="263"/>
            <ac:spMk id="2" creationId="{EC83E3D8-E1D6-4C31-77F5-B3375E8A3DDD}"/>
          </ac:spMkLst>
        </pc:spChg>
        <pc:spChg chg="mod">
          <ac:chgData name="Nidia Guadalupe Lopez Flores - HAGS" userId="c786cb15-3018-4d64-b5e8-b0da498b0ef1" providerId="ADAL" clId="{F1A1C34E-01E2-4F0B-88C2-48FAE9788D3B}" dt="2025-09-02T14:14:20.965" v="159" actId="20577"/>
          <ac:spMkLst>
            <pc:docMk/>
            <pc:sldMk cId="1443286505" sldId="263"/>
            <ac:spMk id="3" creationId="{2CFD3913-0459-230D-5167-9765EEC3D7EE}"/>
          </ac:spMkLst>
        </pc:spChg>
      </pc:sldChg>
      <pc:sldChg chg="addSp delSp modSp new mod modClrScheme chgLayout">
        <pc:chgData name="Nidia Guadalupe Lopez Flores - HAGS" userId="c786cb15-3018-4d64-b5e8-b0da498b0ef1" providerId="ADAL" clId="{F1A1C34E-01E2-4F0B-88C2-48FAE9788D3B}" dt="2025-09-02T15:44:03.319" v="580" actId="20577"/>
        <pc:sldMkLst>
          <pc:docMk/>
          <pc:sldMk cId="4088503221" sldId="264"/>
        </pc:sldMkLst>
        <pc:spChg chg="mod ord">
          <ac:chgData name="Nidia Guadalupe Lopez Flores - HAGS" userId="c786cb15-3018-4d64-b5e8-b0da498b0ef1" providerId="ADAL" clId="{F1A1C34E-01E2-4F0B-88C2-48FAE9788D3B}" dt="2025-09-02T15:38:38.135" v="436" actId="26606"/>
          <ac:spMkLst>
            <pc:docMk/>
            <pc:sldMk cId="4088503221" sldId="264"/>
            <ac:spMk id="2" creationId="{616EB849-2E1C-C54F-D979-D63D90D4B38D}"/>
          </ac:spMkLst>
        </pc:spChg>
        <pc:spChg chg="del">
          <ac:chgData name="Nidia Guadalupe Lopez Flores - HAGS" userId="c786cb15-3018-4d64-b5e8-b0da498b0ef1" providerId="ADAL" clId="{F1A1C34E-01E2-4F0B-88C2-48FAE9788D3B}" dt="2025-09-02T15:35:25.018" v="431" actId="931"/>
          <ac:spMkLst>
            <pc:docMk/>
            <pc:sldMk cId="4088503221" sldId="264"/>
            <ac:spMk id="3" creationId="{0B4EC8E9-9BDA-FEC2-CD88-7494486E8E8B}"/>
          </ac:spMkLst>
        </pc:spChg>
        <pc:spChg chg="add mod">
          <ac:chgData name="Nidia Guadalupe Lopez Flores - HAGS" userId="c786cb15-3018-4d64-b5e8-b0da498b0ef1" providerId="ADAL" clId="{F1A1C34E-01E2-4F0B-88C2-48FAE9788D3B}" dt="2025-09-02T15:44:03.319" v="580" actId="20577"/>
          <ac:spMkLst>
            <pc:docMk/>
            <pc:sldMk cId="4088503221" sldId="264"/>
            <ac:spMk id="10" creationId="{2C7FC0D8-DB33-746F-14D9-29EAA56B29F4}"/>
          </ac:spMkLst>
        </pc:spChg>
        <pc:picChg chg="add mod ord">
          <ac:chgData name="Nidia Guadalupe Lopez Flores - HAGS" userId="c786cb15-3018-4d64-b5e8-b0da498b0ef1" providerId="ADAL" clId="{F1A1C34E-01E2-4F0B-88C2-48FAE9788D3B}" dt="2025-09-02T15:38:46.442" v="438" actId="1076"/>
          <ac:picMkLst>
            <pc:docMk/>
            <pc:sldMk cId="4088503221" sldId="264"/>
            <ac:picMk id="5" creationId="{89FDC6EE-F539-CDEA-20CB-C82AC8C3F4DD}"/>
          </ac:picMkLst>
        </pc:picChg>
      </pc:sldChg>
      <pc:sldChg chg="modSp new mod">
        <pc:chgData name="Nidia Guadalupe Lopez Flores - HAGS" userId="c786cb15-3018-4d64-b5e8-b0da498b0ef1" providerId="ADAL" clId="{F1A1C34E-01E2-4F0B-88C2-48FAE9788D3B}" dt="2025-09-02T14:19:15.078" v="296" actId="113"/>
        <pc:sldMkLst>
          <pc:docMk/>
          <pc:sldMk cId="3782927976" sldId="265"/>
        </pc:sldMkLst>
        <pc:spChg chg="mod">
          <ac:chgData name="Nidia Guadalupe Lopez Flores - HAGS" userId="c786cb15-3018-4d64-b5e8-b0da498b0ef1" providerId="ADAL" clId="{F1A1C34E-01E2-4F0B-88C2-48FAE9788D3B}" dt="2025-09-02T14:19:15.078" v="296" actId="113"/>
          <ac:spMkLst>
            <pc:docMk/>
            <pc:sldMk cId="3782927976" sldId="265"/>
            <ac:spMk id="2" creationId="{29C60CFD-030B-FD83-D253-69B4673BA637}"/>
          </ac:spMkLst>
        </pc:spChg>
        <pc:spChg chg="mod">
          <ac:chgData name="Nidia Guadalupe Lopez Flores - HAGS" userId="c786cb15-3018-4d64-b5e8-b0da498b0ef1" providerId="ADAL" clId="{F1A1C34E-01E2-4F0B-88C2-48FAE9788D3B}" dt="2025-09-02T14:18:42.758" v="295" actId="27636"/>
          <ac:spMkLst>
            <pc:docMk/>
            <pc:sldMk cId="3782927976" sldId="265"/>
            <ac:spMk id="3" creationId="{0AD9BAB3-7F97-37D1-9975-9E4C5D35DF36}"/>
          </ac:spMkLst>
        </pc:spChg>
      </pc:sldChg>
      <pc:sldChg chg="addSp delSp modSp new mod">
        <pc:chgData name="Nidia Guadalupe Lopez Flores - HAGS" userId="c786cb15-3018-4d64-b5e8-b0da498b0ef1" providerId="ADAL" clId="{F1A1C34E-01E2-4F0B-88C2-48FAE9788D3B}" dt="2025-09-02T14:28:06.511" v="418" actId="207"/>
        <pc:sldMkLst>
          <pc:docMk/>
          <pc:sldMk cId="3700375279" sldId="266"/>
        </pc:sldMkLst>
        <pc:spChg chg="mod">
          <ac:chgData name="Nidia Guadalupe Lopez Flores - HAGS" userId="c786cb15-3018-4d64-b5e8-b0da498b0ef1" providerId="ADAL" clId="{F1A1C34E-01E2-4F0B-88C2-48FAE9788D3B}" dt="2025-09-02T14:23:18.728" v="329" actId="20577"/>
          <ac:spMkLst>
            <pc:docMk/>
            <pc:sldMk cId="3700375279" sldId="266"/>
            <ac:spMk id="2" creationId="{0AF3FB27-E3D5-5E91-B4D3-A4B9A6C700D5}"/>
          </ac:spMkLst>
        </pc:spChg>
        <pc:spChg chg="del">
          <ac:chgData name="Nidia Guadalupe Lopez Flores - HAGS" userId="c786cb15-3018-4d64-b5e8-b0da498b0ef1" providerId="ADAL" clId="{F1A1C34E-01E2-4F0B-88C2-48FAE9788D3B}" dt="2025-09-02T14:23:11.042" v="319" actId="478"/>
          <ac:spMkLst>
            <pc:docMk/>
            <pc:sldMk cId="3700375279" sldId="266"/>
            <ac:spMk id="3" creationId="{8DFAD5A0-AA5B-BBEC-7219-0C3D0D339FD4}"/>
          </ac:spMkLst>
        </pc:spChg>
        <pc:graphicFrameChg chg="add mod modGraphic">
          <ac:chgData name="Nidia Guadalupe Lopez Flores - HAGS" userId="c786cb15-3018-4d64-b5e8-b0da498b0ef1" providerId="ADAL" clId="{F1A1C34E-01E2-4F0B-88C2-48FAE9788D3B}" dt="2025-09-02T14:28:06.511" v="418" actId="207"/>
          <ac:graphicFrameMkLst>
            <pc:docMk/>
            <pc:sldMk cId="3700375279" sldId="266"/>
            <ac:graphicFrameMk id="4" creationId="{92492C6E-3D5E-F138-0A7D-2A474E8EAE75}"/>
          </ac:graphicFrameMkLst>
        </pc:graphicFrameChg>
      </pc:sldChg>
      <pc:sldChg chg="modSp add mod">
        <pc:chgData name="Nidia Guadalupe Lopez Flores - HAGS" userId="c786cb15-3018-4d64-b5e8-b0da498b0ef1" providerId="ADAL" clId="{F1A1C34E-01E2-4F0B-88C2-48FAE9788D3B}" dt="2025-09-02T14:27:59.450" v="417" actId="207"/>
        <pc:sldMkLst>
          <pc:docMk/>
          <pc:sldMk cId="4069543190" sldId="267"/>
        </pc:sldMkLst>
        <pc:spChg chg="mod">
          <ac:chgData name="Nidia Guadalupe Lopez Flores - HAGS" userId="c786cb15-3018-4d64-b5e8-b0da498b0ef1" providerId="ADAL" clId="{F1A1C34E-01E2-4F0B-88C2-48FAE9788D3B}" dt="2025-09-02T14:25:40.655" v="373" actId="20577"/>
          <ac:spMkLst>
            <pc:docMk/>
            <pc:sldMk cId="4069543190" sldId="267"/>
            <ac:spMk id="2" creationId="{8A86266E-E3E2-791F-08D9-0086B82C0841}"/>
          </ac:spMkLst>
        </pc:spChg>
        <pc:graphicFrameChg chg="mod modGraphic">
          <ac:chgData name="Nidia Guadalupe Lopez Flores - HAGS" userId="c786cb15-3018-4d64-b5e8-b0da498b0ef1" providerId="ADAL" clId="{F1A1C34E-01E2-4F0B-88C2-48FAE9788D3B}" dt="2025-09-02T14:27:59.450" v="417" actId="207"/>
          <ac:graphicFrameMkLst>
            <pc:docMk/>
            <pc:sldMk cId="4069543190" sldId="267"/>
            <ac:graphicFrameMk id="4" creationId="{9A2E524E-82F3-F826-28FE-A948D89F4889}"/>
          </ac:graphicFrameMkLst>
        </pc:graphicFrameChg>
      </pc:sldChg>
      <pc:sldChg chg="addSp delSp modSp new mod">
        <pc:chgData name="Nidia Guadalupe Lopez Flores - HAGS" userId="c786cb15-3018-4d64-b5e8-b0da498b0ef1" providerId="ADAL" clId="{F1A1C34E-01E2-4F0B-88C2-48FAE9788D3B}" dt="2025-09-02T14:30:18.068" v="430" actId="122"/>
        <pc:sldMkLst>
          <pc:docMk/>
          <pc:sldMk cId="1790977886" sldId="268"/>
        </pc:sldMkLst>
        <pc:spChg chg="del">
          <ac:chgData name="Nidia Guadalupe Lopez Flores - HAGS" userId="c786cb15-3018-4d64-b5e8-b0da498b0ef1" providerId="ADAL" clId="{F1A1C34E-01E2-4F0B-88C2-48FAE9788D3B}" dt="2025-09-02T14:30:07.614" v="429" actId="478"/>
          <ac:spMkLst>
            <pc:docMk/>
            <pc:sldMk cId="1790977886" sldId="268"/>
            <ac:spMk id="2" creationId="{05D6BA5C-5133-7A6A-662A-EC106350002C}"/>
          </ac:spMkLst>
        </pc:spChg>
        <pc:spChg chg="del">
          <ac:chgData name="Nidia Guadalupe Lopez Flores - HAGS" userId="c786cb15-3018-4d64-b5e8-b0da498b0ef1" providerId="ADAL" clId="{F1A1C34E-01E2-4F0B-88C2-48FAE9788D3B}" dt="2025-09-02T14:29:00.889" v="420"/>
          <ac:spMkLst>
            <pc:docMk/>
            <pc:sldMk cId="1790977886" sldId="268"/>
            <ac:spMk id="3" creationId="{2380EB5A-C539-E46D-EDA0-54D80A8A0757}"/>
          </ac:spMkLst>
        </pc:spChg>
        <pc:graphicFrameChg chg="add mod modGraphic">
          <ac:chgData name="Nidia Guadalupe Lopez Flores - HAGS" userId="c786cb15-3018-4d64-b5e8-b0da498b0ef1" providerId="ADAL" clId="{F1A1C34E-01E2-4F0B-88C2-48FAE9788D3B}" dt="2025-09-02T14:30:18.068" v="430" actId="122"/>
          <ac:graphicFrameMkLst>
            <pc:docMk/>
            <pc:sldMk cId="1790977886" sldId="268"/>
            <ac:graphicFrameMk id="4" creationId="{5BCBD329-DF37-764A-0FD8-AFF72AEC775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909E-D631-40B6-AB12-C0B0CDCED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B5DA0-7E35-4259-97AF-98C3A3A7C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s-IS" dirty="0"/>
          </a:p>
        </p:txBody>
      </p:sp>
    </p:spTree>
    <p:extLst>
      <p:ext uri="{BB962C8B-B14F-4D97-AF65-F5344CB8AC3E}">
        <p14:creationId xmlns:p14="http://schemas.microsoft.com/office/powerpoint/2010/main" val="239969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6CA1-2647-4FE2-82BB-A9D658F2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8217E-0438-41B2-8DCC-B01EAEDB1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688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005425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B5FA-62F3-49C6-9B8F-1709326A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0315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45F42-8520-4E28-BE05-925F0FB7F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7407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8714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29CB-5193-4C21-BB87-161E7A28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6074D-FB73-40F1-BAF9-8533EC067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6BE7E-E8F8-41FC-BCC1-AD76F7161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10719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C7F7-CD4C-4F30-8016-C6F9AE5B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8EA90-DB1A-4AD2-B6FE-52218A3B4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4F35F-3CAE-4307-AE06-691CDEE6B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BB726-B33D-4868-8C57-D95AE8689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F68AB-3F4B-4521-AB36-48ADA895F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1357221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F190-8161-41F0-A330-0127955AA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418971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797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2A4D6-7308-4D0A-AA61-F0080538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A3A1-2A91-451D-8C0A-9CE22EDC6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7032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07C71-63EB-4F93-916D-8C6B0C660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6332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3951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3A78A-07A1-47B0-9B35-764CCE80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5A28F3-CD99-4F21-91C2-FF4DA2A0A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66170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s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1B9AB-AE3A-443C-BFF5-4DD4F3EC7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91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8747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41BD0-8F0B-40A2-ACD7-935C9AFB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4D1F6-0161-4B61-9B38-DF53BD306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D164D-464F-460A-968B-052D44EB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002C94-C084-44D3-A2A0-86797B289126}" type="datetimeFigureOut">
              <a:rPr lang="is-IS" smtClean="0"/>
              <a:t>3.9.2025</a:t>
            </a:fld>
            <a:endParaRPr lang="is-I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68990-CFB9-4534-914F-FAFED5B08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s-I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8A577-03E5-4BFD-B6F2-F8E5420A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33D46E-32E0-4D75-95AC-FD791FA0EE89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69149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CC92B-4874-455D-9829-494D9ECAE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76EA7-A91A-4B0E-8C8A-2245FFA16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41E36-8F54-4FD4-B611-2764BD56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002C94-C084-44D3-A2A0-86797B289126}" type="datetimeFigureOut">
              <a:rPr lang="is-IS" smtClean="0"/>
              <a:t>3.9.2025</a:t>
            </a:fld>
            <a:endParaRPr lang="is-I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0C4E8-6B23-4F78-A0B2-BD8CBFFA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s-I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5182B-632D-44F7-8201-4A088A91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33D46E-32E0-4D75-95AC-FD791FA0EE89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410832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BD00D2-3AD4-4450-A4A7-D6D339017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is-I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298E4-7854-4EEE-B480-050F3DD68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47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s-I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F11E0-2D8E-46CA-B222-A449363DB41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192" y="5679432"/>
            <a:ext cx="2018607" cy="101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3394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339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3394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3394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394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394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s-I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B7DF-19D4-4097-A5B3-B494A8529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Microdata service</a:t>
            </a:r>
            <a:endParaRPr lang="is-I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1003B-C14F-4CD5-99A0-E9D7262B0F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Research database</a:t>
            </a:r>
            <a:endParaRPr lang="is-IS" dirty="0"/>
          </a:p>
        </p:txBody>
      </p:sp>
    </p:spTree>
    <p:extLst>
      <p:ext uri="{BB962C8B-B14F-4D97-AF65-F5344CB8AC3E}">
        <p14:creationId xmlns:p14="http://schemas.microsoft.com/office/powerpoint/2010/main" val="3171640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8C3135-F588-972C-C497-191EEC2E4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44" y="659713"/>
            <a:ext cx="9881162" cy="539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8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E4741C-A61A-3BAA-4760-445D1D34E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0" y="397041"/>
            <a:ext cx="10313092" cy="556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7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val 52">
            <a:extLst>
              <a:ext uri="{FF2B5EF4-FFF2-40B4-BE49-F238E27FC236}">
                <a16:creationId xmlns:a16="http://schemas.microsoft.com/office/drawing/2014/main" id="{92835A37-2F97-7D5E-32BE-837CF64B46CA}"/>
              </a:ext>
            </a:extLst>
          </p:cNvPr>
          <p:cNvSpPr/>
          <p:nvPr/>
        </p:nvSpPr>
        <p:spPr>
          <a:xfrm>
            <a:off x="9454277" y="4468862"/>
            <a:ext cx="1296830" cy="1182344"/>
          </a:xfrm>
          <a:prstGeom prst="ellipse">
            <a:avLst/>
          </a:prstGeom>
          <a:solidFill>
            <a:schemeClr val="bg2">
              <a:lumMod val="5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A75980-5AA3-FE9D-1B0D-C6E633408266}"/>
              </a:ext>
            </a:extLst>
          </p:cNvPr>
          <p:cNvSpPr/>
          <p:nvPr/>
        </p:nvSpPr>
        <p:spPr>
          <a:xfrm>
            <a:off x="8309441" y="3690720"/>
            <a:ext cx="1296830" cy="1182344"/>
          </a:xfrm>
          <a:prstGeom prst="ellipse">
            <a:avLst/>
          </a:prstGeom>
          <a:solidFill>
            <a:schemeClr val="bg2">
              <a:lumMod val="5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4EB780B-14BF-22D0-F2FC-C04ADBDA09F8}"/>
              </a:ext>
            </a:extLst>
          </p:cNvPr>
          <p:cNvSpPr/>
          <p:nvPr/>
        </p:nvSpPr>
        <p:spPr>
          <a:xfrm>
            <a:off x="3867688" y="2031688"/>
            <a:ext cx="1296830" cy="1182344"/>
          </a:xfrm>
          <a:prstGeom prst="ellipse">
            <a:avLst/>
          </a:prstGeom>
          <a:solidFill>
            <a:schemeClr val="bg2">
              <a:lumMod val="5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738CD-4233-F26A-5A54-E27518C5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How does it work?</a:t>
            </a:r>
            <a:endParaRPr lang="is-IS" sz="6000" b="1" dirty="0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717179AF-A10D-EF36-A347-817EE123F053}"/>
              </a:ext>
            </a:extLst>
          </p:cNvPr>
          <p:cNvCxnSpPr>
            <a:cxnSpLocks/>
          </p:cNvCxnSpPr>
          <p:nvPr/>
        </p:nvCxnSpPr>
        <p:spPr>
          <a:xfrm>
            <a:off x="1525140" y="2723598"/>
            <a:ext cx="9136380" cy="1991280"/>
          </a:xfrm>
          <a:prstGeom prst="curvedConnector3">
            <a:avLst>
              <a:gd name="adj1" fmla="val 50000"/>
            </a:avLst>
          </a:prstGeom>
          <a:ln w="76200">
            <a:solidFill>
              <a:srgbClr val="1339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EA0C27-A0C1-A014-9E88-FA7E9B9661F5}"/>
              </a:ext>
            </a:extLst>
          </p:cNvPr>
          <p:cNvGrpSpPr/>
          <p:nvPr/>
        </p:nvGrpSpPr>
        <p:grpSpPr>
          <a:xfrm>
            <a:off x="1870645" y="1874856"/>
            <a:ext cx="1296830" cy="623269"/>
            <a:chOff x="2586977" y="1996102"/>
            <a:chExt cx="849598" cy="4079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166F1D-5A11-FFA2-9ADE-22FB229DD2E3}"/>
                </a:ext>
              </a:extLst>
            </p:cNvPr>
            <p:cNvSpPr txBox="1"/>
            <p:nvPr/>
          </p:nvSpPr>
          <p:spPr>
            <a:xfrm>
              <a:off x="2586977" y="2293282"/>
              <a:ext cx="849598" cy="110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133942"/>
                  </a:solidFill>
                  <a:latin typeface="Roboto"/>
                </a:rPr>
                <a:t>Proposal Processing</a:t>
              </a:r>
            </a:p>
          </p:txBody>
        </p:sp>
        <p:sp>
          <p:nvSpPr>
            <p:cNvPr id="13" name="Rounded Rectangle 20">
              <a:extLst>
                <a:ext uri="{FF2B5EF4-FFF2-40B4-BE49-F238E27FC236}">
                  <a16:creationId xmlns:a16="http://schemas.microsoft.com/office/drawing/2014/main" id="{CCBBEAF1-FA89-B8A8-FA62-82D69C0BB714}"/>
                </a:ext>
              </a:extLst>
            </p:cNvPr>
            <p:cNvSpPr/>
            <p:nvPr/>
          </p:nvSpPr>
          <p:spPr>
            <a:xfrm>
              <a:off x="2869788" y="1996102"/>
              <a:ext cx="283971" cy="297180"/>
            </a:xfrm>
            <a:custGeom>
              <a:avLst/>
              <a:gdLst/>
              <a:ahLst/>
              <a:cxnLst/>
              <a:rect l="0" t="0" r="0" b="0"/>
              <a:pathLst>
                <a:path w="283971" h="297180">
                  <a:moveTo>
                    <a:pt x="0" y="297180"/>
                  </a:moveTo>
                  <a:lnTo>
                    <a:pt x="0" y="165100"/>
                  </a:lnTo>
                  <a:moveTo>
                    <a:pt x="0" y="191515"/>
                  </a:moveTo>
                  <a:lnTo>
                    <a:pt x="92456" y="191515"/>
                  </a:lnTo>
                  <a:cubicBezTo>
                    <a:pt x="114339" y="191516"/>
                    <a:pt x="132080" y="209256"/>
                    <a:pt x="132080" y="231140"/>
                  </a:cubicBezTo>
                  <a:lnTo>
                    <a:pt x="211327" y="231140"/>
                  </a:lnTo>
                  <a:cubicBezTo>
                    <a:pt x="233211" y="231140"/>
                    <a:pt x="250951" y="248880"/>
                    <a:pt x="250951" y="270764"/>
                  </a:cubicBezTo>
                  <a:lnTo>
                    <a:pt x="0" y="270764"/>
                  </a:lnTo>
                  <a:close/>
                  <a:moveTo>
                    <a:pt x="92456" y="231140"/>
                  </a:moveTo>
                  <a:lnTo>
                    <a:pt x="132080" y="231140"/>
                  </a:lnTo>
                  <a:moveTo>
                    <a:pt x="283971" y="178308"/>
                  </a:moveTo>
                  <a:cubicBezTo>
                    <a:pt x="283971" y="138187"/>
                    <a:pt x="251448" y="105664"/>
                    <a:pt x="211327" y="105664"/>
                  </a:cubicBezTo>
                  <a:cubicBezTo>
                    <a:pt x="171207" y="105664"/>
                    <a:pt x="138684" y="138187"/>
                    <a:pt x="138684" y="178308"/>
                  </a:cubicBezTo>
                  <a:close/>
                  <a:moveTo>
                    <a:pt x="253065" y="36718"/>
                  </a:moveTo>
                  <a:cubicBezTo>
                    <a:pt x="244135" y="40553"/>
                    <a:pt x="234518" y="42531"/>
                    <a:pt x="224800" y="42529"/>
                  </a:cubicBezTo>
                  <a:cubicBezTo>
                    <a:pt x="205519" y="42659"/>
                    <a:pt x="187017" y="34934"/>
                    <a:pt x="173553" y="21132"/>
                  </a:cubicBezTo>
                  <a:moveTo>
                    <a:pt x="167609" y="42926"/>
                  </a:moveTo>
                  <a:cubicBezTo>
                    <a:pt x="167609" y="66633"/>
                    <a:pt x="186828" y="85852"/>
                    <a:pt x="210535" y="85852"/>
                  </a:cubicBezTo>
                  <a:cubicBezTo>
                    <a:pt x="234242" y="85852"/>
                    <a:pt x="253461" y="66633"/>
                    <a:pt x="253461" y="42926"/>
                  </a:cubicBezTo>
                  <a:cubicBezTo>
                    <a:pt x="253461" y="19218"/>
                    <a:pt x="234242" y="0"/>
                    <a:pt x="210535" y="0"/>
                  </a:cubicBezTo>
                  <a:cubicBezTo>
                    <a:pt x="186828" y="0"/>
                    <a:pt x="167609" y="19218"/>
                    <a:pt x="167609" y="42926"/>
                  </a:cubicBezTo>
                  <a:moveTo>
                    <a:pt x="211327" y="151892"/>
                  </a:moveTo>
                  <a:lnTo>
                    <a:pt x="211327" y="132080"/>
                  </a:lnTo>
                </a:path>
              </a:pathLst>
            </a:custGeom>
            <a:noFill/>
            <a:ln w="13207">
              <a:solidFill>
                <a:srgbClr val="415C87"/>
              </a:solidFill>
            </a:ln>
          </p:spPr>
          <p:txBody>
            <a:bodyPr rtlCol="0" anchor="ctr"/>
            <a:lstStyle/>
            <a:p>
              <a:pPr algn="ctr"/>
              <a:endParaRPr sz="2800" dirty="0">
                <a:solidFill>
                  <a:srgbClr val="133942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145DA6-B81A-990C-A4C6-24CBED6996B0}"/>
              </a:ext>
            </a:extLst>
          </p:cNvPr>
          <p:cNvGrpSpPr/>
          <p:nvPr/>
        </p:nvGrpSpPr>
        <p:grpSpPr>
          <a:xfrm>
            <a:off x="3036688" y="3042979"/>
            <a:ext cx="997068" cy="484368"/>
            <a:chOff x="4181179" y="1663222"/>
            <a:chExt cx="653214" cy="31706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544065-9010-D731-C686-78FBFCC00227}"/>
                </a:ext>
              </a:extLst>
            </p:cNvPr>
            <p:cNvSpPr txBox="1"/>
            <p:nvPr/>
          </p:nvSpPr>
          <p:spPr>
            <a:xfrm>
              <a:off x="4181179" y="1869478"/>
              <a:ext cx="653214" cy="110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133942"/>
                  </a:solidFill>
                  <a:latin typeface="Roboto"/>
                </a:rPr>
                <a:t>Cost Estimation</a:t>
              </a:r>
            </a:p>
          </p:txBody>
        </p:sp>
        <p:sp>
          <p:nvSpPr>
            <p:cNvPr id="17" name="Rounded Rectangle 21">
              <a:extLst>
                <a:ext uri="{FF2B5EF4-FFF2-40B4-BE49-F238E27FC236}">
                  <a16:creationId xmlns:a16="http://schemas.microsoft.com/office/drawing/2014/main" id="{2EC8D0EC-7D17-99F1-4E8F-2C6E1985D484}"/>
                </a:ext>
              </a:extLst>
            </p:cNvPr>
            <p:cNvSpPr/>
            <p:nvPr/>
          </p:nvSpPr>
          <p:spPr>
            <a:xfrm>
              <a:off x="4381208" y="1663222"/>
              <a:ext cx="253153" cy="221377"/>
            </a:xfrm>
            <a:custGeom>
              <a:avLst/>
              <a:gdLst/>
              <a:ahLst/>
              <a:cxnLst/>
              <a:rect l="0" t="0" r="0" b="0"/>
              <a:pathLst>
                <a:path w="253153" h="221377">
                  <a:moveTo>
                    <a:pt x="171373" y="159277"/>
                  </a:moveTo>
                  <a:lnTo>
                    <a:pt x="220133" y="143086"/>
                  </a:lnTo>
                  <a:cubicBezTo>
                    <a:pt x="232359" y="139461"/>
                    <a:pt x="245547" y="143857"/>
                    <a:pt x="253153" y="154093"/>
                  </a:cubicBezTo>
                  <a:cubicBezTo>
                    <a:pt x="118552" y="221377"/>
                    <a:pt x="162106" y="220980"/>
                    <a:pt x="44026" y="181610"/>
                  </a:cubicBezTo>
                  <a:lnTo>
                    <a:pt x="0" y="209126"/>
                  </a:lnTo>
                  <a:moveTo>
                    <a:pt x="99060" y="165100"/>
                  </a:moveTo>
                  <a:lnTo>
                    <a:pt x="159596" y="165100"/>
                  </a:lnTo>
                  <a:cubicBezTo>
                    <a:pt x="163998" y="165890"/>
                    <a:pt x="168448" y="163982"/>
                    <a:pt x="170910" y="160248"/>
                  </a:cubicBezTo>
                  <a:cubicBezTo>
                    <a:pt x="173371" y="156514"/>
                    <a:pt x="173371" y="151672"/>
                    <a:pt x="170910" y="147938"/>
                  </a:cubicBezTo>
                  <a:cubicBezTo>
                    <a:pt x="168448" y="144204"/>
                    <a:pt x="163998" y="142296"/>
                    <a:pt x="159596" y="143086"/>
                  </a:cubicBezTo>
                  <a:lnTo>
                    <a:pt x="126576" y="143086"/>
                  </a:lnTo>
                  <a:cubicBezTo>
                    <a:pt x="113530" y="129626"/>
                    <a:pt x="95780" y="121737"/>
                    <a:pt x="77046" y="121073"/>
                  </a:cubicBezTo>
                  <a:lnTo>
                    <a:pt x="44026" y="121073"/>
                  </a:lnTo>
                  <a:lnTo>
                    <a:pt x="0" y="143086"/>
                  </a:lnTo>
                  <a:moveTo>
                    <a:pt x="66084" y="0"/>
                  </a:moveTo>
                  <a:lnTo>
                    <a:pt x="231184" y="0"/>
                  </a:lnTo>
                  <a:lnTo>
                    <a:pt x="231184" y="88053"/>
                  </a:lnTo>
                  <a:lnTo>
                    <a:pt x="66084" y="88053"/>
                  </a:lnTo>
                  <a:close/>
                  <a:moveTo>
                    <a:pt x="182116" y="0"/>
                  </a:moveTo>
                  <a:lnTo>
                    <a:pt x="231184" y="38523"/>
                  </a:lnTo>
                  <a:moveTo>
                    <a:pt x="189039" y="88053"/>
                  </a:moveTo>
                  <a:lnTo>
                    <a:pt x="231184" y="49530"/>
                  </a:lnTo>
                  <a:moveTo>
                    <a:pt x="66084" y="49530"/>
                  </a:moveTo>
                  <a:lnTo>
                    <a:pt x="108217" y="88053"/>
                  </a:lnTo>
                  <a:moveTo>
                    <a:pt x="66084" y="38523"/>
                  </a:moveTo>
                  <a:lnTo>
                    <a:pt x="114920" y="0"/>
                  </a:lnTo>
                  <a:moveTo>
                    <a:pt x="132124" y="44026"/>
                  </a:moveTo>
                  <a:cubicBezTo>
                    <a:pt x="132124" y="53144"/>
                    <a:pt x="139515" y="60536"/>
                    <a:pt x="148634" y="60536"/>
                  </a:cubicBezTo>
                  <a:cubicBezTo>
                    <a:pt x="157752" y="60536"/>
                    <a:pt x="165144" y="53144"/>
                    <a:pt x="165144" y="44026"/>
                  </a:cubicBezTo>
                  <a:cubicBezTo>
                    <a:pt x="165144" y="34908"/>
                    <a:pt x="157752" y="27516"/>
                    <a:pt x="148634" y="27516"/>
                  </a:cubicBezTo>
                  <a:cubicBezTo>
                    <a:pt x="139515" y="27516"/>
                    <a:pt x="132124" y="34908"/>
                    <a:pt x="132124" y="44026"/>
                  </a:cubicBezTo>
                  <a:close/>
                </a:path>
              </a:pathLst>
            </a:custGeom>
            <a:noFill/>
            <a:ln w="13207">
              <a:solidFill>
                <a:srgbClr val="415C87"/>
              </a:solidFill>
            </a:ln>
          </p:spPr>
          <p:txBody>
            <a:bodyPr rtlCol="0" anchor="ctr"/>
            <a:lstStyle/>
            <a:p>
              <a:pPr algn="ctr"/>
              <a:endParaRPr sz="2800">
                <a:solidFill>
                  <a:srgbClr val="133942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83A163A-1903-FF8D-E8E4-4569232EFE7B}"/>
              </a:ext>
            </a:extLst>
          </p:cNvPr>
          <p:cNvGrpSpPr/>
          <p:nvPr/>
        </p:nvGrpSpPr>
        <p:grpSpPr>
          <a:xfrm>
            <a:off x="3995358" y="2236571"/>
            <a:ext cx="1061190" cy="587639"/>
            <a:chOff x="3386272" y="4235151"/>
            <a:chExt cx="695222" cy="38466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0DD94C-7F93-3C0A-646A-EBF032254096}"/>
                </a:ext>
              </a:extLst>
            </p:cNvPr>
            <p:cNvSpPr txBox="1"/>
            <p:nvPr/>
          </p:nvSpPr>
          <p:spPr>
            <a:xfrm>
              <a:off x="3386272" y="4509008"/>
              <a:ext cx="695222" cy="110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133942"/>
                  </a:solidFill>
                  <a:latin typeface="Roboto"/>
                </a:rPr>
                <a:t>Data Preparation</a:t>
              </a:r>
            </a:p>
          </p:txBody>
        </p:sp>
        <p:sp>
          <p:nvSpPr>
            <p:cNvPr id="20" name="Rounded Rectangle 23">
              <a:extLst>
                <a:ext uri="{FF2B5EF4-FFF2-40B4-BE49-F238E27FC236}">
                  <a16:creationId xmlns:a16="http://schemas.microsoft.com/office/drawing/2014/main" id="{0D4B58E1-B79F-226B-FAA0-4AA9BB6EC372}"/>
                </a:ext>
              </a:extLst>
            </p:cNvPr>
            <p:cNvSpPr/>
            <p:nvPr/>
          </p:nvSpPr>
          <p:spPr>
            <a:xfrm>
              <a:off x="3607303" y="4235151"/>
              <a:ext cx="253159" cy="218636"/>
            </a:xfrm>
            <a:custGeom>
              <a:avLst/>
              <a:gdLst/>
              <a:ahLst/>
              <a:cxnLst/>
              <a:rect l="0" t="0" r="0" b="0"/>
              <a:pathLst>
                <a:path w="253159" h="218636">
                  <a:moveTo>
                    <a:pt x="11501" y="69044"/>
                  </a:moveTo>
                  <a:lnTo>
                    <a:pt x="172606" y="69044"/>
                  </a:lnTo>
                  <a:cubicBezTo>
                    <a:pt x="172606" y="69044"/>
                    <a:pt x="184108" y="69044"/>
                    <a:pt x="184108" y="80546"/>
                  </a:cubicBezTo>
                  <a:lnTo>
                    <a:pt x="184108" y="207134"/>
                  </a:lnTo>
                  <a:cubicBezTo>
                    <a:pt x="184108" y="207134"/>
                    <a:pt x="184108" y="218636"/>
                    <a:pt x="172606" y="218636"/>
                  </a:cubicBezTo>
                  <a:lnTo>
                    <a:pt x="11501" y="218636"/>
                  </a:lnTo>
                  <a:cubicBezTo>
                    <a:pt x="11501" y="218636"/>
                    <a:pt x="0" y="218636"/>
                    <a:pt x="0" y="207134"/>
                  </a:cubicBezTo>
                  <a:lnTo>
                    <a:pt x="0" y="80546"/>
                  </a:lnTo>
                  <a:cubicBezTo>
                    <a:pt x="0" y="80546"/>
                    <a:pt x="0" y="69044"/>
                    <a:pt x="11501" y="69044"/>
                  </a:cubicBezTo>
                  <a:moveTo>
                    <a:pt x="0" y="103924"/>
                  </a:moveTo>
                  <a:lnTo>
                    <a:pt x="184108" y="103924"/>
                  </a:lnTo>
                  <a:moveTo>
                    <a:pt x="0" y="179496"/>
                  </a:moveTo>
                  <a:lnTo>
                    <a:pt x="184108" y="179496"/>
                  </a:lnTo>
                  <a:moveTo>
                    <a:pt x="0" y="142701"/>
                  </a:moveTo>
                  <a:lnTo>
                    <a:pt x="184108" y="142701"/>
                  </a:lnTo>
                  <a:moveTo>
                    <a:pt x="86303" y="103924"/>
                  </a:moveTo>
                  <a:lnTo>
                    <a:pt x="86303" y="218636"/>
                  </a:lnTo>
                  <a:moveTo>
                    <a:pt x="135205" y="103924"/>
                  </a:moveTo>
                  <a:lnTo>
                    <a:pt x="135205" y="218636"/>
                  </a:lnTo>
                  <a:moveTo>
                    <a:pt x="46029" y="34472"/>
                  </a:moveTo>
                  <a:lnTo>
                    <a:pt x="207123" y="34472"/>
                  </a:lnTo>
                  <a:cubicBezTo>
                    <a:pt x="210184" y="34472"/>
                    <a:pt x="213119" y="35691"/>
                    <a:pt x="215279" y="37860"/>
                  </a:cubicBezTo>
                  <a:cubicBezTo>
                    <a:pt x="217440" y="40029"/>
                    <a:pt x="218648" y="42968"/>
                    <a:pt x="218636" y="46029"/>
                  </a:cubicBezTo>
                  <a:lnTo>
                    <a:pt x="218636" y="195621"/>
                  </a:lnTo>
                  <a:moveTo>
                    <a:pt x="80546" y="0"/>
                  </a:moveTo>
                  <a:lnTo>
                    <a:pt x="241651" y="0"/>
                  </a:lnTo>
                  <a:cubicBezTo>
                    <a:pt x="248008" y="0"/>
                    <a:pt x="253159" y="5156"/>
                    <a:pt x="253153" y="11512"/>
                  </a:cubicBezTo>
                  <a:lnTo>
                    <a:pt x="253153" y="161049"/>
                  </a:lnTo>
                </a:path>
              </a:pathLst>
            </a:custGeom>
            <a:noFill/>
            <a:ln w="13207">
              <a:solidFill>
                <a:srgbClr val="415C87"/>
              </a:solidFill>
            </a:ln>
          </p:spPr>
          <p:txBody>
            <a:bodyPr rtlCol="0" anchor="ctr"/>
            <a:lstStyle/>
            <a:p>
              <a:pPr algn="ctr"/>
              <a:endParaRPr sz="2800">
                <a:solidFill>
                  <a:srgbClr val="133942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765E0D-F837-25E1-5D9D-5FD69ECE0AE4}"/>
              </a:ext>
            </a:extLst>
          </p:cNvPr>
          <p:cNvGrpSpPr/>
          <p:nvPr/>
        </p:nvGrpSpPr>
        <p:grpSpPr>
          <a:xfrm>
            <a:off x="9642235" y="4815616"/>
            <a:ext cx="956993" cy="559373"/>
            <a:chOff x="9470782" y="3495040"/>
            <a:chExt cx="626959" cy="36616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7FB99F-4709-B20A-8607-2D5F7A387C12}"/>
                </a:ext>
              </a:extLst>
            </p:cNvPr>
            <p:cNvSpPr txBox="1"/>
            <p:nvPr/>
          </p:nvSpPr>
          <p:spPr>
            <a:xfrm>
              <a:off x="9470782" y="3750394"/>
              <a:ext cx="626959" cy="110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133942"/>
                  </a:solidFill>
                  <a:latin typeface="Roboto"/>
                </a:rPr>
                <a:t>Output Delivery</a:t>
              </a:r>
            </a:p>
          </p:txBody>
        </p:sp>
        <p:sp>
          <p:nvSpPr>
            <p:cNvPr id="26" name="Rounded Rectangle 22">
              <a:extLst>
                <a:ext uri="{FF2B5EF4-FFF2-40B4-BE49-F238E27FC236}">
                  <a16:creationId xmlns:a16="http://schemas.microsoft.com/office/drawing/2014/main" id="{3AF5D08A-DB20-704A-56CA-CB9FC1F3F31D}"/>
                </a:ext>
              </a:extLst>
            </p:cNvPr>
            <p:cNvSpPr/>
            <p:nvPr/>
          </p:nvSpPr>
          <p:spPr>
            <a:xfrm>
              <a:off x="9655400" y="3495040"/>
              <a:ext cx="257721" cy="248750"/>
            </a:xfrm>
            <a:custGeom>
              <a:avLst/>
              <a:gdLst/>
              <a:ahLst/>
              <a:cxnLst/>
              <a:rect l="0" t="0" r="0" b="0"/>
              <a:pathLst>
                <a:path w="257721" h="248750">
                  <a:moveTo>
                    <a:pt x="0" y="0"/>
                  </a:moveTo>
                  <a:moveTo>
                    <a:pt x="228938" y="248750"/>
                  </a:moveTo>
                  <a:lnTo>
                    <a:pt x="195797" y="229136"/>
                  </a:lnTo>
                  <a:cubicBezTo>
                    <a:pt x="189864" y="224884"/>
                    <a:pt x="186873" y="217622"/>
                    <a:pt x="188092" y="210425"/>
                  </a:cubicBezTo>
                  <a:lnTo>
                    <a:pt x="188092" y="189975"/>
                  </a:lnTo>
                  <a:lnTo>
                    <a:pt x="175666" y="177581"/>
                  </a:lnTo>
                  <a:cubicBezTo>
                    <a:pt x="169873" y="171784"/>
                    <a:pt x="169873" y="162389"/>
                    <a:pt x="175666" y="156591"/>
                  </a:cubicBezTo>
                  <a:cubicBezTo>
                    <a:pt x="176356" y="155900"/>
                    <a:pt x="177112" y="155277"/>
                    <a:pt x="177922" y="154731"/>
                  </a:cubicBezTo>
                  <a:lnTo>
                    <a:pt x="177922" y="154731"/>
                  </a:lnTo>
                  <a:cubicBezTo>
                    <a:pt x="183810" y="150829"/>
                    <a:pt x="191630" y="151606"/>
                    <a:pt x="196634" y="156591"/>
                  </a:cubicBezTo>
                  <a:lnTo>
                    <a:pt x="214090" y="174059"/>
                  </a:lnTo>
                  <a:moveTo>
                    <a:pt x="196435" y="98531"/>
                  </a:moveTo>
                  <a:lnTo>
                    <a:pt x="237424" y="134853"/>
                  </a:lnTo>
                  <a:cubicBezTo>
                    <a:pt x="243532" y="143394"/>
                    <a:pt x="246814" y="153631"/>
                    <a:pt x="246813" y="164131"/>
                  </a:cubicBezTo>
                  <a:lnTo>
                    <a:pt x="246813" y="188544"/>
                  </a:lnTo>
                  <a:cubicBezTo>
                    <a:pt x="246803" y="195555"/>
                    <a:pt x="249574" y="202284"/>
                    <a:pt x="254518" y="207255"/>
                  </a:cubicBezTo>
                  <a:lnTo>
                    <a:pt x="257721" y="210447"/>
                  </a:lnTo>
                  <a:moveTo>
                    <a:pt x="50069" y="174059"/>
                  </a:moveTo>
                  <a:lnTo>
                    <a:pt x="67525" y="156591"/>
                  </a:lnTo>
                  <a:cubicBezTo>
                    <a:pt x="72529" y="151606"/>
                    <a:pt x="80349" y="150829"/>
                    <a:pt x="86237" y="154731"/>
                  </a:cubicBezTo>
                  <a:lnTo>
                    <a:pt x="86237" y="154731"/>
                  </a:lnTo>
                  <a:cubicBezTo>
                    <a:pt x="87047" y="155277"/>
                    <a:pt x="87803" y="155900"/>
                    <a:pt x="88493" y="156591"/>
                  </a:cubicBezTo>
                  <a:cubicBezTo>
                    <a:pt x="94286" y="162389"/>
                    <a:pt x="94286" y="171784"/>
                    <a:pt x="88493" y="177581"/>
                  </a:cubicBezTo>
                  <a:lnTo>
                    <a:pt x="76111" y="189975"/>
                  </a:lnTo>
                  <a:lnTo>
                    <a:pt x="76111" y="210381"/>
                  </a:lnTo>
                  <a:cubicBezTo>
                    <a:pt x="77330" y="217578"/>
                    <a:pt x="74339" y="224840"/>
                    <a:pt x="68406" y="229092"/>
                  </a:cubicBezTo>
                  <a:lnTo>
                    <a:pt x="35221" y="248750"/>
                  </a:lnTo>
                  <a:moveTo>
                    <a:pt x="6405" y="210381"/>
                  </a:moveTo>
                  <a:lnTo>
                    <a:pt x="9608" y="207189"/>
                  </a:lnTo>
                  <a:cubicBezTo>
                    <a:pt x="14552" y="202218"/>
                    <a:pt x="17323" y="195489"/>
                    <a:pt x="17313" y="188478"/>
                  </a:cubicBezTo>
                  <a:lnTo>
                    <a:pt x="17313" y="164076"/>
                  </a:lnTo>
                  <a:cubicBezTo>
                    <a:pt x="17312" y="153576"/>
                    <a:pt x="20594" y="143339"/>
                    <a:pt x="26702" y="134798"/>
                  </a:cubicBezTo>
                  <a:lnTo>
                    <a:pt x="67724" y="98531"/>
                  </a:lnTo>
                  <a:moveTo>
                    <a:pt x="196689" y="156591"/>
                  </a:moveTo>
                  <a:lnTo>
                    <a:pt x="196689" y="46228"/>
                  </a:lnTo>
                  <a:cubicBezTo>
                    <a:pt x="196683" y="41592"/>
                    <a:pt x="192926" y="37835"/>
                    <a:pt x="188291" y="37829"/>
                  </a:cubicBezTo>
                  <a:lnTo>
                    <a:pt x="154709" y="37829"/>
                  </a:lnTo>
                  <a:cubicBezTo>
                    <a:pt x="154709" y="25465"/>
                    <a:pt x="144686" y="15442"/>
                    <a:pt x="132322" y="15442"/>
                  </a:cubicBezTo>
                  <a:cubicBezTo>
                    <a:pt x="119957" y="15442"/>
                    <a:pt x="109934" y="25465"/>
                    <a:pt x="109934" y="37829"/>
                  </a:cubicBezTo>
                  <a:lnTo>
                    <a:pt x="76364" y="37829"/>
                  </a:lnTo>
                  <a:cubicBezTo>
                    <a:pt x="71726" y="37829"/>
                    <a:pt x="67966" y="41589"/>
                    <a:pt x="67966" y="46228"/>
                  </a:cubicBezTo>
                  <a:lnTo>
                    <a:pt x="67966" y="156591"/>
                  </a:lnTo>
                  <a:moveTo>
                    <a:pt x="76364" y="209533"/>
                  </a:moveTo>
                  <a:lnTo>
                    <a:pt x="188291" y="209533"/>
                  </a:lnTo>
                  <a:moveTo>
                    <a:pt x="90001" y="72897"/>
                  </a:moveTo>
                  <a:lnTo>
                    <a:pt x="125663" y="72897"/>
                  </a:lnTo>
                  <a:moveTo>
                    <a:pt x="164956" y="72897"/>
                  </a:moveTo>
                  <a:lnTo>
                    <a:pt x="175237" y="72897"/>
                  </a:lnTo>
                  <a:moveTo>
                    <a:pt x="90001" y="98586"/>
                  </a:moveTo>
                  <a:lnTo>
                    <a:pt x="125663" y="98586"/>
                  </a:lnTo>
                  <a:moveTo>
                    <a:pt x="164956" y="98586"/>
                  </a:moveTo>
                  <a:lnTo>
                    <a:pt x="175237" y="98586"/>
                  </a:lnTo>
                  <a:moveTo>
                    <a:pt x="90001" y="130329"/>
                  </a:moveTo>
                  <a:lnTo>
                    <a:pt x="125663" y="130329"/>
                  </a:lnTo>
                  <a:moveTo>
                    <a:pt x="164956" y="130329"/>
                  </a:moveTo>
                  <a:lnTo>
                    <a:pt x="175237" y="130329"/>
                  </a:lnTo>
                </a:path>
              </a:pathLst>
            </a:custGeom>
            <a:noFill/>
            <a:ln w="13207">
              <a:solidFill>
                <a:srgbClr val="415C87"/>
              </a:solidFill>
            </a:ln>
          </p:spPr>
          <p:txBody>
            <a:bodyPr rtlCol="0" anchor="ctr"/>
            <a:lstStyle/>
            <a:p>
              <a:pPr algn="ctr"/>
              <a:endParaRPr sz="2800">
                <a:solidFill>
                  <a:srgbClr val="133942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D0B8C1C-C4C0-A3B6-C9AC-8A53D1B3726B}"/>
              </a:ext>
            </a:extLst>
          </p:cNvPr>
          <p:cNvGrpSpPr/>
          <p:nvPr/>
        </p:nvGrpSpPr>
        <p:grpSpPr>
          <a:xfrm>
            <a:off x="5011541" y="3492849"/>
            <a:ext cx="862415" cy="550936"/>
            <a:chOff x="9436722" y="1120341"/>
            <a:chExt cx="564998" cy="36063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448E0A-816F-C81A-8F54-5472B4470954}"/>
                </a:ext>
              </a:extLst>
            </p:cNvPr>
            <p:cNvSpPr txBox="1"/>
            <p:nvPr/>
          </p:nvSpPr>
          <p:spPr>
            <a:xfrm>
              <a:off x="9436722" y="1370172"/>
              <a:ext cx="564998" cy="110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133942"/>
                  </a:solidFill>
                  <a:latin typeface="Roboto"/>
                </a:rPr>
                <a:t>Data Transfer</a:t>
              </a:r>
            </a:p>
          </p:txBody>
        </p:sp>
        <p:sp>
          <p:nvSpPr>
            <p:cNvPr id="27" name="Rounded Rectangle 24">
              <a:extLst>
                <a:ext uri="{FF2B5EF4-FFF2-40B4-BE49-F238E27FC236}">
                  <a16:creationId xmlns:a16="http://schemas.microsoft.com/office/drawing/2014/main" id="{3AD8A703-9DD3-2992-1675-D7EAC506E671}"/>
                </a:ext>
              </a:extLst>
            </p:cNvPr>
            <p:cNvSpPr/>
            <p:nvPr/>
          </p:nvSpPr>
          <p:spPr>
            <a:xfrm>
              <a:off x="9597829" y="1120341"/>
              <a:ext cx="242141" cy="242141"/>
            </a:xfrm>
            <a:custGeom>
              <a:avLst/>
              <a:gdLst/>
              <a:ahLst/>
              <a:cxnLst/>
              <a:rect l="0" t="0" r="0" b="0"/>
              <a:pathLst>
                <a:path w="242141" h="242141">
                  <a:moveTo>
                    <a:pt x="7782" y="113287"/>
                  </a:moveTo>
                  <a:lnTo>
                    <a:pt x="113287" y="7782"/>
                  </a:lnTo>
                  <a:cubicBezTo>
                    <a:pt x="113287" y="7782"/>
                    <a:pt x="121070" y="0"/>
                    <a:pt x="128853" y="7782"/>
                  </a:cubicBezTo>
                  <a:lnTo>
                    <a:pt x="234358" y="113287"/>
                  </a:lnTo>
                  <a:cubicBezTo>
                    <a:pt x="234358" y="113287"/>
                    <a:pt x="242141" y="121070"/>
                    <a:pt x="234358" y="128853"/>
                  </a:cubicBezTo>
                  <a:lnTo>
                    <a:pt x="128853" y="234358"/>
                  </a:lnTo>
                  <a:cubicBezTo>
                    <a:pt x="128853" y="234358"/>
                    <a:pt x="121070" y="242141"/>
                    <a:pt x="113287" y="234358"/>
                  </a:cubicBezTo>
                  <a:lnTo>
                    <a:pt x="7782" y="128853"/>
                  </a:lnTo>
                  <a:cubicBezTo>
                    <a:pt x="7782" y="128853"/>
                    <a:pt x="0" y="121070"/>
                    <a:pt x="7782" y="113287"/>
                  </a:cubicBezTo>
                  <a:moveTo>
                    <a:pt x="121398" y="66334"/>
                  </a:moveTo>
                  <a:lnTo>
                    <a:pt x="121398" y="176401"/>
                  </a:lnTo>
                  <a:moveTo>
                    <a:pt x="88378" y="99354"/>
                  </a:moveTo>
                  <a:lnTo>
                    <a:pt x="121398" y="66334"/>
                  </a:lnTo>
                  <a:lnTo>
                    <a:pt x="154418" y="99354"/>
                  </a:lnTo>
                  <a:moveTo>
                    <a:pt x="88378" y="143381"/>
                  </a:moveTo>
                  <a:lnTo>
                    <a:pt x="121398" y="176401"/>
                  </a:lnTo>
                  <a:lnTo>
                    <a:pt x="154418" y="143381"/>
                  </a:lnTo>
                </a:path>
              </a:pathLst>
            </a:custGeom>
            <a:noFill/>
            <a:ln w="13207">
              <a:solidFill>
                <a:srgbClr val="415C87"/>
              </a:solidFill>
            </a:ln>
          </p:spPr>
          <p:txBody>
            <a:bodyPr rtlCol="0" anchor="ctr"/>
            <a:lstStyle/>
            <a:p>
              <a:pPr algn="ctr"/>
              <a:endParaRPr sz="2800">
                <a:solidFill>
                  <a:srgbClr val="133942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D43524-FC41-6F0C-9808-1012B1E21DD5}"/>
              </a:ext>
            </a:extLst>
          </p:cNvPr>
          <p:cNvGrpSpPr/>
          <p:nvPr/>
        </p:nvGrpSpPr>
        <p:grpSpPr>
          <a:xfrm>
            <a:off x="6358307" y="3331878"/>
            <a:ext cx="995464" cy="587177"/>
            <a:chOff x="9505014" y="1586039"/>
            <a:chExt cx="652163" cy="38436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331894B-77FF-0C4A-1A08-ED06AF73F7D4}"/>
                </a:ext>
              </a:extLst>
            </p:cNvPr>
            <p:cNvSpPr txBox="1"/>
            <p:nvPr/>
          </p:nvSpPr>
          <p:spPr>
            <a:xfrm>
              <a:off x="9505014" y="1859593"/>
              <a:ext cx="652163" cy="110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133942"/>
                  </a:solidFill>
                  <a:latin typeface="Roboto"/>
                </a:rPr>
                <a:t>Access Granted</a:t>
              </a:r>
            </a:p>
          </p:txBody>
        </p:sp>
        <p:sp>
          <p:nvSpPr>
            <p:cNvPr id="28" name="Rounded Rectangle 25">
              <a:extLst>
                <a:ext uri="{FF2B5EF4-FFF2-40B4-BE49-F238E27FC236}">
                  <a16:creationId xmlns:a16="http://schemas.microsoft.com/office/drawing/2014/main" id="{19A83E5E-437D-34FB-8ECF-C4645AB39508}"/>
                </a:ext>
              </a:extLst>
            </p:cNvPr>
            <p:cNvSpPr/>
            <p:nvPr/>
          </p:nvSpPr>
          <p:spPr>
            <a:xfrm>
              <a:off x="9703142" y="1586039"/>
              <a:ext cx="255905" cy="255905"/>
            </a:xfrm>
            <a:custGeom>
              <a:avLst/>
              <a:gdLst/>
              <a:ahLst/>
              <a:cxnLst/>
              <a:rect l="0" t="0" r="0" b="0"/>
              <a:pathLst>
                <a:path w="255905" h="255905">
                  <a:moveTo>
                    <a:pt x="8255" y="54483"/>
                  </a:moveTo>
                  <a:lnTo>
                    <a:pt x="8255" y="19261"/>
                  </a:lnTo>
                  <a:cubicBezTo>
                    <a:pt x="8255" y="12657"/>
                    <a:pt x="12657" y="8255"/>
                    <a:pt x="19261" y="8255"/>
                  </a:cubicBezTo>
                  <a:lnTo>
                    <a:pt x="54483" y="8255"/>
                  </a:lnTo>
                  <a:moveTo>
                    <a:pt x="210777" y="54483"/>
                  </a:moveTo>
                  <a:lnTo>
                    <a:pt x="210777" y="19261"/>
                  </a:lnTo>
                  <a:cubicBezTo>
                    <a:pt x="210777" y="12657"/>
                    <a:pt x="206375" y="8255"/>
                    <a:pt x="199771" y="8255"/>
                  </a:cubicBezTo>
                  <a:lnTo>
                    <a:pt x="164549" y="8255"/>
                  </a:lnTo>
                  <a:moveTo>
                    <a:pt x="8255" y="170053"/>
                  </a:moveTo>
                  <a:lnTo>
                    <a:pt x="8255" y="205274"/>
                  </a:lnTo>
                  <a:cubicBezTo>
                    <a:pt x="8255" y="211878"/>
                    <a:pt x="12657" y="216281"/>
                    <a:pt x="19261" y="216281"/>
                  </a:cubicBezTo>
                  <a:lnTo>
                    <a:pt x="54483" y="216281"/>
                  </a:lnTo>
                  <a:moveTo>
                    <a:pt x="149837" y="74221"/>
                  </a:moveTo>
                  <a:cubicBezTo>
                    <a:pt x="141008" y="78636"/>
                    <a:pt x="131076" y="80843"/>
                    <a:pt x="120040" y="80843"/>
                  </a:cubicBezTo>
                  <a:cubicBezTo>
                    <a:pt x="99073" y="80843"/>
                    <a:pt x="79210" y="72014"/>
                    <a:pt x="65967" y="57668"/>
                  </a:cubicBezTo>
                  <a:moveTo>
                    <a:pt x="105113" y="124925"/>
                  </a:moveTo>
                  <a:cubicBezTo>
                    <a:pt x="130036" y="124925"/>
                    <a:pt x="150241" y="104721"/>
                    <a:pt x="150241" y="79798"/>
                  </a:cubicBezTo>
                  <a:cubicBezTo>
                    <a:pt x="150241" y="54875"/>
                    <a:pt x="130036" y="34671"/>
                    <a:pt x="105113" y="34671"/>
                  </a:cubicBezTo>
                  <a:cubicBezTo>
                    <a:pt x="80189" y="34671"/>
                    <a:pt x="59985" y="54875"/>
                    <a:pt x="59985" y="79798"/>
                  </a:cubicBezTo>
                  <a:cubicBezTo>
                    <a:pt x="59985" y="104721"/>
                    <a:pt x="80189" y="124925"/>
                    <a:pt x="105113" y="124925"/>
                  </a:cubicBezTo>
                  <a:close/>
                  <a:moveTo>
                    <a:pt x="0" y="0"/>
                  </a:moveTo>
                  <a:moveTo>
                    <a:pt x="108415" y="144737"/>
                  </a:moveTo>
                  <a:lnTo>
                    <a:pt x="105113" y="144737"/>
                  </a:lnTo>
                  <a:cubicBezTo>
                    <a:pt x="80898" y="144737"/>
                    <a:pt x="59985" y="154643"/>
                    <a:pt x="44576" y="170053"/>
                  </a:cubicBezTo>
                  <a:moveTo>
                    <a:pt x="189865" y="233891"/>
                  </a:moveTo>
                  <a:cubicBezTo>
                    <a:pt x="214179" y="233891"/>
                    <a:pt x="233891" y="214179"/>
                    <a:pt x="233891" y="189865"/>
                  </a:cubicBezTo>
                  <a:cubicBezTo>
                    <a:pt x="233891" y="165550"/>
                    <a:pt x="214179" y="145838"/>
                    <a:pt x="189865" y="145838"/>
                  </a:cubicBezTo>
                  <a:cubicBezTo>
                    <a:pt x="165550" y="145838"/>
                    <a:pt x="145838" y="165550"/>
                    <a:pt x="145838" y="189865"/>
                  </a:cubicBezTo>
                  <a:cubicBezTo>
                    <a:pt x="145838" y="214179"/>
                    <a:pt x="165550" y="233891"/>
                    <a:pt x="189865" y="233891"/>
                  </a:cubicBezTo>
                  <a:close/>
                  <a:moveTo>
                    <a:pt x="0" y="0"/>
                  </a:moveTo>
                  <a:moveTo>
                    <a:pt x="221784" y="220683"/>
                  </a:moveTo>
                  <a:lnTo>
                    <a:pt x="255905" y="255905"/>
                  </a:lnTo>
                </a:path>
              </a:pathLst>
            </a:custGeom>
            <a:noFill/>
            <a:ln w="13207">
              <a:solidFill>
                <a:srgbClr val="415C87"/>
              </a:solidFill>
            </a:ln>
          </p:spPr>
          <p:txBody>
            <a:bodyPr rtlCol="0" anchor="ctr"/>
            <a:lstStyle/>
            <a:p>
              <a:pPr algn="ctr"/>
              <a:endParaRPr sz="2800">
                <a:solidFill>
                  <a:srgbClr val="133942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EA9F98-E74A-53DD-6149-8772D3B99640}"/>
              </a:ext>
            </a:extLst>
          </p:cNvPr>
          <p:cNvGrpSpPr/>
          <p:nvPr/>
        </p:nvGrpSpPr>
        <p:grpSpPr>
          <a:xfrm>
            <a:off x="7053037" y="4608752"/>
            <a:ext cx="1343316" cy="571190"/>
            <a:chOff x="9558853" y="2169517"/>
            <a:chExt cx="880053" cy="37389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DD5AE8-6673-E6E8-D71D-93CF7A1E6443}"/>
                </a:ext>
              </a:extLst>
            </p:cNvPr>
            <p:cNvSpPr txBox="1"/>
            <p:nvPr/>
          </p:nvSpPr>
          <p:spPr>
            <a:xfrm>
              <a:off x="9558853" y="2432606"/>
              <a:ext cx="880053" cy="110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133942"/>
                  </a:solidFill>
                  <a:latin typeface="Roboto"/>
                </a:rPr>
                <a:t>Research Undertaken</a:t>
              </a:r>
            </a:p>
          </p:txBody>
        </p:sp>
        <p:sp>
          <p:nvSpPr>
            <p:cNvPr id="29" name="Rounded Rectangle 26">
              <a:extLst>
                <a:ext uri="{FF2B5EF4-FFF2-40B4-BE49-F238E27FC236}">
                  <a16:creationId xmlns:a16="http://schemas.microsoft.com/office/drawing/2014/main" id="{418028BA-521A-9B14-D71C-447A338B84A1}"/>
                </a:ext>
              </a:extLst>
            </p:cNvPr>
            <p:cNvSpPr/>
            <p:nvPr/>
          </p:nvSpPr>
          <p:spPr>
            <a:xfrm>
              <a:off x="9883309" y="2169517"/>
              <a:ext cx="231140" cy="253153"/>
            </a:xfrm>
            <a:custGeom>
              <a:avLst/>
              <a:gdLst/>
              <a:ahLst/>
              <a:cxnLst/>
              <a:rect l="0" t="0" r="0" b="0"/>
              <a:pathLst>
                <a:path w="231140" h="253153">
                  <a:moveTo>
                    <a:pt x="116461" y="253153"/>
                  </a:moveTo>
                  <a:lnTo>
                    <a:pt x="22013" y="253153"/>
                  </a:lnTo>
                  <a:cubicBezTo>
                    <a:pt x="9855" y="253153"/>
                    <a:pt x="0" y="243297"/>
                    <a:pt x="0" y="231140"/>
                  </a:cubicBezTo>
                  <a:lnTo>
                    <a:pt x="0" y="22013"/>
                  </a:lnTo>
                  <a:moveTo>
                    <a:pt x="209126" y="0"/>
                  </a:moveTo>
                  <a:lnTo>
                    <a:pt x="22013" y="0"/>
                  </a:lnTo>
                  <a:cubicBezTo>
                    <a:pt x="9855" y="0"/>
                    <a:pt x="0" y="9855"/>
                    <a:pt x="0" y="22013"/>
                  </a:cubicBezTo>
                  <a:cubicBezTo>
                    <a:pt x="0" y="34170"/>
                    <a:pt x="9855" y="44026"/>
                    <a:pt x="22013" y="44026"/>
                  </a:cubicBezTo>
                  <a:lnTo>
                    <a:pt x="198120" y="44026"/>
                  </a:lnTo>
                  <a:cubicBezTo>
                    <a:pt x="204198" y="44026"/>
                    <a:pt x="209126" y="48954"/>
                    <a:pt x="209126" y="55033"/>
                  </a:cubicBezTo>
                  <a:lnTo>
                    <a:pt x="209126" y="126862"/>
                  </a:lnTo>
                  <a:moveTo>
                    <a:pt x="198120" y="22013"/>
                  </a:moveTo>
                  <a:lnTo>
                    <a:pt x="22013" y="22013"/>
                  </a:lnTo>
                  <a:moveTo>
                    <a:pt x="110066" y="181929"/>
                  </a:moveTo>
                  <a:cubicBezTo>
                    <a:pt x="110066" y="209460"/>
                    <a:pt x="132384" y="231778"/>
                    <a:pt x="159915" y="231778"/>
                  </a:cubicBezTo>
                  <a:cubicBezTo>
                    <a:pt x="187446" y="231778"/>
                    <a:pt x="209765" y="209460"/>
                    <a:pt x="209765" y="181929"/>
                  </a:cubicBezTo>
                  <a:cubicBezTo>
                    <a:pt x="209765" y="154398"/>
                    <a:pt x="187446" y="132080"/>
                    <a:pt x="159915" y="132080"/>
                  </a:cubicBezTo>
                  <a:cubicBezTo>
                    <a:pt x="132384" y="132080"/>
                    <a:pt x="110066" y="154398"/>
                    <a:pt x="110066" y="181929"/>
                  </a:cubicBezTo>
                  <a:close/>
                  <a:moveTo>
                    <a:pt x="231140" y="253153"/>
                  </a:moveTo>
                  <a:lnTo>
                    <a:pt x="195390" y="217403"/>
                  </a:lnTo>
                </a:path>
              </a:pathLst>
            </a:custGeom>
            <a:noFill/>
            <a:ln w="13207">
              <a:solidFill>
                <a:srgbClr val="415C87"/>
              </a:solidFill>
            </a:ln>
          </p:spPr>
          <p:txBody>
            <a:bodyPr rtlCol="0" anchor="ctr"/>
            <a:lstStyle/>
            <a:p>
              <a:pPr algn="ctr"/>
              <a:endParaRPr sz="2800">
                <a:solidFill>
                  <a:srgbClr val="133942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E00150D-88AE-1ECB-6240-34E047FEB6A5}"/>
              </a:ext>
            </a:extLst>
          </p:cNvPr>
          <p:cNvGrpSpPr/>
          <p:nvPr/>
        </p:nvGrpSpPr>
        <p:grpSpPr>
          <a:xfrm>
            <a:off x="8478047" y="3904993"/>
            <a:ext cx="976230" cy="563869"/>
            <a:chOff x="9455398" y="2733484"/>
            <a:chExt cx="639562" cy="36910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7E77C7-C6A0-56B9-25B1-04F668404567}"/>
                </a:ext>
              </a:extLst>
            </p:cNvPr>
            <p:cNvSpPr txBox="1"/>
            <p:nvPr/>
          </p:nvSpPr>
          <p:spPr>
            <a:xfrm>
              <a:off x="9455398" y="2991781"/>
              <a:ext cx="639562" cy="110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133942"/>
                  </a:solidFill>
                  <a:latin typeface="Roboto"/>
                </a:rPr>
                <a:t>Output Request</a:t>
              </a:r>
            </a:p>
          </p:txBody>
        </p:sp>
        <p:sp>
          <p:nvSpPr>
            <p:cNvPr id="30" name="Rounded Rectangle 28">
              <a:extLst>
                <a:ext uri="{FF2B5EF4-FFF2-40B4-BE49-F238E27FC236}">
                  <a16:creationId xmlns:a16="http://schemas.microsoft.com/office/drawing/2014/main" id="{E35AAE7D-057F-366B-4C87-0E1818524EBF}"/>
                </a:ext>
              </a:extLst>
            </p:cNvPr>
            <p:cNvSpPr/>
            <p:nvPr/>
          </p:nvSpPr>
          <p:spPr>
            <a:xfrm>
              <a:off x="9648587" y="2733484"/>
              <a:ext cx="253153" cy="253153"/>
            </a:xfrm>
            <a:custGeom>
              <a:avLst/>
              <a:gdLst/>
              <a:ahLst/>
              <a:cxnLst/>
              <a:rect l="0" t="0" r="0" b="0"/>
              <a:pathLst>
                <a:path w="253153" h="253153">
                  <a:moveTo>
                    <a:pt x="44026" y="88053"/>
                  </a:moveTo>
                  <a:lnTo>
                    <a:pt x="148590" y="88053"/>
                  </a:lnTo>
                  <a:moveTo>
                    <a:pt x="44026" y="121073"/>
                  </a:moveTo>
                  <a:lnTo>
                    <a:pt x="110066" y="121073"/>
                  </a:lnTo>
                  <a:moveTo>
                    <a:pt x="44026" y="55033"/>
                  </a:moveTo>
                  <a:lnTo>
                    <a:pt x="121073" y="55033"/>
                  </a:lnTo>
                  <a:moveTo>
                    <a:pt x="44026" y="154093"/>
                  </a:moveTo>
                  <a:lnTo>
                    <a:pt x="88053" y="154093"/>
                  </a:lnTo>
                  <a:moveTo>
                    <a:pt x="44026" y="187113"/>
                  </a:moveTo>
                  <a:lnTo>
                    <a:pt x="88053" y="187113"/>
                  </a:lnTo>
                  <a:moveTo>
                    <a:pt x="110066" y="253153"/>
                  </a:moveTo>
                  <a:lnTo>
                    <a:pt x="11006" y="253153"/>
                  </a:lnTo>
                  <a:cubicBezTo>
                    <a:pt x="4927" y="253153"/>
                    <a:pt x="0" y="248225"/>
                    <a:pt x="0" y="242146"/>
                  </a:cubicBezTo>
                  <a:lnTo>
                    <a:pt x="0" y="11006"/>
                  </a:lnTo>
                  <a:cubicBezTo>
                    <a:pt x="0" y="4927"/>
                    <a:pt x="4927" y="0"/>
                    <a:pt x="11006" y="0"/>
                  </a:cubicBezTo>
                  <a:lnTo>
                    <a:pt x="157318" y="0"/>
                  </a:lnTo>
                  <a:cubicBezTo>
                    <a:pt x="160237" y="0"/>
                    <a:pt x="163036" y="1160"/>
                    <a:pt x="165100" y="3224"/>
                  </a:cubicBezTo>
                  <a:lnTo>
                    <a:pt x="205901" y="44026"/>
                  </a:lnTo>
                  <a:cubicBezTo>
                    <a:pt x="207966" y="46090"/>
                    <a:pt x="209126" y="48889"/>
                    <a:pt x="209126" y="51808"/>
                  </a:cubicBezTo>
                  <a:lnTo>
                    <a:pt x="209126" y="88053"/>
                  </a:lnTo>
                  <a:moveTo>
                    <a:pt x="121073" y="187113"/>
                  </a:moveTo>
                  <a:cubicBezTo>
                    <a:pt x="121073" y="223586"/>
                    <a:pt x="150640" y="253153"/>
                    <a:pt x="187113" y="253153"/>
                  </a:cubicBezTo>
                  <a:cubicBezTo>
                    <a:pt x="223586" y="253153"/>
                    <a:pt x="253153" y="223586"/>
                    <a:pt x="253153" y="187113"/>
                  </a:cubicBezTo>
                  <a:cubicBezTo>
                    <a:pt x="253153" y="150640"/>
                    <a:pt x="223586" y="121073"/>
                    <a:pt x="187113" y="121073"/>
                  </a:cubicBezTo>
                  <a:cubicBezTo>
                    <a:pt x="150640" y="121073"/>
                    <a:pt x="121073" y="150640"/>
                    <a:pt x="121073" y="187113"/>
                  </a:cubicBezTo>
                  <a:close/>
                  <a:moveTo>
                    <a:pt x="187113" y="202709"/>
                  </a:moveTo>
                  <a:lnTo>
                    <a:pt x="187113" y="191703"/>
                  </a:lnTo>
                  <a:cubicBezTo>
                    <a:pt x="198511" y="191703"/>
                    <a:pt x="207750" y="182463"/>
                    <a:pt x="207750" y="171065"/>
                  </a:cubicBezTo>
                  <a:cubicBezTo>
                    <a:pt x="207750" y="159667"/>
                    <a:pt x="198511" y="150428"/>
                    <a:pt x="187113" y="150428"/>
                  </a:cubicBezTo>
                  <a:cubicBezTo>
                    <a:pt x="175715" y="150428"/>
                    <a:pt x="166475" y="159667"/>
                    <a:pt x="166475" y="171065"/>
                  </a:cubicBezTo>
                  <a:moveTo>
                    <a:pt x="187113" y="224723"/>
                  </a:moveTo>
                  <a:cubicBezTo>
                    <a:pt x="188633" y="224723"/>
                    <a:pt x="189865" y="225955"/>
                    <a:pt x="189865" y="227474"/>
                  </a:cubicBezTo>
                  <a:cubicBezTo>
                    <a:pt x="189865" y="228994"/>
                    <a:pt x="188633" y="230226"/>
                    <a:pt x="187113" y="230226"/>
                  </a:cubicBezTo>
                  <a:cubicBezTo>
                    <a:pt x="185593" y="230226"/>
                    <a:pt x="184361" y="228994"/>
                    <a:pt x="184361" y="227474"/>
                  </a:cubicBezTo>
                  <a:cubicBezTo>
                    <a:pt x="184361" y="225955"/>
                    <a:pt x="185593" y="224723"/>
                    <a:pt x="187113" y="224723"/>
                  </a:cubicBezTo>
                </a:path>
              </a:pathLst>
            </a:custGeom>
            <a:noFill/>
            <a:ln w="13207">
              <a:solidFill>
                <a:srgbClr val="415C87"/>
              </a:solidFill>
            </a:ln>
          </p:spPr>
          <p:txBody>
            <a:bodyPr rtlCol="0" anchor="ctr"/>
            <a:lstStyle/>
            <a:p>
              <a:pPr algn="ctr"/>
              <a:endParaRPr sz="2800">
                <a:solidFill>
                  <a:srgbClr val="133942"/>
                </a:solidFill>
              </a:endParaRPr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7D871439-0F9B-CCB6-6C33-390BF7A5B6BB}"/>
              </a:ext>
            </a:extLst>
          </p:cNvPr>
          <p:cNvSpPr/>
          <p:nvPr/>
        </p:nvSpPr>
        <p:spPr>
          <a:xfrm>
            <a:off x="2429056" y="2663491"/>
            <a:ext cx="180000" cy="180000"/>
          </a:xfrm>
          <a:prstGeom prst="ellipse">
            <a:avLst/>
          </a:prstGeom>
          <a:solidFill>
            <a:srgbClr val="133942"/>
          </a:solidFill>
          <a:ln>
            <a:solidFill>
              <a:srgbClr val="133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>
              <a:solidFill>
                <a:srgbClr val="13394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92460D1-35A9-C7FE-5D06-B281AE1C285A}"/>
              </a:ext>
            </a:extLst>
          </p:cNvPr>
          <p:cNvSpPr/>
          <p:nvPr/>
        </p:nvSpPr>
        <p:spPr>
          <a:xfrm>
            <a:off x="3445222" y="2764866"/>
            <a:ext cx="180000" cy="180000"/>
          </a:xfrm>
          <a:prstGeom prst="ellipse">
            <a:avLst/>
          </a:prstGeom>
          <a:solidFill>
            <a:srgbClr val="133942"/>
          </a:solidFill>
          <a:ln>
            <a:solidFill>
              <a:srgbClr val="133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>
              <a:solidFill>
                <a:srgbClr val="13394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39E71CC-E5EE-1757-38B4-0E7765317890}"/>
              </a:ext>
            </a:extLst>
          </p:cNvPr>
          <p:cNvSpPr/>
          <p:nvPr/>
        </p:nvSpPr>
        <p:spPr>
          <a:xfrm>
            <a:off x="4398826" y="2906430"/>
            <a:ext cx="180000" cy="180000"/>
          </a:xfrm>
          <a:prstGeom prst="ellipse">
            <a:avLst/>
          </a:prstGeom>
          <a:solidFill>
            <a:srgbClr val="133942"/>
          </a:solidFill>
          <a:ln>
            <a:solidFill>
              <a:srgbClr val="133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>
              <a:solidFill>
                <a:srgbClr val="133942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A255F7D-31D0-83C0-847A-9C21091FE6EF}"/>
              </a:ext>
            </a:extLst>
          </p:cNvPr>
          <p:cNvSpPr/>
          <p:nvPr/>
        </p:nvSpPr>
        <p:spPr>
          <a:xfrm>
            <a:off x="5403077" y="3192692"/>
            <a:ext cx="180000" cy="180000"/>
          </a:xfrm>
          <a:prstGeom prst="ellipse">
            <a:avLst/>
          </a:prstGeom>
          <a:solidFill>
            <a:srgbClr val="133942"/>
          </a:solidFill>
          <a:ln>
            <a:solidFill>
              <a:srgbClr val="133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>
              <a:solidFill>
                <a:srgbClr val="133942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63D6EF3-A01F-6C19-A756-828ED7A2BCD0}"/>
              </a:ext>
            </a:extLst>
          </p:cNvPr>
          <p:cNvSpPr/>
          <p:nvPr/>
        </p:nvSpPr>
        <p:spPr>
          <a:xfrm>
            <a:off x="6358307" y="3984075"/>
            <a:ext cx="180000" cy="180000"/>
          </a:xfrm>
          <a:prstGeom prst="ellipse">
            <a:avLst/>
          </a:prstGeom>
          <a:solidFill>
            <a:srgbClr val="133942"/>
          </a:solidFill>
          <a:ln>
            <a:solidFill>
              <a:srgbClr val="133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>
              <a:solidFill>
                <a:srgbClr val="133942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89CA1E3-EB09-584D-6AE6-3F88B331F97A}"/>
              </a:ext>
            </a:extLst>
          </p:cNvPr>
          <p:cNvSpPr/>
          <p:nvPr/>
        </p:nvSpPr>
        <p:spPr>
          <a:xfrm>
            <a:off x="7601413" y="4362736"/>
            <a:ext cx="180000" cy="180000"/>
          </a:xfrm>
          <a:prstGeom prst="ellipse">
            <a:avLst/>
          </a:prstGeom>
          <a:solidFill>
            <a:srgbClr val="133942"/>
          </a:solidFill>
          <a:ln>
            <a:solidFill>
              <a:srgbClr val="133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>
              <a:solidFill>
                <a:srgbClr val="133942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B2B1D06-55A2-D1EE-797A-985FD722DC8D}"/>
              </a:ext>
            </a:extLst>
          </p:cNvPr>
          <p:cNvSpPr/>
          <p:nvPr/>
        </p:nvSpPr>
        <p:spPr>
          <a:xfrm>
            <a:off x="8876138" y="4542736"/>
            <a:ext cx="180000" cy="180000"/>
          </a:xfrm>
          <a:prstGeom prst="ellipse">
            <a:avLst/>
          </a:prstGeom>
          <a:solidFill>
            <a:srgbClr val="133942"/>
          </a:solidFill>
          <a:ln>
            <a:solidFill>
              <a:srgbClr val="133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>
              <a:solidFill>
                <a:srgbClr val="133942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0FDFDD7-9367-E021-CC6D-5A16DE897F28}"/>
              </a:ext>
            </a:extLst>
          </p:cNvPr>
          <p:cNvSpPr/>
          <p:nvPr/>
        </p:nvSpPr>
        <p:spPr>
          <a:xfrm>
            <a:off x="10030732" y="4608752"/>
            <a:ext cx="180000" cy="180000"/>
          </a:xfrm>
          <a:prstGeom prst="ellipse">
            <a:avLst/>
          </a:prstGeom>
          <a:solidFill>
            <a:srgbClr val="133942"/>
          </a:solidFill>
          <a:ln>
            <a:solidFill>
              <a:srgbClr val="133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>
              <a:solidFill>
                <a:srgbClr val="13394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87614E-5608-2923-62FD-D11F17A86124}"/>
              </a:ext>
            </a:extLst>
          </p:cNvPr>
          <p:cNvSpPr txBox="1"/>
          <p:nvPr/>
        </p:nvSpPr>
        <p:spPr>
          <a:xfrm>
            <a:off x="467062" y="2384159"/>
            <a:ext cx="1084530" cy="738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133942"/>
                </a:solidFill>
                <a:latin typeface="Roboto"/>
              </a:rPr>
              <a:t>Research Proposal
Submission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3471C5-3721-BBF1-2DDF-7BEF10CBA459}"/>
              </a:ext>
            </a:extLst>
          </p:cNvPr>
          <p:cNvSpPr txBox="1"/>
          <p:nvPr/>
        </p:nvSpPr>
        <p:spPr>
          <a:xfrm>
            <a:off x="10782316" y="4476514"/>
            <a:ext cx="1062791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133942"/>
                </a:solidFill>
                <a:latin typeface="Roboto"/>
              </a:rPr>
              <a:t>Project
Completion</a:t>
            </a:r>
          </a:p>
        </p:txBody>
      </p:sp>
    </p:spTree>
    <p:extLst>
      <p:ext uri="{BB962C8B-B14F-4D97-AF65-F5344CB8AC3E}">
        <p14:creationId xmlns:p14="http://schemas.microsoft.com/office/powerpoint/2010/main" val="758496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B849-2E1C-C54F-D979-D63D90D4B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Output checking</a:t>
            </a:r>
            <a:endParaRPr lang="is-IS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7FC0D8-DB33-746F-14D9-29EAA56B2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Tests and thresholds for: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Frequency tables</a:t>
            </a:r>
          </a:p>
          <a:p>
            <a:r>
              <a:rPr lang="en-US" dirty="0"/>
              <a:t>Magnitude tables</a:t>
            </a:r>
          </a:p>
          <a:p>
            <a:r>
              <a:rPr lang="en-US" dirty="0"/>
              <a:t>Descriptive statistics</a:t>
            </a:r>
          </a:p>
          <a:p>
            <a:r>
              <a:rPr lang="en-US" dirty="0"/>
              <a:t>Analysis results</a:t>
            </a:r>
          </a:p>
          <a:p>
            <a:r>
              <a:rPr lang="en-US" dirty="0"/>
              <a:t>Code</a:t>
            </a:r>
          </a:p>
        </p:txBody>
      </p:sp>
      <p:pic>
        <p:nvPicPr>
          <p:cNvPr id="5" name="Content Placeholder 4" descr="A qr code with a logo&#10;&#10;AI-generated content may be incorrect.">
            <a:extLst>
              <a:ext uri="{FF2B5EF4-FFF2-40B4-BE49-F238E27FC236}">
                <a16:creationId xmlns:a16="http://schemas.microsoft.com/office/drawing/2014/main" id="{89FDC6EE-F539-CDEA-20CB-C82AC8C3F4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651" y="1172528"/>
            <a:ext cx="4351338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408850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5CA9-F65F-C024-F569-FFEF0061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E3D8-E1D6-4C31-77F5-B3375E8A3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Microdata examples</a:t>
            </a:r>
            <a:endParaRPr lang="is-I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D3913-0459-230D-5167-9765EEC3D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s-IS" dirty="0"/>
          </a:p>
        </p:txBody>
      </p:sp>
    </p:spTree>
    <p:extLst>
      <p:ext uri="{BB962C8B-B14F-4D97-AF65-F5344CB8AC3E}">
        <p14:creationId xmlns:p14="http://schemas.microsoft.com/office/powerpoint/2010/main" val="1443286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FEC5-7F6A-6341-F0E0-B2D6D8E04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  <a:endParaRPr lang="is-I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41C81-68F6-72D2-AF0C-7EFFB468D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020"/>
            <a:ext cx="10515600" cy="43794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 dataset on unemployed university graduates in a region is released in two versions.</a:t>
            </a:r>
          </a:p>
          <a:p>
            <a:r>
              <a:rPr lang="en-US" b="1" dirty="0"/>
              <a:t>Both versions:</a:t>
            </a:r>
            <a:r>
              <a:rPr lang="en-US" dirty="0"/>
              <a:t> age, gender, field of study, applications in last 3 months</a:t>
            </a:r>
          </a:p>
          <a:p>
            <a:r>
              <a:rPr lang="en-US" b="1" dirty="0"/>
              <a:t>Version 1:</a:t>
            </a:r>
            <a:r>
              <a:rPr lang="en-US" dirty="0"/>
              <a:t> adds marital status</a:t>
            </a:r>
          </a:p>
          <a:p>
            <a:r>
              <a:rPr lang="en-US" b="1" dirty="0"/>
              <a:t>Version 2:</a:t>
            </a:r>
            <a:r>
              <a:rPr lang="en-US" dirty="0"/>
              <a:t> adds information on whether the graduate lives in a large city or not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Different versions aim to meet user needs while protecting confidentiality. No full file is released, and versions can’t be matched by ID. However, combinations of variables may still allow disclosure.</a:t>
            </a:r>
          </a:p>
          <a:p>
            <a:pPr marL="0" indent="0">
              <a:buNone/>
            </a:pPr>
            <a:r>
              <a:rPr lang="en-US" dirty="0"/>
              <a:t>The following tables show data for unemployed male graduates aged 28. An employment officer with Version 1 notices an </a:t>
            </a:r>
            <a:r>
              <a:rPr lang="en-US" i="1" dirty="0">
                <a:highlight>
                  <a:srgbClr val="C0C0C0"/>
                </a:highlight>
              </a:rPr>
              <a:t>unmarried chemist with one application</a:t>
            </a:r>
            <a:r>
              <a:rPr lang="en-US" dirty="0"/>
              <a:t>. He also has an external file (names, age, gender, marital status, field of study, and place of living). With Version 1 alone, he cannot identify the chemist uniquely.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b="1" dirty="0"/>
              <a:t>Is there any risk if the officer get access to Version 2?</a:t>
            </a:r>
          </a:p>
          <a:p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endParaRPr lang="is-IS" dirty="0"/>
          </a:p>
        </p:txBody>
      </p:sp>
    </p:spTree>
    <p:extLst>
      <p:ext uri="{BB962C8B-B14F-4D97-AF65-F5344CB8AC3E}">
        <p14:creationId xmlns:p14="http://schemas.microsoft.com/office/powerpoint/2010/main" val="166139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FB27-E3D5-5E91-B4D3-A4B9A6C7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1</a:t>
            </a:r>
            <a:endParaRPr lang="is-I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492C6E-3D5E-F138-0A7D-2A474E8EA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823612"/>
              </p:ext>
            </p:extLst>
          </p:nvPr>
        </p:nvGraphicFramePr>
        <p:xfrm>
          <a:off x="838200" y="1690688"/>
          <a:ext cx="10383154" cy="392239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06798">
                  <a:extLst>
                    <a:ext uri="{9D8B030D-6E8A-4147-A177-3AD203B41FA5}">
                      <a16:colId xmlns:a16="http://schemas.microsoft.com/office/drawing/2014/main" val="3948004740"/>
                    </a:ext>
                  </a:extLst>
                </a:gridCol>
                <a:gridCol w="1406155">
                  <a:extLst>
                    <a:ext uri="{9D8B030D-6E8A-4147-A177-3AD203B41FA5}">
                      <a16:colId xmlns:a16="http://schemas.microsoft.com/office/drawing/2014/main" val="2643288288"/>
                    </a:ext>
                  </a:extLst>
                </a:gridCol>
                <a:gridCol w="2402655">
                  <a:extLst>
                    <a:ext uri="{9D8B030D-6E8A-4147-A177-3AD203B41FA5}">
                      <a16:colId xmlns:a16="http://schemas.microsoft.com/office/drawing/2014/main" val="852435440"/>
                    </a:ext>
                  </a:extLst>
                </a:gridCol>
                <a:gridCol w="2402655">
                  <a:extLst>
                    <a:ext uri="{9D8B030D-6E8A-4147-A177-3AD203B41FA5}">
                      <a16:colId xmlns:a16="http://schemas.microsoft.com/office/drawing/2014/main" val="2565949651"/>
                    </a:ext>
                  </a:extLst>
                </a:gridCol>
                <a:gridCol w="2664891">
                  <a:extLst>
                    <a:ext uri="{9D8B030D-6E8A-4147-A177-3AD203B41FA5}">
                      <a16:colId xmlns:a16="http://schemas.microsoft.com/office/drawing/2014/main" val="123981462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>
                          <a:solidFill>
                            <a:srgbClr val="133942"/>
                          </a:solidFill>
                          <a:effectLst/>
                        </a:rPr>
                        <a:t>Age</a:t>
                      </a:r>
                      <a:br>
                        <a:rPr lang="en-GB" sz="2000" b="1">
                          <a:solidFill>
                            <a:srgbClr val="133942"/>
                          </a:solidFill>
                          <a:effectLst/>
                        </a:rPr>
                      </a:br>
                      <a:r>
                        <a:rPr lang="en-GB" sz="2000" b="1">
                          <a:solidFill>
                            <a:srgbClr val="133942"/>
                          </a:solidFill>
                          <a:effectLst/>
                        </a:rPr>
                        <a:t>(in years)</a:t>
                      </a:r>
                      <a:endParaRPr lang="is-IS" sz="2800" b="1">
                        <a:solidFill>
                          <a:srgbClr val="13394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solidFill>
                            <a:srgbClr val="133942"/>
                          </a:solidFill>
                          <a:effectLst/>
                        </a:rPr>
                        <a:t>Gender</a:t>
                      </a:r>
                      <a:endParaRPr lang="is-IS" sz="2800" b="1" dirty="0">
                        <a:solidFill>
                          <a:srgbClr val="13394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33942"/>
                          </a:solidFill>
                        </a:rPr>
                        <a:t>Marital status</a:t>
                      </a:r>
                      <a:endParaRPr lang="is-IS" b="1" dirty="0">
                        <a:solidFill>
                          <a:srgbClr val="133942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solidFill>
                            <a:srgbClr val="133942"/>
                          </a:solidFill>
                          <a:effectLst/>
                        </a:rPr>
                        <a:t>Field of study</a:t>
                      </a:r>
                      <a:endParaRPr lang="is-IS" sz="2800" b="1" dirty="0">
                        <a:solidFill>
                          <a:srgbClr val="13394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solidFill>
                            <a:srgbClr val="133942"/>
                          </a:solidFill>
                          <a:effectLst/>
                        </a:rPr>
                        <a:t>Number of applications during the last three months</a:t>
                      </a:r>
                      <a:endParaRPr lang="is-IS" sz="2800" b="1" dirty="0">
                        <a:solidFill>
                          <a:srgbClr val="13394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15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28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married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chemistry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6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6959189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28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male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married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chemistry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7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477610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28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unmarried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chemistry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7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5514925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28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unmarried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chemistry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5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24921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28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married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law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5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9100538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28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unmarried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chemistry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1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3262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28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married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chemistry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8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1239723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28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married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law</a:t>
                      </a:r>
                      <a:endParaRPr lang="is-I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6</a:t>
                      </a:r>
                      <a:endParaRPr lang="is-I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912885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37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5BDCC-6B27-4DE9-56C3-4B0990C02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266E-E3E2-791F-08D9-0086B82C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2</a:t>
            </a:r>
            <a:endParaRPr lang="is-I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2E524E-82F3-F826-28FE-A948D89F4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074373"/>
              </p:ext>
            </p:extLst>
          </p:nvPr>
        </p:nvGraphicFramePr>
        <p:xfrm>
          <a:off x="838200" y="1696955"/>
          <a:ext cx="10262937" cy="393560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75054">
                  <a:extLst>
                    <a:ext uri="{9D8B030D-6E8A-4147-A177-3AD203B41FA5}">
                      <a16:colId xmlns:a16="http://schemas.microsoft.com/office/drawing/2014/main" val="3948004740"/>
                    </a:ext>
                  </a:extLst>
                </a:gridCol>
                <a:gridCol w="1475054">
                  <a:extLst>
                    <a:ext uri="{9D8B030D-6E8A-4147-A177-3AD203B41FA5}">
                      <a16:colId xmlns:a16="http://schemas.microsoft.com/office/drawing/2014/main" val="492718256"/>
                    </a:ext>
                  </a:extLst>
                </a:gridCol>
                <a:gridCol w="2352039">
                  <a:extLst>
                    <a:ext uri="{9D8B030D-6E8A-4147-A177-3AD203B41FA5}">
                      <a16:colId xmlns:a16="http://schemas.microsoft.com/office/drawing/2014/main" val="852435440"/>
                    </a:ext>
                  </a:extLst>
                </a:gridCol>
                <a:gridCol w="2352039">
                  <a:extLst>
                    <a:ext uri="{9D8B030D-6E8A-4147-A177-3AD203B41FA5}">
                      <a16:colId xmlns:a16="http://schemas.microsoft.com/office/drawing/2014/main" val="2565949651"/>
                    </a:ext>
                  </a:extLst>
                </a:gridCol>
                <a:gridCol w="2608751">
                  <a:extLst>
                    <a:ext uri="{9D8B030D-6E8A-4147-A177-3AD203B41FA5}">
                      <a16:colId xmlns:a16="http://schemas.microsoft.com/office/drawing/2014/main" val="123981462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>
                          <a:solidFill>
                            <a:srgbClr val="133942"/>
                          </a:solidFill>
                          <a:effectLst/>
                        </a:rPr>
                        <a:t>Age</a:t>
                      </a:r>
                      <a:br>
                        <a:rPr lang="en-GB" sz="2000" b="1">
                          <a:solidFill>
                            <a:srgbClr val="133942"/>
                          </a:solidFill>
                          <a:effectLst/>
                        </a:rPr>
                      </a:br>
                      <a:r>
                        <a:rPr lang="en-GB" sz="2000" b="1">
                          <a:solidFill>
                            <a:srgbClr val="133942"/>
                          </a:solidFill>
                          <a:effectLst/>
                        </a:rPr>
                        <a:t>(in years)</a:t>
                      </a:r>
                      <a:endParaRPr lang="is-IS" sz="2000" b="1">
                        <a:solidFill>
                          <a:srgbClr val="13394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kern="1200" dirty="0">
                          <a:solidFill>
                            <a:srgbClr val="133942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  <a:endParaRPr lang="is-IS" sz="2000" b="1" kern="1200" dirty="0">
                        <a:solidFill>
                          <a:srgbClr val="13394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endParaRPr lang="is-IS" sz="2000" b="1" kern="1200" dirty="0">
                        <a:solidFill>
                          <a:srgbClr val="13394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33942"/>
                          </a:solidFill>
                        </a:rPr>
                        <a:t>Living in a large city?</a:t>
                      </a:r>
                      <a:endParaRPr lang="is-IS" sz="2000" b="1" dirty="0">
                        <a:solidFill>
                          <a:srgbClr val="133942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solidFill>
                            <a:srgbClr val="133942"/>
                          </a:solidFill>
                          <a:effectLst/>
                        </a:rPr>
                        <a:t>Field of study</a:t>
                      </a:r>
                      <a:endParaRPr lang="is-IS" sz="2000" b="1" dirty="0">
                        <a:solidFill>
                          <a:srgbClr val="13394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solidFill>
                            <a:srgbClr val="133942"/>
                          </a:solidFill>
                          <a:effectLst/>
                        </a:rPr>
                        <a:t>Number of applications during the last three months</a:t>
                      </a:r>
                      <a:endParaRPr lang="is-IS" sz="2000" b="1" dirty="0">
                        <a:solidFill>
                          <a:srgbClr val="13394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15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28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male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No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law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6959189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28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male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Yes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chemistry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477610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28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male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Yes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chemistry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5514925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28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male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Yes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chemistry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24921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28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male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No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chemistry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9100538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28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male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Yes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chemistry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6183262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28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male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No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law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1239723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28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male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No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chemistry</a:t>
                      </a:r>
                      <a:endParaRPr lang="is-IS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</a:t>
                      </a:r>
                      <a:endParaRPr lang="is-IS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885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543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0CFD-030B-FD83-D253-69B4673B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  <a:endParaRPr lang="is-I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9BAB3-7F97-37D1-9975-9E4C5D35D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580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common SDC technique is </a:t>
            </a:r>
            <a:r>
              <a:rPr lang="en-US" b="1" dirty="0"/>
              <a:t>suppressing rare value combinations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But users with knowledge of the data and method may </a:t>
            </a:r>
            <a:r>
              <a:rPr lang="en-US" b="1" dirty="0"/>
              <a:t>reconstruct suppressed values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 the following table, education has 3 levels (low, intermediate, high) and ethnicity 2 (Dutch, foreign).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Task:</a:t>
            </a:r>
          </a:p>
          <a:p>
            <a:r>
              <a:rPr lang="en-US" dirty="0"/>
              <a:t>Use your knowledge to restore suppressed values, considering that at the province level, combinations quickly narrow down groups. </a:t>
            </a:r>
          </a:p>
          <a:p>
            <a:r>
              <a:rPr lang="en-US" dirty="0"/>
              <a:t>Also check if the unsuppressed data were suitable for release.</a:t>
            </a:r>
          </a:p>
          <a:p>
            <a:pPr marL="0" indent="0">
              <a:buNone/>
            </a:pPr>
            <a:endParaRPr lang="is-IS" dirty="0"/>
          </a:p>
        </p:txBody>
      </p:sp>
    </p:spTree>
    <p:extLst>
      <p:ext uri="{BB962C8B-B14F-4D97-AF65-F5344CB8AC3E}">
        <p14:creationId xmlns:p14="http://schemas.microsoft.com/office/powerpoint/2010/main" val="3782927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CBD329-DF37-764A-0FD8-AFF72AEC7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5183688"/>
              </p:ext>
            </p:extLst>
          </p:nvPr>
        </p:nvGraphicFramePr>
        <p:xfrm>
          <a:off x="938463" y="1146492"/>
          <a:ext cx="10122568" cy="456501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24859">
                  <a:extLst>
                    <a:ext uri="{9D8B030D-6E8A-4147-A177-3AD203B41FA5}">
                      <a16:colId xmlns:a16="http://schemas.microsoft.com/office/drawing/2014/main" val="1128026056"/>
                    </a:ext>
                  </a:extLst>
                </a:gridCol>
                <a:gridCol w="1313091">
                  <a:extLst>
                    <a:ext uri="{9D8B030D-6E8A-4147-A177-3AD203B41FA5}">
                      <a16:colId xmlns:a16="http://schemas.microsoft.com/office/drawing/2014/main" val="2972446907"/>
                    </a:ext>
                  </a:extLst>
                </a:gridCol>
                <a:gridCol w="1687315">
                  <a:extLst>
                    <a:ext uri="{9D8B030D-6E8A-4147-A177-3AD203B41FA5}">
                      <a16:colId xmlns:a16="http://schemas.microsoft.com/office/drawing/2014/main" val="2723659800"/>
                    </a:ext>
                  </a:extLst>
                </a:gridCol>
                <a:gridCol w="1685992">
                  <a:extLst>
                    <a:ext uri="{9D8B030D-6E8A-4147-A177-3AD203B41FA5}">
                      <a16:colId xmlns:a16="http://schemas.microsoft.com/office/drawing/2014/main" val="3709322661"/>
                    </a:ext>
                  </a:extLst>
                </a:gridCol>
                <a:gridCol w="2811311">
                  <a:extLst>
                    <a:ext uri="{9D8B030D-6E8A-4147-A177-3AD203B41FA5}">
                      <a16:colId xmlns:a16="http://schemas.microsoft.com/office/drawing/2014/main" val="3155362557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effectLst/>
                        </a:rPr>
                        <a:t>Occupation</a:t>
                      </a:r>
                      <a:endParaRPr lang="is-I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effectLst/>
                        </a:rPr>
                        <a:t>Gender</a:t>
                      </a:r>
                      <a:endParaRPr lang="is-I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effectLst/>
                        </a:rPr>
                        <a:t>Education</a:t>
                      </a:r>
                      <a:endParaRPr lang="is-I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effectLst/>
                        </a:rPr>
                        <a:t>Ethnicity</a:t>
                      </a:r>
                      <a:endParaRPr lang="is-I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b="1" dirty="0">
                          <a:effectLst/>
                        </a:rPr>
                        <a:t>Province of dwelling</a:t>
                      </a:r>
                      <a:endParaRPr lang="is-I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9802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Crane driver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Intermediate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Dutch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Drenthe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5905593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Teacher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High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Dutch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South Holland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915521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Shop assistant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Female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Low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Dutch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South Holland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8912199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Surgeon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Female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High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nl-NL" sz="2000">
                          <a:effectLst/>
                        </a:rPr>
                        <a:t>Gelderland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5134376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nl-NL" sz="2000">
                          <a:effectLst/>
                        </a:rPr>
                        <a:t>Hotel keeper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High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Dutch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nl-NL" sz="2000">
                          <a:effectLst/>
                        </a:rPr>
                        <a:t>Utrecht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3440994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nl-NL" sz="2000">
                          <a:effectLst/>
                        </a:rPr>
                        <a:t>System analyst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Female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Zealand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255463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Taxi driver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Dutch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Drenthe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3630798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Hospital director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Dutch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Friesland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03714486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Painter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High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8243109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Family doctor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Female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High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Dutch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Limburg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61855961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Member of Parliament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Male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  <a:sym typeface="Symbol" panose="05050102010706020507" pitchFamily="18" charset="2"/>
                        </a:rPr>
                        <a:t>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281484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Train guard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Female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Intermediate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>
                          <a:effectLst/>
                        </a:rPr>
                        <a:t>Dutch</a:t>
                      </a:r>
                      <a:endParaRPr lang="is-I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2000" dirty="0">
                          <a:effectLst/>
                        </a:rPr>
                        <a:t>Groningen</a:t>
                      </a:r>
                      <a:endParaRPr lang="is-I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029770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977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2dde7-92c8-46bc-888a-9e6d59a52c3d">
      <Terms xmlns="http://schemas.microsoft.com/office/infopath/2007/PartnerControls"/>
    </lcf76f155ced4ddcb4097134ff3c332f>
    <TaxCatchAll xmlns="36a46073-914f-464d-b982-e07e6912a9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0FDE0A5D6C640AA321996D69B02EC" ma:contentTypeVersion="12" ma:contentTypeDescription="Create a new document." ma:contentTypeScope="" ma:versionID="966ceb0da1b724641ccfc55d784b3fa0">
  <xsd:schema xmlns:xsd="http://www.w3.org/2001/XMLSchema" xmlns:xs="http://www.w3.org/2001/XMLSchema" xmlns:p="http://schemas.microsoft.com/office/2006/metadata/properties" xmlns:ns2="1552dde7-92c8-46bc-888a-9e6d59a52c3d" xmlns:ns3="36a46073-914f-464d-b982-e07e6912a98b" targetNamespace="http://schemas.microsoft.com/office/2006/metadata/properties" ma:root="true" ma:fieldsID="164c5d551ebe2bdbf7b8b52d5a69db06" ns2:_="" ns3:_="">
    <xsd:import namespace="1552dde7-92c8-46bc-888a-9e6d59a52c3d"/>
    <xsd:import namespace="36a46073-914f-464d-b982-e07e6912a9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2dde7-92c8-46bc-888a-9e6d59a52c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970455-bdf1-4299-8c3c-b3ce243de7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46073-914f-464d-b982-e07e6912a9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fd0ccac-9df1-4cb8-8ad9-4ebb11a2c2ea}" ma:internalName="TaxCatchAll" ma:showField="CatchAllData" ma:web="36a46073-914f-464d-b982-e07e6912a9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96CF42-F61B-46C9-A9D4-48422C4B33E3}">
  <ds:schemaRefs>
    <ds:schemaRef ds:uri="http://purl.org/dc/dcmitype/"/>
    <ds:schemaRef ds:uri="http://www.w3.org/XML/1998/namespace"/>
    <ds:schemaRef ds:uri="36a46073-914f-464d-b982-e07e6912a98b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1552dde7-92c8-46bc-888a-9e6d59a52c3d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2165F23-F101-4D60-895A-F2F5774B99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2dde7-92c8-46bc-888a-9e6d59a52c3d"/>
    <ds:schemaRef ds:uri="36a46073-914f-464d-b982-e07e6912a9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EE2AEA-1E27-4B4C-9D0F-ECA91C618C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510</Words>
  <Application>Microsoft Office PowerPoint</Application>
  <PresentationFormat>Widescreen</PresentationFormat>
  <Paragraphs>195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Roboto</vt:lpstr>
      <vt:lpstr>Symbol</vt:lpstr>
      <vt:lpstr>Times New Roman</vt:lpstr>
      <vt:lpstr>Office Theme</vt:lpstr>
      <vt:lpstr>Microdata service</vt:lpstr>
      <vt:lpstr>PowerPoint Presentation</vt:lpstr>
      <vt:lpstr>PowerPoint Presentation</vt:lpstr>
      <vt:lpstr>How does it work?</vt:lpstr>
      <vt:lpstr>Output checking</vt:lpstr>
      <vt:lpstr>Microdata examples</vt:lpstr>
      <vt:lpstr>Example 1</vt:lpstr>
      <vt:lpstr>Version 1</vt:lpstr>
      <vt:lpstr>Version 2</vt:lpstr>
      <vt:lpstr>Example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Heiðrún Sigurðardóttir - HAGS</dc:creator>
  <cp:lastModifiedBy>Nidia Guadalupe Lopez Flores - HAGS</cp:lastModifiedBy>
  <cp:revision>8</cp:revision>
  <dcterms:created xsi:type="dcterms:W3CDTF">2024-01-17T11:22:27Z</dcterms:created>
  <dcterms:modified xsi:type="dcterms:W3CDTF">2025-09-03T09:47:47Z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0x0101009370FDE0A5D6C640AA321996D69B02EC</vt:lpwstr>
  </property>
  <property fmtid="{D5CDD505-2E9C-101B-9397-08002B2CF9AE}" pid="3" name="MediaServiceImageTags">
    <vt:lpwstr/>
  </property>
</Properties>
</file>